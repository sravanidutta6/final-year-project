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86" r:id="rId5"/>
    <p:sldId id="299" r:id="rId6"/>
    <p:sldId id="312" r:id="rId7"/>
    <p:sldId id="313" r:id="rId8"/>
    <p:sldId id="314" r:id="rId9"/>
    <p:sldId id="315" r:id="rId10"/>
    <p:sldId id="316" r:id="rId11"/>
    <p:sldId id="260" r:id="rId12"/>
    <p:sldId id="288" r:id="rId13"/>
    <p:sldId id="276" r:id="rId14"/>
    <p:sldId id="261" r:id="rId15"/>
    <p:sldId id="328" r:id="rId16"/>
    <p:sldId id="262" r:id="rId17"/>
    <p:sldId id="263" r:id="rId18"/>
    <p:sldId id="317" r:id="rId19"/>
    <p:sldId id="329" r:id="rId20"/>
    <p:sldId id="330" r:id="rId21"/>
    <p:sldId id="333" r:id="rId22"/>
    <p:sldId id="331" r:id="rId23"/>
    <p:sldId id="332" r:id="rId24"/>
    <p:sldId id="343" r:id="rId25"/>
    <p:sldId id="344" r:id="rId26"/>
    <p:sldId id="345" r:id="rId27"/>
    <p:sldId id="346" r:id="rId28"/>
    <p:sldId id="347" r:id="rId29"/>
    <p:sldId id="348" r:id="rId30"/>
    <p:sldId id="351" r:id="rId31"/>
    <p:sldId id="352" r:id="rId32"/>
    <p:sldId id="284" r:id="rId33"/>
    <p:sldId id="353" r:id="rId34"/>
    <p:sldId id="354" r:id="rId35"/>
    <p:sldId id="355" r:id="rId36"/>
    <p:sldId id="270" r:id="rId37"/>
    <p:sldId id="356" r:id="rId38"/>
    <p:sldId id="272" r:id="rId39"/>
    <p:sldId id="27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2E16AEF-056A-473D-86EC-1667C75B1D4A}">
          <p14:sldIdLst>
            <p14:sldId id="256"/>
            <p14:sldId id="257"/>
            <p14:sldId id="258"/>
            <p14:sldId id="286"/>
            <p14:sldId id="299"/>
            <p14:sldId id="312"/>
            <p14:sldId id="313"/>
            <p14:sldId id="314"/>
            <p14:sldId id="315"/>
            <p14:sldId id="316"/>
            <p14:sldId id="260"/>
            <p14:sldId id="288"/>
            <p14:sldId id="276"/>
            <p14:sldId id="261"/>
            <p14:sldId id="328"/>
          </p14:sldIdLst>
        </p14:section>
        <p14:section name="Untitled Section" id="{97406A5A-70CA-4FAD-81EA-CFAA044CD55F}">
          <p14:sldIdLst>
            <p14:sldId id="262"/>
            <p14:sldId id="263"/>
            <p14:sldId id="317"/>
            <p14:sldId id="329"/>
            <p14:sldId id="330"/>
            <p14:sldId id="333"/>
            <p14:sldId id="331"/>
            <p14:sldId id="332"/>
            <p14:sldId id="343"/>
            <p14:sldId id="344"/>
            <p14:sldId id="345"/>
            <p14:sldId id="346"/>
            <p14:sldId id="347"/>
            <p14:sldId id="348"/>
            <p14:sldId id="351"/>
            <p14:sldId id="352"/>
            <p14:sldId id="284"/>
            <p14:sldId id="353"/>
            <p14:sldId id="354"/>
            <p14:sldId id="355"/>
            <p14:sldId id="270"/>
            <p14:sldId id="356"/>
            <p14:sldId id="272"/>
            <p14:sldId id="273"/>
          </p14:sldIdLst>
        </p14:section>
      </p14:sectionLst>
    </p:ex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660"/>
  </p:normalViewPr>
  <p:slideViewPr>
    <p:cSldViewPr snapToGrid="0" showGuides="1">
      <p:cViewPr varScale="1">
        <p:scale>
          <a:sx n="78" d="100"/>
          <a:sy n="78" d="100"/>
        </p:scale>
        <p:origin x="715" y="173"/>
      </p:cViewPr>
      <p:guideLst>
        <p:guide orient="horz" pos="2159"/>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F44C028-E5F8-417F-9195-901F54C1FA24}" type="datetimeFigureOut">
              <a:rPr lang="en-IN" smtClean="0"/>
              <a:t>16-04-2025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BEB0C246-A51F-4818-8BA9-ABCF70607EAD}" type="slidenum">
              <a:rPr lang="en-IN" smtClean="0"/>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44C028-E5F8-417F-9195-901F54C1FA24}" type="datetimeFigureOut">
              <a:rPr lang="en-IN" smtClean="0"/>
              <a:t>16-04-2025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BEB0C246-A51F-4818-8BA9-ABCF70607EAD}" type="slidenum">
              <a:rPr lang="en-IN" smtClean="0"/>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44C028-E5F8-417F-9195-901F54C1FA24}" type="datetimeFigureOut">
              <a:rPr lang="en-IN" smtClean="0"/>
              <a:t>16-04-2025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BEB0C246-A51F-4818-8BA9-ABCF70607EAD}" type="slidenum">
              <a:rPr lang="en-IN" smtClean="0"/>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F44C028-E5F8-417F-9195-901F54C1FA24}" type="datetimeFigureOut">
              <a:rPr lang="en-IN" smtClean="0"/>
              <a:t>16-04-2025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BEB0C246-A51F-4818-8BA9-ABCF70607EAD}" type="slidenum">
              <a:rPr lang="en-IN" smtClean="0"/>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F44C028-E5F8-417F-9195-901F54C1FA24}" type="datetimeFigureOut">
              <a:rPr lang="en-IN" smtClean="0"/>
              <a:t>16-04-2025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BEB0C246-A51F-4818-8BA9-ABCF70607EAD}" type="slidenum">
              <a:rPr lang="en-IN" smtClean="0"/>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F44C028-E5F8-417F-9195-901F54C1FA24}" type="datetimeFigureOut">
              <a:rPr lang="en-IN" smtClean="0"/>
              <a:t>16-04-2025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BEB0C246-A51F-4818-8BA9-ABCF70607EAD}" type="slidenum">
              <a:rPr lang="en-IN" smtClean="0"/>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44C028-E5F8-417F-9195-901F54C1FA24}" type="datetimeFigureOut">
              <a:rPr lang="en-IN" smtClean="0"/>
              <a:t>16-04-2025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BEB0C246-A51F-4818-8BA9-ABCF70607EAD}" type="slidenum">
              <a:rPr lang="en-IN" smtClean="0"/>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44C028-E5F8-417F-9195-901F54C1FA24}" type="datetimeFigureOut">
              <a:rPr lang="en-IN" smtClean="0"/>
              <a:t>16-04-2025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BEB0C246-A51F-4818-8BA9-ABCF70607EAD}" type="slidenum">
              <a:rPr lang="en-IN" smtClean="0"/>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44C028-E5F8-417F-9195-901F54C1FA24}" type="datetimeFigureOut">
              <a:rPr lang="en-IN" smtClean="0"/>
              <a:t>16-04-2025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BEB0C246-A51F-4818-8BA9-ABCF70607EAD}" type="slidenum">
              <a:rPr lang="en-IN" smtClean="0"/>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44C028-E5F8-417F-9195-901F54C1FA24}" type="datetimeFigureOut">
              <a:rPr lang="en-IN" smtClean="0"/>
              <a:t>16-04-2025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BEB0C246-A51F-4818-8BA9-ABCF70607EAD}" type="slidenum">
              <a:rPr lang="en-IN" smtClean="0"/>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44C028-E5F8-417F-9195-901F54C1FA24}" type="datetimeFigureOut">
              <a:rPr lang="en-IN" smtClean="0"/>
              <a:t>16-04-2025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BEB0C246-A51F-4818-8BA9-ABCF70607EAD}" type="slidenum">
              <a:rPr lang="en-IN" smtClean="0"/>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44C028-E5F8-417F-9195-901F54C1FA24}" type="datetimeFigureOut">
              <a:rPr lang="en-IN" smtClean="0"/>
              <a:t>16-04-2025</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B0C246-A51F-4818-8BA9-ABCF70607EAD}" type="slidenum">
              <a:rPr lang="en-IN" smtClean="0"/>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3239" y="-254995"/>
            <a:ext cx="12398477" cy="1211886"/>
          </a:xfrm>
        </p:spPr>
        <p:txBody>
          <a:bodyPr>
            <a:normAutofit/>
          </a:bodyPr>
          <a:lstStyle/>
          <a:p>
            <a:pPr indent="356870" algn="l">
              <a:lnSpc>
                <a:spcPct val="115000"/>
              </a:lnSpc>
              <a:spcAft>
                <a:spcPts val="1000"/>
              </a:spcAft>
              <a:buNone/>
            </a:pPr>
            <a:r>
              <a:rPr lang="en-IN" sz="2700" b="1" dirty="0">
                <a:effectLst/>
                <a:latin typeface="Times New Roman" panose="02020603050405020304" pitchFamily="18" charset="0"/>
                <a:ea typeface="Calibri" panose="020F0502020204030204" pitchFamily="34" charset="0"/>
                <a:cs typeface="Gautami" panose="020B0502040204020203" pitchFamily="34" charset="0"/>
              </a:rPr>
              <a:t>ENERGY-EFFICIENT ADAPTIVE CLUSTERED ROUTING FOR WSNs USING </a:t>
            </a:r>
            <a:r>
              <a:rPr lang="en-IN" sz="2700" dirty="0">
                <a:effectLst/>
                <a:latin typeface="Times New Roman" panose="02020603050405020304" pitchFamily="18" charset="0"/>
                <a:ea typeface="Calibri" panose="020F0502020204030204" pitchFamily="34" charset="0"/>
                <a:cs typeface="Gautami" panose="020B0502040204020203" pitchFamily="34" charset="0"/>
              </a:rPr>
              <a:t> </a:t>
            </a:r>
            <a:r>
              <a:rPr lang="en-US" sz="2700" b="1" dirty="0">
                <a:effectLst/>
                <a:latin typeface="Times New Roman" panose="02020603050405020304" pitchFamily="18" charset="0"/>
                <a:ea typeface="Calibri" panose="020F0502020204030204" pitchFamily="34" charset="0"/>
                <a:cs typeface="Gautami" panose="020B0502040204020203" pitchFamily="34" charset="0"/>
              </a:rPr>
              <a:t>GENETIC BEE COLONY AND AQUILA VULTURE OPTIMIZATION</a:t>
            </a:r>
            <a:endParaRPr lang="en-IN" altLang="en-US" sz="311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06477" y="854424"/>
            <a:ext cx="12398477" cy="5514977"/>
          </a:xfrm>
        </p:spPr>
        <p:txBody>
          <a:bodyPr>
            <a:normAutofit lnSpcReduction="10000"/>
          </a:bodyPr>
          <a:lstStyle/>
          <a:p>
            <a:pPr lvl="0"/>
            <a:r>
              <a:rPr lang="en-US" sz="2800" dirty="0">
                <a:latin typeface="Times New Roman" panose="02020603050405020304" pitchFamily="18" charset="0"/>
                <a:cs typeface="Times New Roman" panose="02020603050405020304" pitchFamily="18" charset="0"/>
              </a:rPr>
              <a:t>Presented by</a:t>
            </a:r>
          </a:p>
          <a:p>
            <a:pPr marL="0" indent="0">
              <a:buNone/>
            </a:pPr>
            <a:r>
              <a:rPr lang="en-US" sz="28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BATCH NO: </a:t>
            </a:r>
            <a:r>
              <a:rPr lang="en-IN" altLang="en-US" sz="2600" dirty="0">
                <a:latin typeface="Times New Roman" panose="02020603050405020304" pitchFamily="18" charset="0"/>
                <a:cs typeface="Times New Roman" panose="02020603050405020304" pitchFamily="18" charset="0"/>
              </a:rPr>
              <a:t>06</a:t>
            </a:r>
            <a:endParaRPr lang="en-US" sz="2600"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sym typeface="+mn-ea"/>
              </a:rPr>
              <a:t>		</a:t>
            </a:r>
            <a:r>
              <a:rPr lang="en-IN" altLang="en-US" b="1" dirty="0">
                <a:latin typeface="Times New Roman" panose="02020603050405020304" pitchFamily="18" charset="0"/>
                <a:cs typeface="Times New Roman" panose="02020603050405020304" pitchFamily="18" charset="0"/>
                <a:sym typeface="+mn-ea"/>
              </a:rPr>
              <a:t>                        </a:t>
            </a:r>
            <a:r>
              <a:rPr lang="en-US" b="1" dirty="0">
                <a:latin typeface="Times New Roman" panose="02020603050405020304" pitchFamily="18" charset="0"/>
                <a:cs typeface="Times New Roman" panose="02020603050405020304" pitchFamily="18" charset="0"/>
                <a:sym typeface="+mn-ea"/>
              </a:rPr>
              <a:t>D.Sravani                              21NG1A0474</a:t>
            </a:r>
            <a:endParaRPr lang="en-US" b="1" dirty="0">
              <a:solidFill>
                <a:schemeClr val="tx1"/>
              </a:solidFill>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sym typeface="+mn-ea"/>
              </a:rPr>
              <a:t>	              </a:t>
            </a:r>
            <a:r>
              <a:rPr lang="en-IN" altLang="en-US" b="1" dirty="0">
                <a:latin typeface="Times New Roman" panose="02020603050405020304" pitchFamily="18" charset="0"/>
                <a:cs typeface="Times New Roman" panose="02020603050405020304" pitchFamily="18" charset="0"/>
                <a:sym typeface="+mn-ea"/>
              </a:rPr>
              <a:t>                      </a:t>
            </a:r>
            <a:r>
              <a:rPr lang="en-US" b="1" dirty="0" err="1">
                <a:latin typeface="Times New Roman" panose="02020603050405020304" pitchFamily="18" charset="0"/>
                <a:cs typeface="Times New Roman" panose="02020603050405020304" pitchFamily="18" charset="0"/>
                <a:sym typeface="+mn-ea"/>
              </a:rPr>
              <a:t>SK.</a:t>
            </a:r>
            <a:r>
              <a:rPr lang="en-US" b="1" spc="-1" dirty="0" err="1">
                <a:solidFill>
                  <a:srgbClr val="000000"/>
                </a:solidFill>
                <a:latin typeface="Times New Roman" panose="02020603050405020304"/>
                <a:ea typeface="Times New Roman" panose="02020603050405020304"/>
                <a:sym typeface="+mn-ea"/>
              </a:rPr>
              <a:t>Praveen</a:t>
            </a:r>
            <a:r>
              <a:rPr lang="en-US" b="1" spc="-1" dirty="0">
                <a:solidFill>
                  <a:srgbClr val="000000"/>
                </a:solidFill>
                <a:latin typeface="Times New Roman" panose="02020603050405020304"/>
                <a:ea typeface="Times New Roman" panose="02020603050405020304"/>
                <a:sym typeface="+mn-ea"/>
              </a:rPr>
              <a:t> </a:t>
            </a:r>
            <a:r>
              <a:rPr lang="en-US" b="1" dirty="0">
                <a:latin typeface="Times New Roman" panose="02020603050405020304" pitchFamily="18" charset="0"/>
                <a:cs typeface="Times New Roman" panose="02020603050405020304" pitchFamily="18" charset="0"/>
                <a:sym typeface="+mn-ea"/>
              </a:rPr>
              <a:t>	                       21NG1A04A4</a:t>
            </a:r>
            <a:endParaRPr lang="en-US" b="1" dirty="0">
              <a:solidFill>
                <a:schemeClr val="tx1"/>
              </a:solidFill>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sym typeface="+mn-ea"/>
              </a:rPr>
              <a:t>	              </a:t>
            </a:r>
            <a:r>
              <a:rPr lang="en-IN" altLang="en-US" b="1" dirty="0">
                <a:latin typeface="Times New Roman" panose="02020603050405020304" pitchFamily="18" charset="0"/>
                <a:cs typeface="Times New Roman" panose="02020603050405020304" pitchFamily="18" charset="0"/>
                <a:sym typeface="+mn-ea"/>
              </a:rPr>
              <a:t>                      </a:t>
            </a:r>
            <a:r>
              <a:rPr lang="en-US" b="1" spc="-1" dirty="0" err="1">
                <a:solidFill>
                  <a:srgbClr val="000000"/>
                </a:solidFill>
                <a:latin typeface="Times New Roman" panose="02020603050405020304"/>
                <a:ea typeface="Times New Roman" panose="02020603050405020304"/>
                <a:sym typeface="+mn-ea"/>
              </a:rPr>
              <a:t>K.Sai</a:t>
            </a:r>
            <a:r>
              <a:rPr lang="en-US" b="1" spc="-1" dirty="0">
                <a:solidFill>
                  <a:srgbClr val="000000"/>
                </a:solidFill>
                <a:latin typeface="Times New Roman" panose="02020603050405020304"/>
                <a:ea typeface="Times New Roman" panose="02020603050405020304"/>
                <a:sym typeface="+mn-ea"/>
              </a:rPr>
              <a:t> Venkat </a:t>
            </a:r>
            <a:r>
              <a:rPr lang="en-US" b="1" dirty="0">
                <a:latin typeface="Times New Roman" panose="02020603050405020304" pitchFamily="18" charset="0"/>
                <a:cs typeface="Times New Roman" panose="02020603050405020304" pitchFamily="18" charset="0"/>
                <a:sym typeface="+mn-ea"/>
              </a:rPr>
              <a:t>		           22NG5A0413</a:t>
            </a:r>
            <a:endParaRPr lang="en-US" b="1" dirty="0">
              <a:solidFill>
                <a:schemeClr val="tx1"/>
              </a:solidFill>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sym typeface="+mn-ea"/>
              </a:rPr>
              <a:t>	            </a:t>
            </a:r>
            <a:r>
              <a:rPr lang="en-IN" altLang="en-US" b="1" dirty="0">
                <a:latin typeface="Times New Roman" panose="02020603050405020304" pitchFamily="18" charset="0"/>
                <a:cs typeface="Times New Roman" panose="02020603050405020304" pitchFamily="18" charset="0"/>
                <a:sym typeface="+mn-ea"/>
              </a:rPr>
              <a:t>             </a:t>
            </a:r>
            <a:r>
              <a:rPr lang="en-US" b="1" dirty="0">
                <a:latin typeface="Times New Roman" panose="02020603050405020304" pitchFamily="18" charset="0"/>
                <a:cs typeface="Times New Roman" panose="02020603050405020304" pitchFamily="18" charset="0"/>
                <a:sym typeface="+mn-ea"/>
              </a:rPr>
              <a:t>           </a:t>
            </a:r>
            <a:r>
              <a:rPr lang="en-US" b="1" spc="-1" dirty="0" err="1">
                <a:solidFill>
                  <a:srgbClr val="000000"/>
                </a:solidFill>
                <a:latin typeface="Times New Roman" panose="02020603050405020304"/>
                <a:ea typeface="Times New Roman" panose="02020603050405020304"/>
                <a:sym typeface="+mn-ea"/>
              </a:rPr>
              <a:t>V.Siva</a:t>
            </a:r>
            <a:r>
              <a:rPr lang="en-US" b="1" spc="-1" dirty="0">
                <a:solidFill>
                  <a:srgbClr val="000000"/>
                </a:solidFill>
                <a:latin typeface="Times New Roman" panose="02020603050405020304"/>
                <a:ea typeface="Times New Roman" panose="02020603050405020304"/>
                <a:sym typeface="+mn-ea"/>
              </a:rPr>
              <a:t> Sai Kumar </a:t>
            </a:r>
            <a:r>
              <a:rPr lang="en-US" b="1" dirty="0">
                <a:latin typeface="Times New Roman" panose="02020603050405020304" pitchFamily="18" charset="0"/>
                <a:cs typeface="Times New Roman" panose="02020603050405020304" pitchFamily="18" charset="0"/>
                <a:sym typeface="+mn-ea"/>
              </a:rPr>
              <a:t>	</a:t>
            </a:r>
            <a:r>
              <a:rPr lang="en-US" b="1" spc="-1" dirty="0">
                <a:solidFill>
                  <a:srgbClr val="000000"/>
                </a:solidFill>
                <a:latin typeface="Times New Roman" panose="02020603050405020304"/>
                <a:ea typeface="Times New Roman" panose="02020603050405020304"/>
                <a:sym typeface="+mn-ea"/>
              </a:rPr>
              <a:t>  </a:t>
            </a:r>
            <a:r>
              <a:rPr lang="en-IN" altLang="en-US" b="1" spc="-1" dirty="0">
                <a:solidFill>
                  <a:srgbClr val="000000"/>
                </a:solidFill>
                <a:latin typeface="Times New Roman" panose="02020603050405020304"/>
                <a:ea typeface="Times New Roman" panose="02020603050405020304"/>
                <a:sym typeface="+mn-ea"/>
              </a:rPr>
              <a:t>         </a:t>
            </a:r>
            <a:r>
              <a:rPr lang="en-US" b="1" spc="-1" dirty="0">
                <a:solidFill>
                  <a:srgbClr val="000000"/>
                </a:solidFill>
                <a:latin typeface="Times New Roman" panose="02020603050405020304"/>
                <a:ea typeface="Times New Roman" panose="02020603050405020304"/>
                <a:sym typeface="+mn-ea"/>
              </a:rPr>
              <a:t>21NG1A04B0</a:t>
            </a:r>
          </a:p>
          <a:p>
            <a:pPr algn="just"/>
            <a:endParaRPr lang="en-US" b="1" strike="noStrike" spc="-1"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UNDER THE ESTEEMED GUIDANCE OF </a:t>
            </a:r>
          </a:p>
          <a:p>
            <a:r>
              <a:rPr lang="en-US" sz="2400" dirty="0">
                <a:latin typeface="Times New Roman" panose="02020603050405020304" pitchFamily="18" charset="0"/>
                <a:cs typeface="Times New Roman" panose="02020603050405020304" pitchFamily="18" charset="0"/>
              </a:rPr>
              <a:t>  </a:t>
            </a:r>
            <a:r>
              <a:rPr lang="en-US" b="1" dirty="0">
                <a:solidFill>
                  <a:schemeClr val="tx1"/>
                </a:solidFill>
                <a:latin typeface="Times New Roman" pitchFamily="18" charset="0"/>
                <a:cs typeface="Times New Roman" pitchFamily="18" charset="0"/>
              </a:rPr>
              <a:t>Dr. B. NANCHARAIAH, B.E, M.TECH, Ph.D.</a:t>
            </a:r>
            <a:endParaRPr lang="en-US" dirty="0">
              <a:solidFill>
                <a:schemeClr val="tx1"/>
              </a:solidFill>
              <a:latin typeface="Times New Roman" pitchFamily="18" charset="0"/>
              <a:cs typeface="Times New Roman" pitchFamily="18" charset="0"/>
            </a:endParaRPr>
          </a:p>
          <a:p>
            <a:r>
              <a:rPr lang="en-US" b="1" dirty="0">
                <a:solidFill>
                  <a:schemeClr val="tx1"/>
                </a:solidFill>
                <a:latin typeface="Times New Roman" pitchFamily="18" charset="0"/>
                <a:cs typeface="Times New Roman" pitchFamily="18" charset="0"/>
              </a:rPr>
              <a:t>  Professor &amp; Head of the department      </a:t>
            </a:r>
            <a:endParaRPr lang="en-US" sz="1900" dirty="0">
              <a:latin typeface="Times New Roman" panose="02020603050405020304" pitchFamily="18" charset="0"/>
              <a:cs typeface="Times New Roman" panose="02020603050405020304" pitchFamily="18" charset="0"/>
            </a:endParaRPr>
          </a:p>
          <a:p>
            <a:pPr marL="0" indent="0">
              <a:buNone/>
            </a:pPr>
            <a:r>
              <a:rPr lang="en-US" dirty="0">
                <a:solidFill>
                  <a:srgbClr val="0000CC"/>
                </a:solidFill>
                <a:latin typeface="Times New Roman" panose="02020603050405020304" pitchFamily="18" charset="0"/>
                <a:cs typeface="Times New Roman" panose="02020603050405020304" pitchFamily="18" charset="0"/>
              </a:rPr>
              <a:t> </a:t>
            </a:r>
            <a:r>
              <a:rPr lang="en-US" b="1" dirty="0">
                <a:solidFill>
                  <a:srgbClr val="0000CC"/>
                </a:solidFill>
                <a:latin typeface="Times New Roman" panose="02020603050405020304" pitchFamily="18" charset="0"/>
                <a:cs typeface="Times New Roman" panose="02020603050405020304" pitchFamily="18" charset="0"/>
              </a:rPr>
              <a:t>DEPARTMENT OF ELECTRONICS AND COMMUNICATION ENGINEERING</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 </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5537277"/>
            <a:ext cx="12192000" cy="1320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txBox="1"/>
          <p:nvPr/>
        </p:nvSpPr>
        <p:spPr>
          <a:xfrm>
            <a:off x="902677" y="144966"/>
            <a:ext cx="10667999" cy="482361"/>
          </a:xfrm>
          <a:prstGeom prst="rect">
            <a:avLst/>
          </a:prstGeom>
        </p:spPr>
        <p:txBody>
          <a:bodyPr vert="horz" lIns="91440" tIns="45720" rIns="91440" bIns="45720" rtlCol="0" anchor="b">
            <a:normAutofit fontScale="92500" lnSpcReduction="20000"/>
          </a:bodyPr>
          <a:lstStyle/>
          <a:p>
            <a:pPr marL="0" marR="0" lvl="0" indent="0" algn="ctr" defTabSz="914400" rtl="0" eaLnBrk="1" fontAlgn="auto" latinLnBrk="0" hangingPunct="1">
              <a:lnSpc>
                <a:spcPct val="90000"/>
              </a:lnSpc>
              <a:spcBef>
                <a:spcPct val="0"/>
              </a:spcBef>
              <a:spcAft>
                <a:spcPts val="0"/>
              </a:spcAft>
              <a:buClrTx/>
              <a:buSzTx/>
              <a:buFontTx/>
              <a:buNone/>
              <a:defRPr/>
            </a:pPr>
            <a:endParaRPr kumimoji="0" lang="en-IN" sz="36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2105"/>
            <a:ext cx="10515600" cy="504887"/>
          </a:xfrm>
        </p:spPr>
        <p:txBody>
          <a:bodyPr>
            <a:noAutofit/>
          </a:bodyPr>
          <a:lstStyle/>
          <a:p>
            <a:r>
              <a:rPr lang="en-US" sz="3200" b="1" dirty="0">
                <a:latin typeface="Times New Roman" panose="02020603050405020304" pitchFamily="18" charset="0"/>
                <a:cs typeface="Times New Roman" panose="02020603050405020304" pitchFamily="18" charset="0"/>
              </a:rPr>
              <a:t>                                        CONTENTS</a:t>
            </a:r>
            <a:endParaRPr lang="en-IN" sz="3200" b="1" dirty="0"/>
          </a:p>
        </p:txBody>
      </p:sp>
      <p:sp>
        <p:nvSpPr>
          <p:cNvPr id="3" name="Content Placeholder 2"/>
          <p:cNvSpPr>
            <a:spLocks noGrp="1"/>
          </p:cNvSpPr>
          <p:nvPr>
            <p:ph idx="1"/>
          </p:nvPr>
        </p:nvSpPr>
        <p:spPr>
          <a:xfrm>
            <a:off x="838200" y="713898"/>
            <a:ext cx="10515600" cy="6148974"/>
          </a:xfrm>
        </p:spPr>
        <p:txBody>
          <a:bodyPr>
            <a:normAutofit fontScale="90000" lnSpcReduction="10000"/>
          </a:bodyPr>
          <a:lstStyle/>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ABSTRACT</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INTRODUCTION</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LITERATURE SURVEY</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EXISTING SYSTEM</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EXISTING SYSTEM BLOCK DIAGRAM</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EXISTING SYSTEM DRAWBACKS </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sym typeface="+mn-ea"/>
              </a:rPr>
              <a:t>PROPOSED SYSTEM NECESSITY(Problem Identification)</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PROPOSED SYSTEM BLOCK DIAGRAM</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sym typeface="+mn-ea"/>
              </a:rPr>
              <a:t>PROPOSED SYSTEM EXPLANATION/DESCRIPTION</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sym typeface="+mn-ea"/>
              </a:rPr>
              <a:t>PROJECT REQUIREMENTS</a:t>
            </a:r>
            <a:r>
              <a:rPr lang="en-IN" altLang="en-US" sz="2400" dirty="0">
                <a:latin typeface="Times New Roman" panose="02020603050405020304" pitchFamily="18" charset="0"/>
                <a:cs typeface="Times New Roman" panose="02020603050405020304" pitchFamily="18" charset="0"/>
                <a:sym typeface="+mn-ea"/>
              </a:rPr>
              <a:t> (</a:t>
            </a:r>
            <a:r>
              <a:rPr lang="en-US" sz="2400" dirty="0">
                <a:latin typeface="Times New Roman" panose="02020603050405020304" pitchFamily="18" charset="0"/>
                <a:cs typeface="Times New Roman" panose="02020603050405020304" pitchFamily="18" charset="0"/>
                <a:sym typeface="+mn-ea"/>
              </a:rPr>
              <a:t> SOFTWARE</a:t>
            </a:r>
            <a:r>
              <a:rPr lang="en-IN" altLang="en-US" sz="2400" dirty="0">
                <a:latin typeface="Times New Roman" panose="02020603050405020304" pitchFamily="18" charset="0"/>
                <a:cs typeface="Times New Roman" panose="02020603050405020304" pitchFamily="18" charset="0"/>
                <a:sym typeface="+mn-ea"/>
              </a:rPr>
              <a:t>)</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sym typeface="+mn-ea"/>
              </a:rPr>
              <a:t> RESULTS AND ITS ANALYSIS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sym typeface="+mn-ea"/>
              </a:rPr>
              <a:t>ADVANTAGES</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sym typeface="+mn-ea"/>
              </a:rPr>
              <a:t>APPLICATIONS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CONCLUSIONS</a:t>
            </a:r>
          </a:p>
          <a:p>
            <a:pPr marL="0" indent="0">
              <a:buFont typeface="+mj-lt"/>
              <a:buNone/>
            </a:pPr>
            <a:r>
              <a:rPr lang="en-US" sz="2400" dirty="0">
                <a:latin typeface="Times New Roman" panose="02020603050405020304" pitchFamily="18" charset="0"/>
                <a:cs typeface="Times New Roman" panose="02020603050405020304" pitchFamily="18"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1205" y="-259"/>
            <a:ext cx="10515600" cy="790113"/>
          </a:xfrm>
        </p:spPr>
        <p:txBody>
          <a:bodyPr>
            <a:normAutofit/>
          </a:bodyPr>
          <a:lstStyle/>
          <a:p>
            <a:r>
              <a:rPr lang="en-US" sz="3200" b="1" dirty="0">
                <a:latin typeface="Times New Roman" panose="02020603050405020304" pitchFamily="18" charset="0"/>
                <a:cs typeface="Times New Roman" panose="02020603050405020304" pitchFamily="18" charset="0"/>
              </a:rPr>
              <a:t>                                  </a:t>
            </a:r>
            <a:r>
              <a:rPr lang="en-IN" altLang="en-US" sz="3200" b="1" dirty="0">
                <a:latin typeface="Times New Roman" panose="02020603050405020304" pitchFamily="18" charset="0"/>
                <a:cs typeface="Times New Roman" panose="02020603050405020304" pitchFamily="18" charset="0"/>
              </a:rPr>
              <a:t>1. </a:t>
            </a:r>
            <a:r>
              <a:rPr lang="en-US" sz="3200" b="1" dirty="0">
                <a:latin typeface="Times New Roman" panose="02020603050405020304" pitchFamily="18" charset="0"/>
                <a:cs typeface="Times New Roman" panose="02020603050405020304" pitchFamily="18" charset="0"/>
              </a:rPr>
              <a:t>ABSTRACT</a:t>
            </a:r>
            <a:endParaRPr lang="en-IN" sz="3200" dirty="0"/>
          </a:p>
        </p:txBody>
      </p:sp>
      <p:sp>
        <p:nvSpPr>
          <p:cNvPr id="7" name="Content Placeholder 6"/>
          <p:cNvSpPr>
            <a:spLocks noGrp="1"/>
          </p:cNvSpPr>
          <p:nvPr>
            <p:ph idx="1"/>
          </p:nvPr>
        </p:nvSpPr>
        <p:spPr>
          <a:xfrm>
            <a:off x="500380" y="709930"/>
            <a:ext cx="11565255" cy="5828665"/>
          </a:xfrm>
        </p:spPr>
        <p:txBody>
          <a:bodyPr>
            <a:normAutofit fontScale="90000"/>
          </a:bodyPr>
          <a:lstStyle/>
          <a:p>
            <a:pPr algn="just">
              <a:lnSpc>
                <a:spcPct val="150000"/>
              </a:lnSpc>
              <a:buFont typeface="Arial" panose="020B0604020202020204" pitchFamily="34" charset="0"/>
              <a:buChar char="•"/>
            </a:pPr>
            <a:r>
              <a:rPr lang="en-IN" altLang="en-US" sz="2000" dirty="0">
                <a:latin typeface="Times New Roman" panose="02020603050405020304" pitchFamily="18" charset="0"/>
                <a:cs typeface="Times New Roman" panose="02020603050405020304" pitchFamily="18" charset="0"/>
                <a:sym typeface="+mn-ea"/>
              </a:rPr>
              <a:t>  </a:t>
            </a:r>
            <a:r>
              <a:rPr lang="en-US" sz="2000" dirty="0">
                <a:latin typeface="Times New Roman" panose="02020603050405020304" pitchFamily="18" charset="0"/>
                <a:cs typeface="Times New Roman" panose="02020603050405020304" pitchFamily="18" charset="0"/>
                <a:sym typeface="+mn-ea"/>
              </a:rPr>
              <a:t>Wireless Sensor Networks have been used for sensing and gathering data about an environment from a remote location for many years in a variety of engineering applications. </a:t>
            </a:r>
          </a:p>
          <a:p>
            <a:pPr algn="just">
              <a:lnSpc>
                <a:spcPct val="150000"/>
              </a:lnSpc>
              <a:buFont typeface="Arial" panose="020B0604020202020204" pitchFamily="34" charset="0"/>
              <a:buChar char="•"/>
            </a:pPr>
            <a:r>
              <a:rPr lang="en-IN" altLang="en-US" sz="2000" dirty="0">
                <a:latin typeface="Times New Roman" panose="02020603050405020304" pitchFamily="18" charset="0"/>
                <a:cs typeface="Times New Roman" panose="02020603050405020304" pitchFamily="18" charset="0"/>
                <a:sym typeface="+mn-ea"/>
              </a:rPr>
              <a:t>I</a:t>
            </a:r>
            <a:r>
              <a:rPr lang="en-US" sz="2000" dirty="0">
                <a:latin typeface="Times New Roman" panose="02020603050405020304" pitchFamily="18" charset="0"/>
                <a:cs typeface="Times New Roman" panose="02020603050405020304" pitchFamily="18" charset="0"/>
                <a:sym typeface="+mn-ea"/>
              </a:rPr>
              <a:t>n WSN, nodes must overcome energy consumption to function efficiently. To resolve these issues and extend the use </a:t>
            </a:r>
            <a:r>
              <a:rPr lang="en-US" sz="2000" dirty="0" err="1">
                <a:latin typeface="Times New Roman" panose="02020603050405020304" pitchFamily="18" charset="0"/>
                <a:cs typeface="Times New Roman" panose="02020603050405020304" pitchFamily="18" charset="0"/>
                <a:sym typeface="+mn-ea"/>
              </a:rPr>
              <a:t>fulness</a:t>
            </a:r>
            <a:r>
              <a:rPr lang="en-US" sz="2000" dirty="0">
                <a:latin typeface="Times New Roman" panose="02020603050405020304" pitchFamily="18" charset="0"/>
                <a:cs typeface="Times New Roman" panose="02020603050405020304" pitchFamily="18" charset="0"/>
                <a:sym typeface="+mn-ea"/>
              </a:rPr>
              <a:t> of the network, clustering and routing algorithms are promising.</a:t>
            </a:r>
          </a:p>
          <a:p>
            <a:pPr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mn-ea"/>
              </a:rPr>
              <a:t> One of the main issues with WSNs is that they lack restricted energy sources. To overcome this issue, a Hybrid Optimized Energy Efficient Adaptive Clustered Routing approach (HOEEACR) has been proposed for WSNs. </a:t>
            </a:r>
          </a:p>
          <a:p>
            <a:pPr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mn-ea"/>
              </a:rPr>
              <a:t>This paper presents the Genetic Bee Colony(GBC) Algorithm for Cluster Head Selection by considering distances to neighbors, residual energy, node degrees, and node centralities. Furthermore, an optimal routing path for the cluster heads is found by utilizing the Aquila with African Vulture Optimization (AAVO) algorithm. </a:t>
            </a:r>
          </a:p>
          <a:p>
            <a:pPr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mn-ea"/>
              </a:rPr>
              <a:t>The AAVO optimizes network performance using residual energy, node degree, and distance. The proposed HOEEACR method has been extensively tested to ensure network lifetime and energy efficiency.</a:t>
            </a:r>
          </a:p>
          <a:p>
            <a:pPr marL="0" indent="0">
              <a:buNone/>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8125"/>
            <a:ext cx="10515600" cy="600075"/>
          </a:xfrm>
        </p:spPr>
        <p:txBody>
          <a:bodyPr>
            <a:normAutofit/>
          </a:bodyPr>
          <a:lstStyle/>
          <a:p>
            <a:pPr algn="ctr"/>
            <a:r>
              <a:rPr lang="en-IN" altLang="en-US" sz="3200" b="1" dirty="0">
                <a:latin typeface="Times New Roman" panose="02020603050405020304" pitchFamily="18" charset="0"/>
                <a:cs typeface="Times New Roman" panose="02020603050405020304" pitchFamily="18" charset="0"/>
              </a:rPr>
              <a:t>2. </a:t>
            </a:r>
            <a:r>
              <a:rPr lang="en-US" sz="3200" b="1" dirty="0">
                <a:latin typeface="Times New Roman" panose="02020603050405020304" pitchFamily="18" charset="0"/>
                <a:cs typeface="Times New Roman" panose="02020603050405020304" pitchFamily="18" charset="0"/>
              </a:rPr>
              <a:t>INTRODUCTION</a:t>
            </a:r>
            <a:endParaRPr lang="en-IN" sz="3200" dirty="0">
              <a:latin typeface="Times New Roman" panose="02020603050405020304" pitchFamily="18" charset="0"/>
              <a:cs typeface="Times New Roman" panose="02020603050405020304" pitchFamily="18" charset="0"/>
            </a:endParaRPr>
          </a:p>
        </p:txBody>
      </p:sp>
      <p:sp>
        <p:nvSpPr>
          <p:cNvPr id="4" name="Text Box 3"/>
          <p:cNvSpPr txBox="1"/>
          <p:nvPr/>
        </p:nvSpPr>
        <p:spPr>
          <a:xfrm>
            <a:off x="667385" y="972185"/>
            <a:ext cx="10856595" cy="5885815"/>
          </a:xfrm>
          <a:prstGeom prst="rect">
            <a:avLst/>
          </a:prstGeom>
          <a:noFill/>
        </p:spPr>
        <p:txBody>
          <a:bodyPr wrap="square" rtlCol="0">
            <a:noAutofit/>
          </a:bodyPr>
          <a:lstStyle/>
          <a:p>
            <a:pPr marL="457200" indent="-457200" algn="just">
              <a:buFont typeface="Wingdings" panose="05000000000000000000" charset="0"/>
              <a:buChar char="Ø"/>
            </a:pPr>
            <a:r>
              <a:rPr lang="en-US" sz="2000" dirty="0">
                <a:latin typeface="Times New Roman" panose="02020603050405020304" pitchFamily="18" charset="0"/>
                <a:cs typeface="Times New Roman" panose="02020603050405020304" pitchFamily="18" charset="0"/>
                <a:sym typeface="+mn-ea"/>
              </a:rPr>
              <a:t>WSN involves hundreds or thousands of sensor nodes distributed throughout the environment and used to collect, process, and retrieve data. </a:t>
            </a:r>
            <a:endParaRPr lang="en-US" sz="2000" dirty="0">
              <a:solidFill>
                <a:schemeClr val="tx1"/>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charset="0"/>
              <a:buChar char="Ø"/>
            </a:pPr>
            <a:r>
              <a:rPr lang="en-US" sz="2000" dirty="0">
                <a:latin typeface="Times New Roman" panose="02020603050405020304" pitchFamily="18" charset="0"/>
                <a:cs typeface="Times New Roman" panose="02020603050405020304" pitchFamily="18" charset="0"/>
                <a:sym typeface="+mn-ea"/>
              </a:rPr>
              <a:t>These sensor nodes are cost effective and have a large capacity to collect, process, and transmit information.</a:t>
            </a:r>
            <a:endParaRPr lang="en-US" sz="2000" dirty="0">
              <a:solidFill>
                <a:schemeClr val="tx1"/>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charset="0"/>
              <a:buChar char="Ø"/>
            </a:pPr>
            <a:r>
              <a:rPr lang="en-US" sz="2000" dirty="0">
                <a:latin typeface="Times New Roman" panose="02020603050405020304" pitchFamily="18" charset="0"/>
                <a:cs typeface="Times New Roman" panose="02020603050405020304" pitchFamily="18" charset="0"/>
                <a:sym typeface="+mn-ea"/>
              </a:rPr>
              <a:t> All environmental data packets are sent to a network node, commonly called a base station (BS), for further processing. Sensor nodes are typically used in locations where human interaction is difficult or impossible.</a:t>
            </a:r>
            <a:endParaRPr lang="en-US" sz="2000" dirty="0">
              <a:solidFill>
                <a:schemeClr val="tx1"/>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charset="0"/>
              <a:buChar char="Ø"/>
            </a:pPr>
            <a:r>
              <a:rPr lang="en-US" sz="2000" dirty="0">
                <a:latin typeface="Times New Roman" panose="02020603050405020304" pitchFamily="18" charset="0"/>
                <a:cs typeface="Times New Roman" panose="02020603050405020304" pitchFamily="18" charset="0"/>
                <a:sym typeface="+mn-ea"/>
              </a:rPr>
              <a:t> The entire area of interest needs to 941be covered, but the sensor’s battery power is limited. Moreover, the life time of WSNs is energy-dependent and distributed sensor nodes are more susceptible to damage.</a:t>
            </a: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endParaRPr lang="en-US" sz="2000" dirty="0">
              <a:latin typeface="Times New Roman" panose="02020603050405020304" pitchFamily="18" charset="0"/>
              <a:cs typeface="Times New Roman" panose="02020603050405020304" pitchFamily="18" charset="0"/>
            </a:endParaRPr>
          </a:p>
        </p:txBody>
      </p:sp>
      <p:pic>
        <p:nvPicPr>
          <p:cNvPr id="5" name="Picture 2" descr="E:\2025\USHA RAMA\SRAVANI HOEEACR\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56197" y="4051649"/>
            <a:ext cx="4217773" cy="1981200"/>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5"/>
          <p:cNvSpPr txBox="1"/>
          <p:nvPr/>
        </p:nvSpPr>
        <p:spPr>
          <a:xfrm>
            <a:off x="3463290" y="6176645"/>
            <a:ext cx="4839335" cy="368300"/>
          </a:xfrm>
          <a:prstGeom prst="rect">
            <a:avLst/>
          </a:prstGeom>
          <a:noFill/>
        </p:spPr>
        <p:txBody>
          <a:bodyPr wrap="square" rtlCol="0">
            <a:spAutoFit/>
          </a:bodyPr>
          <a:lstStyle/>
          <a:p>
            <a:r>
              <a:rPr lang="en-IN" altLang="en-US" dirty="0">
                <a:latin typeface="Times New Roman" panose="02020603050405020304" pitchFamily="18" charset="0"/>
                <a:cs typeface="Times New Roman" panose="02020603050405020304" pitchFamily="18" charset="0"/>
              </a:rPr>
              <a:t> Figure 1 : The diagram of  WSN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474" y="254000"/>
            <a:ext cx="12074525" cy="6604000"/>
          </a:xfrm>
        </p:spPr>
        <p:txBody>
          <a:bodyPr>
            <a:noAutofit/>
          </a:bodyPr>
          <a:lstStyle/>
          <a:p>
            <a:pPr>
              <a:lnSpc>
                <a:spcPct val="150000"/>
              </a:lnSpc>
            </a:pPr>
            <a:r>
              <a:rPr lang="en-US" sz="1800" dirty="0">
                <a:solidFill>
                  <a:srgbClr val="000000"/>
                </a:solidFill>
                <a:effectLst/>
                <a:latin typeface="Times New Roman" panose="02020603050405020304" pitchFamily="18" charset="0"/>
                <a:cs typeface="Times New Roman" panose="02020603050405020304" pitchFamily="18" charset="0"/>
              </a:rPr>
              <a:t>When a large number of sensors are placed for sensing purposes in sensor network applications, hierarchical </a:t>
            </a:r>
            <a:endParaRPr lang="en-US" sz="1600" dirty="0">
              <a:latin typeface="Times New Roman" panose="02020603050405020304" pitchFamily="18" charset="0"/>
              <a:cs typeface="Times New Roman" panose="02020603050405020304" pitchFamily="18" charset="0"/>
            </a:endParaRPr>
          </a:p>
          <a:p>
            <a:pPr marL="0" indent="0">
              <a:lnSpc>
                <a:spcPct val="150000"/>
              </a:lnSpc>
              <a:buNone/>
            </a:pPr>
            <a:r>
              <a:rPr lang="en-US" sz="1800" dirty="0">
                <a:solidFill>
                  <a:srgbClr val="000000"/>
                </a:solidFill>
                <a:effectLst/>
                <a:latin typeface="Times New Roman" panose="02020603050405020304" pitchFamily="18" charset="0"/>
                <a:cs typeface="Times New Roman" panose="02020603050405020304" pitchFamily="18" charset="0"/>
              </a:rPr>
              <a:t>     cluster-based routing techniques are crucial. </a:t>
            </a:r>
          </a:p>
          <a:p>
            <a:pPr>
              <a:lnSpc>
                <a:spcPct val="150000"/>
              </a:lnSpc>
            </a:pPr>
            <a:r>
              <a:rPr lang="en-US" sz="1800" dirty="0">
                <a:solidFill>
                  <a:srgbClr val="000000"/>
                </a:solidFill>
                <a:effectLst/>
                <a:latin typeface="Times New Roman" panose="02020603050405020304" pitchFamily="18" charset="0"/>
                <a:cs typeface="Times New Roman" panose="02020603050405020304" pitchFamily="18" charset="0"/>
              </a:rPr>
              <a:t>Reduced node energy usage during data transmission is the goal of this research. As a result, sensor nodes use </a:t>
            </a:r>
            <a:r>
              <a:rPr lang="en-US" sz="1600" dirty="0">
                <a:latin typeface="Times New Roman" panose="02020603050405020304" pitchFamily="18" charset="0"/>
                <a:cs typeface="Times New Roman" panose="02020603050405020304" pitchFamily="18" charset="0"/>
              </a:rPr>
              <a:t>l</a:t>
            </a:r>
            <a:r>
              <a:rPr lang="en-US" sz="1800" dirty="0">
                <a:solidFill>
                  <a:srgbClr val="000000"/>
                </a:solidFill>
                <a:effectLst/>
                <a:latin typeface="Times New Roman" panose="02020603050405020304" pitchFamily="18" charset="0"/>
                <a:cs typeface="Times New Roman" panose="02020603050405020304" pitchFamily="18" charset="0"/>
              </a:rPr>
              <a:t>ess energy and more packets are transmitted to the BS overall.</a:t>
            </a:r>
          </a:p>
          <a:p>
            <a:pPr>
              <a:lnSpc>
                <a:spcPct val="150000"/>
              </a:lnSpc>
            </a:pPr>
            <a:r>
              <a:rPr lang="en-US" sz="1800" dirty="0">
                <a:solidFill>
                  <a:srgbClr val="000000"/>
                </a:solidFill>
                <a:effectLst/>
                <a:latin typeface="Times New Roman" panose="02020603050405020304" pitchFamily="18" charset="0"/>
                <a:cs typeface="Times New Roman" panose="02020603050405020304" pitchFamily="18" charset="0"/>
              </a:rPr>
              <a:t> A Hybrid Optimized Energy Efficiency Adaptive Cluster Routing (HOEEACR) method for large-scale WSNs has been    proposed.</a:t>
            </a:r>
          </a:p>
          <a:p>
            <a:pPr>
              <a:lnSpc>
                <a:spcPct val="150000"/>
              </a:lnSpc>
            </a:pPr>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HOEEACR approach</a:t>
            </a:r>
            <a:r>
              <a:rPr lang="en-US" sz="1800" dirty="0">
                <a:latin typeface="Times New Roman" panose="02020603050405020304" pitchFamily="18" charset="0"/>
                <a:cs typeface="Times New Roman" panose="02020603050405020304" pitchFamily="18" charset="0"/>
              </a:rPr>
              <a:t> improves the performance of sensor networks by selecting the best nodes and optimizing routing paths for energy efficiency and longevity.</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83565"/>
            <a:ext cx="12129770" cy="6638925"/>
          </a:xfrm>
        </p:spPr>
        <p:txBody>
          <a:bodyPr>
            <a:normAutofit fontScale="72500" lnSpcReduction="20000"/>
          </a:bodyPr>
          <a:lstStyle/>
          <a:p>
            <a:pPr marL="342900" indent="-342900">
              <a:buAutoNum type="arabicPeriod"/>
            </a:pPr>
            <a:r>
              <a:rPr lang="en-US" altLang="en-US" b="1">
                <a:latin typeface="Times New Roman" panose="02020603050405020304" pitchFamily="18" charset="0"/>
                <a:cs typeface="Times New Roman" panose="02020603050405020304" pitchFamily="18" charset="0"/>
              </a:rPr>
              <a:t>GAPSO-H:A hybrid approach towards optimizing the cluster-based</a:t>
            </a:r>
            <a:r>
              <a:rPr lang="en-IN" altLang="en-US" b="1">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routing in wireless sensor network</a:t>
            </a:r>
            <a:endParaRPr lang="en-US" altLang="en-US">
              <a:latin typeface="Times New Roman" panose="02020603050405020304" pitchFamily="18" charset="0"/>
              <a:cs typeface="Times New Roman" panose="02020603050405020304" pitchFamily="18" charset="0"/>
            </a:endParaRPr>
          </a:p>
          <a:p>
            <a:pPr marL="0" indent="0">
              <a:buNone/>
            </a:pPr>
            <a:r>
              <a:rPr lang="en-IN" altLang="en-US" b="1">
                <a:latin typeface="Times New Roman" panose="02020603050405020304" pitchFamily="18" charset="0"/>
                <a:cs typeface="Times New Roman" panose="02020603050405020304" pitchFamily="18" charset="0"/>
              </a:rPr>
              <a:t>(</a:t>
            </a:r>
            <a:r>
              <a:rPr lang="en-US" altLang="en-US" b="1">
                <a:latin typeface="Times New Roman" panose="02020603050405020304" pitchFamily="18" charset="0"/>
                <a:cs typeface="Times New Roman" panose="02020603050405020304" pitchFamily="18" charset="0"/>
              </a:rPr>
              <a:t>B. M. Sahoo, H. M. Pandey, and T. Amgoth,</a:t>
            </a:r>
            <a:r>
              <a:rPr lang="en-IN" altLang="en-US" b="1">
                <a:latin typeface="Times New Roman" panose="02020603050405020304" pitchFamily="18" charset="0"/>
                <a:cs typeface="Times New Roman" panose="02020603050405020304" pitchFamily="18" charset="0"/>
              </a:rPr>
              <a:t>2021)</a:t>
            </a:r>
            <a:endParaRPr lang="en-US" altLang="en-US">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Techniques Used:</a:t>
            </a:r>
          </a:p>
          <a:p>
            <a:pPr marL="0" indent="0">
              <a:buNone/>
            </a:pPr>
            <a:r>
              <a:rPr lang="en-US" altLang="en-US">
                <a:latin typeface="Times New Roman" panose="02020603050405020304" pitchFamily="18" charset="0"/>
                <a:cs typeface="Times New Roman" panose="02020603050405020304" pitchFamily="18" charset="0"/>
              </a:rPr>
              <a:t>Hybrid of GA &amp; PSO (Genetic Algorithm &amp; Particle Swarm Optimization)</a:t>
            </a:r>
            <a:r>
              <a:rPr lang="en-IN" altLang="en-US">
                <a:latin typeface="Times New Roman" panose="02020603050405020304" pitchFamily="18" charset="0"/>
                <a:cs typeface="Times New Roman" panose="02020603050405020304" pitchFamily="18" charset="0"/>
              </a:rPr>
              <a:t>used for optimizing sink mobility and selecting CH</a:t>
            </a:r>
            <a:endParaRPr lang="en-US" altLang="en-US">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Improved Parameters:</a:t>
            </a:r>
          </a:p>
          <a:p>
            <a:pPr marL="0" indent="0">
              <a:buNone/>
            </a:pPr>
            <a:r>
              <a:rPr lang="en-US" altLang="en-US">
                <a:latin typeface="Times New Roman" panose="02020603050405020304" pitchFamily="18" charset="0"/>
                <a:cs typeface="Times New Roman" panose="02020603050405020304" pitchFamily="18" charset="0"/>
              </a:rPr>
              <a:t>Energy Efficiency, Network Lifetime, Routing Overhead, Cluster Formation</a:t>
            </a:r>
          </a:p>
          <a:p>
            <a:r>
              <a:rPr lang="en-US" altLang="en-US" b="1">
                <a:latin typeface="Times New Roman" panose="02020603050405020304" pitchFamily="18" charset="0"/>
                <a:cs typeface="Times New Roman" panose="02020603050405020304" pitchFamily="18" charset="0"/>
              </a:rPr>
              <a:t>Drawbacks Identified:</a:t>
            </a:r>
          </a:p>
          <a:p>
            <a:pPr marL="0" indent="0">
              <a:buNone/>
            </a:pPr>
            <a:r>
              <a:rPr lang="en-US" altLang="en-US">
                <a:latin typeface="Times New Roman" panose="02020603050405020304" pitchFamily="18" charset="0"/>
                <a:cs typeface="Times New Roman" panose="02020603050405020304" pitchFamily="18" charset="0"/>
              </a:rPr>
              <a:t>Computational Complexity, Slower Convergence, Scalability Issues</a:t>
            </a:r>
          </a:p>
          <a:p>
            <a:pPr marL="0" indent="0">
              <a:buNone/>
            </a:pPr>
            <a:endParaRPr lang="en-US" altLang="en-US">
              <a:latin typeface="Times New Roman" panose="02020603050405020304" pitchFamily="18" charset="0"/>
              <a:cs typeface="Times New Roman" panose="02020603050405020304" pitchFamily="18" charset="0"/>
            </a:endParaRPr>
          </a:p>
          <a:p>
            <a:pPr marL="0" indent="0">
              <a:buFont typeface="+mj-lt"/>
              <a:buNone/>
            </a:pPr>
            <a:r>
              <a:rPr lang="en-IN" altLang="en-US" b="1">
                <a:latin typeface="Times New Roman" panose="02020603050405020304" pitchFamily="18" charset="0"/>
                <a:cs typeface="Times New Roman" panose="02020603050405020304" pitchFamily="18" charset="0"/>
              </a:rPr>
              <a:t>2.</a:t>
            </a:r>
            <a:r>
              <a:rPr lang="en-IN" altLang="en-US">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Multi-objective</a:t>
            </a:r>
            <a:r>
              <a:rPr lang="en-IN" altLang="en-US" b="1">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derived energy efficient routing in wireless sensor networks using hybrid African vultures-cuckoo search optimization,</a:t>
            </a:r>
            <a:r>
              <a:rPr lang="en-IN" altLang="en-US" b="1">
                <a:latin typeface="Times New Roman" panose="02020603050405020304" pitchFamily="18" charset="0"/>
                <a:cs typeface="Times New Roman" panose="02020603050405020304" pitchFamily="18" charset="0"/>
              </a:rPr>
              <a:t>(</a:t>
            </a:r>
            <a:r>
              <a:rPr lang="en-US" altLang="en-US" b="1">
                <a:latin typeface="Times New Roman" panose="02020603050405020304" pitchFamily="18" charset="0"/>
                <a:cs typeface="Times New Roman" panose="02020603050405020304" pitchFamily="18" charset="0"/>
              </a:rPr>
              <a:t>A. Asha, N. Verma, and I. Poonguzhali</a:t>
            </a:r>
            <a:r>
              <a:rPr lang="en-IN" altLang="en-US" b="1">
                <a:latin typeface="Times New Roman" panose="02020603050405020304" pitchFamily="18" charset="0"/>
                <a:cs typeface="Times New Roman" panose="02020603050405020304" pitchFamily="18" charset="0"/>
              </a:rPr>
              <a:t>,2023)</a:t>
            </a:r>
            <a:endParaRPr lang="en-US" altLang="en-US">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Techniques Used:</a:t>
            </a:r>
          </a:p>
          <a:p>
            <a:pPr marL="0" indent="0">
              <a:buNone/>
            </a:pPr>
            <a:r>
              <a:rPr lang="en-US" altLang="en-US">
                <a:latin typeface="Times New Roman" panose="02020603050405020304" pitchFamily="18" charset="0"/>
                <a:cs typeface="Times New Roman" panose="02020603050405020304" pitchFamily="18" charset="0"/>
              </a:rPr>
              <a:t>Hybrid African Vultures &amp; Cuckoo Search Optimization</a:t>
            </a:r>
            <a:r>
              <a:rPr lang="en-IN" altLang="en-US">
                <a:latin typeface="Times New Roman" panose="02020603050405020304" pitchFamily="18" charset="0"/>
                <a:cs typeface="Times New Roman" panose="02020603050405020304" pitchFamily="18" charset="0"/>
              </a:rPr>
              <a:t> used for </a:t>
            </a:r>
            <a:r>
              <a:rPr lang="en-US" altLang="en-US"/>
              <a:t>t</a:t>
            </a:r>
            <a:r>
              <a:rPr lang="en-US" altLang="en-US">
                <a:latin typeface="Times New Roman" panose="02020603050405020304" pitchFamily="18" charset="0"/>
                <a:cs typeface="Times New Roman" panose="02020603050405020304" pitchFamily="18" charset="0"/>
              </a:rPr>
              <a:t>o optimize energy-efficient routing in wireless sensor networks.</a:t>
            </a:r>
          </a:p>
          <a:p>
            <a:r>
              <a:rPr lang="en-US" altLang="en-US" b="1">
                <a:latin typeface="Times New Roman" panose="02020603050405020304" pitchFamily="18" charset="0"/>
                <a:cs typeface="Times New Roman" panose="02020603050405020304" pitchFamily="18" charset="0"/>
              </a:rPr>
              <a:t>Improved Parameters:</a:t>
            </a:r>
          </a:p>
          <a:p>
            <a:pPr marL="0" indent="0">
              <a:buNone/>
            </a:pPr>
            <a:r>
              <a:rPr lang="en-US" altLang="en-US">
                <a:latin typeface="Times New Roman" panose="02020603050405020304" pitchFamily="18" charset="0"/>
                <a:cs typeface="Times New Roman" panose="02020603050405020304" pitchFamily="18" charset="0"/>
              </a:rPr>
              <a:t>Energy Efficiency, Network Lifetime, Routing Optimization</a:t>
            </a:r>
          </a:p>
          <a:p>
            <a:r>
              <a:rPr lang="en-US" altLang="en-US" b="1">
                <a:latin typeface="Times New Roman" panose="02020603050405020304" pitchFamily="18" charset="0"/>
                <a:cs typeface="Times New Roman" panose="02020603050405020304" pitchFamily="18" charset="0"/>
              </a:rPr>
              <a:t>Drawbacks Identified:</a:t>
            </a:r>
          </a:p>
          <a:p>
            <a:pPr marL="0" indent="0">
              <a:buNone/>
            </a:pPr>
            <a:r>
              <a:rPr lang="en-US" altLang="en-US">
                <a:latin typeface="Times New Roman" panose="02020603050405020304" pitchFamily="18" charset="0"/>
                <a:cs typeface="Times New Roman" panose="02020603050405020304" pitchFamily="18" charset="0"/>
              </a:rPr>
              <a:t>High Complexity, Tuning Parameters Required</a:t>
            </a:r>
          </a:p>
          <a:p>
            <a:pPr marL="0" indent="0">
              <a:buNone/>
            </a:pPr>
            <a:endParaRPr lang="en-US" altLang="en-US">
              <a:latin typeface="Times New Roman" panose="02020603050405020304" pitchFamily="18" charset="0"/>
              <a:cs typeface="Times New Roman" panose="02020603050405020304" pitchFamily="18" charset="0"/>
            </a:endParaRPr>
          </a:p>
        </p:txBody>
      </p:sp>
      <p:sp>
        <p:nvSpPr>
          <p:cNvPr id="2" name="Text Box 1"/>
          <p:cNvSpPr txBox="1"/>
          <p:nvPr/>
        </p:nvSpPr>
        <p:spPr>
          <a:xfrm>
            <a:off x="2532380" y="0"/>
            <a:ext cx="6096000" cy="583565"/>
          </a:xfrm>
          <a:prstGeom prst="rect">
            <a:avLst/>
          </a:prstGeom>
          <a:noFill/>
        </p:spPr>
        <p:txBody>
          <a:bodyPr wrap="square" rtlCol="0" anchor="t">
            <a:spAutoFit/>
          </a:bodyPr>
          <a:lstStyle/>
          <a:p>
            <a:pPr algn="ctr"/>
            <a:r>
              <a:rPr lang="en-US" sz="3000" b="1" dirty="0">
                <a:latin typeface="Times New Roman" panose="02020603050405020304" pitchFamily="18" charset="0"/>
                <a:cs typeface="Times New Roman" panose="02020603050405020304" pitchFamily="18" charset="0"/>
                <a:sym typeface="+mn-ea"/>
              </a:rPr>
              <a:t>       </a:t>
            </a:r>
            <a:r>
              <a:rPr lang="en-IN" altLang="en-US" sz="3000" b="1" dirty="0">
                <a:latin typeface="Times New Roman" panose="02020603050405020304" pitchFamily="18" charset="0"/>
                <a:cs typeface="Times New Roman" panose="02020603050405020304" pitchFamily="18" charset="0"/>
                <a:sym typeface="+mn-ea"/>
              </a:rPr>
              <a:t>3.</a:t>
            </a:r>
            <a:r>
              <a:rPr lang="en-US" sz="3000" b="1" dirty="0">
                <a:latin typeface="Times New Roman" panose="02020603050405020304" pitchFamily="18" charset="0"/>
                <a:cs typeface="Times New Roman" panose="02020603050405020304" pitchFamily="18" charset="0"/>
                <a:sym typeface="+mn-ea"/>
              </a:rPr>
              <a:t> </a:t>
            </a:r>
            <a:r>
              <a:rPr lang="en-US" sz="3200" b="1" dirty="0">
                <a:latin typeface="Times New Roman" panose="02020603050405020304" pitchFamily="18" charset="0"/>
                <a:cs typeface="Times New Roman" panose="02020603050405020304" pitchFamily="18" charset="0"/>
                <a:sym typeface="+mn-ea"/>
              </a:rPr>
              <a:t>LITERATURE SURVEY</a:t>
            </a:r>
          </a:p>
        </p:txBody>
      </p:sp>
      <p:sp>
        <p:nvSpPr>
          <p:cNvPr id="4" name="Text Box 3"/>
          <p:cNvSpPr txBox="1"/>
          <p:nvPr/>
        </p:nvSpPr>
        <p:spPr>
          <a:xfrm>
            <a:off x="2941320" y="28575"/>
            <a:ext cx="4064000" cy="483235"/>
          </a:xfrm>
          <a:prstGeom prst="rect">
            <a:avLst/>
          </a:prstGeom>
          <a:noFill/>
        </p:spPr>
        <p:txBody>
          <a:bodyPr wrap="square" rtlCol="0">
            <a:noAutofit/>
          </a:bodyPr>
          <a:lstStyle/>
          <a:p>
            <a:pPr indent="0">
              <a:buNone/>
            </a:pP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31775"/>
            <a:ext cx="12193270" cy="6857365"/>
          </a:xfrm>
        </p:spPr>
        <p:txBody>
          <a:bodyPr>
            <a:normAutofit lnSpcReduction="10000"/>
          </a:bodyPr>
          <a:lstStyle/>
          <a:p>
            <a:pPr marL="0" indent="0">
              <a:buNone/>
            </a:pPr>
            <a:r>
              <a:rPr lang="en-US" altLang="en-US" sz="2000" b="1">
                <a:latin typeface="Times New Roman" panose="02020603050405020304" pitchFamily="18" charset="0"/>
                <a:cs typeface="Times New Roman" panose="02020603050405020304" pitchFamily="18" charset="0"/>
                <a:sym typeface="+mn-ea"/>
              </a:rPr>
              <a:t>3.</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Energy-Efficient Cluster-Based Routing Using Moth Levy and Grey Wolf Optimization</a:t>
            </a:r>
            <a:endParaRPr lang="en-US" altLang="en-US" sz="2000">
              <a:latin typeface="Times New Roman" panose="02020603050405020304" pitchFamily="18" charset="0"/>
              <a:cs typeface="Times New Roman" panose="02020603050405020304" pitchFamily="18" charset="0"/>
            </a:endParaRPr>
          </a:p>
          <a:p>
            <a:pPr marL="0" indent="0">
              <a:buNone/>
            </a:pPr>
            <a:r>
              <a:rPr lang="en-IN" altLang="en-US" sz="2000" b="1">
                <a:latin typeface="Times New Roman" panose="02020603050405020304" pitchFamily="18" charset="0"/>
                <a:cs typeface="Times New Roman" panose="02020603050405020304" pitchFamily="18" charset="0"/>
              </a:rPr>
              <a:t>(N.Malisetti,ans V.K.pamula,2022)</a:t>
            </a:r>
          </a:p>
          <a:p>
            <a:r>
              <a:rPr lang="en-US" altLang="en-US" sz="2000" b="1">
                <a:latin typeface="Times New Roman" panose="02020603050405020304" pitchFamily="18" charset="0"/>
                <a:cs typeface="Times New Roman" panose="02020603050405020304" pitchFamily="18" charset="0"/>
                <a:sym typeface="+mn-ea"/>
              </a:rPr>
              <a:t>Technique</a:t>
            </a:r>
            <a:r>
              <a:rPr lang="en-IN" altLang="en-US" sz="2000" b="1">
                <a:latin typeface="Times New Roman" panose="02020603050405020304" pitchFamily="18" charset="0"/>
                <a:cs typeface="Times New Roman" panose="02020603050405020304" pitchFamily="18" charset="0"/>
                <a:sym typeface="+mn-ea"/>
              </a:rPr>
              <a:t> Used:</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 Moth Levy Optimization for exploring optimal cluster formations with Grey Wolf Optimization</a:t>
            </a:r>
          </a:p>
          <a:p>
            <a:r>
              <a:rPr lang="en-IN" altLang="en-US" sz="2000" b="1">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Improved Parameters:</a:t>
            </a:r>
            <a:r>
              <a:rPr lang="en-US" altLang="en-US" sz="2000">
                <a:latin typeface="Times New Roman" panose="02020603050405020304" pitchFamily="18" charset="0"/>
                <a:cs typeface="Times New Roman" panose="02020603050405020304" pitchFamily="18" charset="0"/>
              </a:rPr>
              <a:t> </a:t>
            </a:r>
          </a:p>
          <a:p>
            <a:pPr marL="0" indent="0">
              <a:buNone/>
            </a:pPr>
            <a:r>
              <a:rPr lang="en-US" altLang="en-US" sz="2000">
                <a:latin typeface="Times New Roman" panose="02020603050405020304" pitchFamily="18" charset="0"/>
                <a:cs typeface="Times New Roman" panose="02020603050405020304" pitchFamily="18" charset="0"/>
              </a:rPr>
              <a:t>Energy consumption, network lifetime.</a:t>
            </a:r>
          </a:p>
          <a:p>
            <a:r>
              <a:rPr lang="en-US" altLang="en-US" sz="2000" b="1">
                <a:latin typeface="Times New Roman" panose="02020603050405020304" pitchFamily="18" charset="0"/>
                <a:cs typeface="Times New Roman" panose="02020603050405020304" pitchFamily="18" charset="0"/>
              </a:rPr>
              <a:t>Drawbacks: </a:t>
            </a:r>
          </a:p>
          <a:p>
            <a:pPr marL="0" indent="0">
              <a:buNone/>
            </a:pPr>
            <a:r>
              <a:rPr lang="en-US" altLang="en-US" sz="2000">
                <a:latin typeface="Times New Roman" panose="02020603050405020304" pitchFamily="18" charset="0"/>
                <a:cs typeface="Times New Roman" panose="02020603050405020304" pitchFamily="18" charset="0"/>
              </a:rPr>
              <a:t>Higher computational complexity compared to HOEEACR, particularly in real-time scenarios.</a:t>
            </a:r>
          </a:p>
          <a:p>
            <a:pPr marL="0" indent="0">
              <a:buNone/>
            </a:pP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b="1">
                <a:latin typeface="Times New Roman" panose="02020603050405020304" pitchFamily="18" charset="0"/>
                <a:cs typeface="Times New Roman" panose="02020603050405020304" pitchFamily="18" charset="0"/>
                <a:sym typeface="+mn-ea"/>
              </a:rPr>
              <a:t>4.</a:t>
            </a:r>
            <a:r>
              <a:rPr lang="en-US" altLang="en-US" sz="2000" b="1">
                <a:latin typeface="Times New Roman" panose="02020603050405020304" pitchFamily="18" charset="0"/>
                <a:cs typeface="Times New Roman" panose="02020603050405020304" pitchFamily="18" charset="0"/>
              </a:rPr>
              <a:t>“Energy efficient cluster-based routing protocol for WSN using butterfly optimization algorithm and ant colony optimization</a:t>
            </a:r>
            <a:r>
              <a:rPr lang="en-IN" altLang="en-US" sz="2000" b="1">
                <a:latin typeface="Times New Roman" panose="02020603050405020304" pitchFamily="18" charset="0"/>
                <a:cs typeface="Times New Roman" panose="02020603050405020304" pitchFamily="18" charset="0"/>
              </a:rPr>
              <a:t>”,(</a:t>
            </a:r>
            <a:r>
              <a:rPr lang="en-US" altLang="en-US" sz="2000" b="1">
                <a:latin typeface="Times New Roman" panose="02020603050405020304" pitchFamily="18" charset="0"/>
                <a:cs typeface="Times New Roman" panose="02020603050405020304" pitchFamily="18" charset="0"/>
                <a:sym typeface="+mn-ea"/>
              </a:rPr>
              <a:t>P. Maheshwari, A. K. Sharma, and K. Verma, </a:t>
            </a:r>
            <a:r>
              <a:rPr lang="en-IN" altLang="en-US" sz="2000" b="1">
                <a:latin typeface="Times New Roman" panose="02020603050405020304" pitchFamily="18" charset="0"/>
                <a:cs typeface="Times New Roman" panose="02020603050405020304" pitchFamily="18" charset="0"/>
                <a:sym typeface="+mn-ea"/>
              </a:rPr>
              <a:t>2021</a:t>
            </a:r>
            <a:r>
              <a:rPr lang="en-IN" altLang="en-US" sz="2000" b="1">
                <a:latin typeface="Times New Roman" panose="02020603050405020304" pitchFamily="18" charset="0"/>
                <a:cs typeface="Times New Roman" panose="02020603050405020304" pitchFamily="18" charset="0"/>
              </a:rPr>
              <a:t>)</a:t>
            </a:r>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sym typeface="+mn-ea"/>
              </a:rPr>
              <a:t>Techniques Used:</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sym typeface="+mn-ea"/>
              </a:rPr>
              <a:t>Butterfly Optimization &amp; Ant Colony Optimization (ACO)</a:t>
            </a:r>
            <a:r>
              <a:rPr lang="en-IN" altLang="en-US" sz="2000">
                <a:latin typeface="Times New Roman" panose="02020603050405020304" pitchFamily="18" charset="0"/>
                <a:cs typeface="Times New Roman" panose="02020603050405020304" pitchFamily="18" charset="0"/>
                <a:sym typeface="+mn-ea"/>
              </a:rPr>
              <a:t> used to reduce energy </a:t>
            </a:r>
            <a:r>
              <a:rPr lang="en-US" altLang="en-US" sz="2000">
                <a:latin typeface="Times New Roman" panose="02020603050405020304" pitchFamily="18" charset="0"/>
                <a:cs typeface="Times New Roman" panose="02020603050405020304" pitchFamily="18" charset="0"/>
              </a:rPr>
              <a:t>usage and increase network</a:t>
            </a:r>
          </a:p>
          <a:p>
            <a:pPr marL="0" indent="0">
              <a:buNone/>
            </a:pPr>
            <a:r>
              <a:rPr lang="en-US" altLang="en-US" sz="2000">
                <a:latin typeface="Times New Roman" panose="02020603050405020304" pitchFamily="18" charset="0"/>
                <a:cs typeface="Times New Roman" panose="02020603050405020304" pitchFamily="18" charset="0"/>
              </a:rPr>
              <a:t>longevity</a:t>
            </a:r>
            <a:r>
              <a:rPr lang="en-IN" altLang="en-US" sz="2000">
                <a:latin typeface="Times New Roman" panose="02020603050405020304" pitchFamily="18" charset="0"/>
                <a:cs typeface="Times New Roman" panose="02020603050405020304" pitchFamily="18" charset="0"/>
              </a:rPr>
              <a:t>.</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b="1">
                <a:latin typeface="Times New Roman" panose="02020603050405020304" pitchFamily="18" charset="0"/>
                <a:cs typeface="Times New Roman" panose="02020603050405020304" pitchFamily="18" charset="0"/>
                <a:sym typeface="+mn-ea"/>
              </a:rPr>
              <a:t>Improved Parameters:</a:t>
            </a:r>
            <a:endParaRPr lang="en-US" altLang="en-US" sz="2000" b="1">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sym typeface="+mn-ea"/>
              </a:rPr>
              <a:t>Energy Efficiency, Routing Efficiency</a:t>
            </a:r>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sym typeface="+mn-ea"/>
              </a:rPr>
              <a:t>Drawbacks Identified:</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sym typeface="+mn-ea"/>
              </a:rPr>
              <a:t>High Computational Cost, Parameter Sensitivity</a:t>
            </a:r>
            <a:endParaRPr lang="en-US" altLang="en-US" sz="2000">
              <a:latin typeface="Times New Roman" panose="02020603050405020304" pitchFamily="18" charset="0"/>
              <a:cs typeface="Times New Roman" panose="02020603050405020304" pitchFamily="18" charset="0"/>
            </a:endParaRPr>
          </a:p>
          <a:p>
            <a:pPr marL="0" indent="0">
              <a:buNone/>
            </a:pPr>
            <a:endParaRPr 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35"/>
            <a:ext cx="12192635" cy="6857365"/>
          </a:xfrm>
        </p:spPr>
        <p:txBody>
          <a:bodyPr>
            <a:noAutofit/>
          </a:bodyPr>
          <a:lstStyle/>
          <a:p>
            <a:pPr marL="0" indent="0">
              <a:buNone/>
            </a:pPr>
            <a:r>
              <a:rPr lang="en-US" altLang="en-US" sz="2000" b="1">
                <a:latin typeface="Times New Roman" panose="02020603050405020304" pitchFamily="18" charset="0"/>
                <a:cs typeface="Times New Roman" panose="02020603050405020304" pitchFamily="18" charset="0"/>
                <a:sym typeface="+mn-ea"/>
              </a:rPr>
              <a:t>5.</a:t>
            </a:r>
            <a:r>
              <a:rPr lang="en-US" altLang="en-US" sz="2000" b="1">
                <a:latin typeface="Times New Roman" panose="02020603050405020304" pitchFamily="18" charset="0"/>
                <a:cs typeface="Times New Roman" panose="02020603050405020304" pitchFamily="18" charset="0"/>
              </a:rPr>
              <a:t>Energy-efficient cluster-based routing protocol for wsn</a:t>
            </a:r>
            <a:r>
              <a:rPr lang="en-IN" altLang="en-US" sz="2000" b="1">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based on hybrid bso–tlbo optimization model,</a:t>
            </a:r>
            <a:r>
              <a:rPr lang="en-IN" altLang="en-US" sz="2000" b="1">
                <a:latin typeface="Times New Roman" panose="02020603050405020304" pitchFamily="18" charset="0"/>
                <a:cs typeface="Times New Roman" panose="02020603050405020304" pitchFamily="18" charset="0"/>
              </a:rPr>
              <a:t>(</a:t>
            </a:r>
            <a:r>
              <a:rPr lang="en-US" altLang="en-US" sz="2000" b="1">
                <a:latin typeface="Times New Roman" panose="02020603050405020304" pitchFamily="18" charset="0"/>
                <a:cs typeface="Times New Roman" panose="02020603050405020304" pitchFamily="18" charset="0"/>
              </a:rPr>
              <a:t>K. Krishnan, B. Yamini, W. M. Alenazy, and M. Nalini,</a:t>
            </a:r>
            <a:r>
              <a:rPr lang="en-IN" altLang="en-US" sz="2000" b="1">
                <a:latin typeface="Times New Roman" panose="02020603050405020304" pitchFamily="18" charset="0"/>
                <a:cs typeface="Times New Roman" panose="02020603050405020304" pitchFamily="18" charset="0"/>
              </a:rPr>
              <a:t>2021)</a:t>
            </a:r>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sym typeface="+mn-ea"/>
              </a:rPr>
              <a:t>Techniques Used:</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sym typeface="+mn-ea"/>
              </a:rPr>
              <a:t>BSO (</a:t>
            </a:r>
            <a:r>
              <a:rPr lang="en-IN" altLang="en-US" sz="2000">
                <a:latin typeface="Times New Roman" panose="02020603050405020304" pitchFamily="18" charset="0"/>
                <a:cs typeface="Times New Roman" panose="02020603050405020304" pitchFamily="18" charset="0"/>
                <a:sym typeface="+mn-ea"/>
              </a:rPr>
              <a:t>Brain Storm</a:t>
            </a:r>
            <a:r>
              <a:rPr lang="en-US" altLang="en-US" sz="2000">
                <a:latin typeface="Times New Roman" panose="02020603050405020304" pitchFamily="18" charset="0"/>
                <a:cs typeface="Times New Roman" panose="02020603050405020304" pitchFamily="18" charset="0"/>
                <a:sym typeface="+mn-ea"/>
              </a:rPr>
              <a:t> Optimization) &amp; TLBO (Teaching-Learning Based Optimization)</a:t>
            </a:r>
            <a:r>
              <a:rPr lang="en-IN" altLang="en-US" sz="2000">
                <a:latin typeface="Times New Roman" panose="02020603050405020304" pitchFamily="18" charset="0"/>
                <a:cs typeface="Times New Roman" panose="02020603050405020304" pitchFamily="18" charset="0"/>
                <a:sym typeface="+mn-ea"/>
              </a:rPr>
              <a:t> </a:t>
            </a:r>
            <a:r>
              <a:rPr lang="en-US" altLang="en-US" sz="2000">
                <a:latin typeface="Times New Roman" panose="02020603050405020304" pitchFamily="18" charset="0"/>
                <a:cs typeface="Times New Roman" panose="02020603050405020304" pitchFamily="18" charset="0"/>
              </a:rPr>
              <a:t> to lengthen the network’s lifespan</a:t>
            </a:r>
            <a:r>
              <a:rPr lang="en-IN" altLang="en-US" sz="2000">
                <a:latin typeface="Times New Roman" panose="02020603050405020304" pitchFamily="18" charset="0"/>
                <a:cs typeface="Times New Roman" panose="02020603050405020304" pitchFamily="18" charset="0"/>
              </a:rPr>
              <a:t>.</a:t>
            </a:r>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sym typeface="+mn-ea"/>
              </a:rPr>
              <a:t>Improved Parameters:</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sym typeface="+mn-ea"/>
              </a:rPr>
              <a:t>Energy Efficiency, Network Lifetime</a:t>
            </a:r>
            <a:r>
              <a:rPr lang="en-IN" altLang="en-US" sz="2000">
                <a:latin typeface="Times New Roman" panose="02020603050405020304" pitchFamily="18" charset="0"/>
                <a:cs typeface="Times New Roman" panose="02020603050405020304" pitchFamily="18" charset="0"/>
                <a:sym typeface="+mn-ea"/>
              </a:rPr>
              <a:t>,Throughput.</a:t>
            </a:r>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sym typeface="+mn-ea"/>
              </a:rPr>
              <a:t>Drawbacks</a:t>
            </a:r>
            <a:r>
              <a:rPr lang="en-US" altLang="en-US" sz="2000">
                <a:latin typeface="Times New Roman" panose="02020603050405020304" pitchFamily="18" charset="0"/>
                <a:cs typeface="Times New Roman" panose="02020603050405020304" pitchFamily="18" charset="0"/>
                <a:sym typeface="+mn-ea"/>
              </a:rPr>
              <a:t> </a:t>
            </a:r>
            <a:r>
              <a:rPr lang="en-US" altLang="en-US" sz="2000" b="1">
                <a:latin typeface="Times New Roman" panose="02020603050405020304" pitchFamily="18" charset="0"/>
                <a:cs typeface="Times New Roman" panose="02020603050405020304" pitchFamily="18" charset="0"/>
                <a:sym typeface="+mn-ea"/>
              </a:rPr>
              <a:t>Identified</a:t>
            </a:r>
            <a:r>
              <a:rPr lang="en-US" altLang="en-US" sz="2000">
                <a:latin typeface="Times New Roman" panose="02020603050405020304" pitchFamily="18" charset="0"/>
                <a:cs typeface="Times New Roman" panose="02020603050405020304" pitchFamily="18" charset="0"/>
                <a:sym typeface="+mn-ea"/>
              </a:rPr>
              <a:t>:</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sym typeface="+mn-ea"/>
              </a:rPr>
              <a:t>Complex Implementation, Parameter Sensitivity</a:t>
            </a:r>
            <a:r>
              <a:rPr lang="en-IN" altLang="en-US" sz="2000">
                <a:latin typeface="Times New Roman" panose="02020603050405020304" pitchFamily="18" charset="0"/>
                <a:cs typeface="Times New Roman" panose="02020603050405020304" pitchFamily="18" charset="0"/>
                <a:sym typeface="+mn-ea"/>
              </a:rPr>
              <a:t>.</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b="1">
                <a:latin typeface="Times New Roman" panose="02020603050405020304" pitchFamily="18" charset="0"/>
                <a:cs typeface="Times New Roman" panose="02020603050405020304" pitchFamily="18" charset="0"/>
                <a:sym typeface="+mn-ea"/>
              </a:rPr>
              <a:t>6.</a:t>
            </a:r>
            <a:r>
              <a:rPr lang="en-US" altLang="en-US" sz="2000" b="1">
                <a:latin typeface="Times New Roman" panose="02020603050405020304" pitchFamily="18" charset="0"/>
                <a:cs typeface="Times New Roman" panose="02020603050405020304" pitchFamily="18" charset="0"/>
              </a:rPr>
              <a:t>Energy efficient cluster-based routing protocol for WSNusing firefly algorithm and ant colony</a:t>
            </a:r>
          </a:p>
          <a:p>
            <a:pPr marL="0" indent="0">
              <a:buNone/>
            </a:pPr>
            <a:r>
              <a:rPr lang="en-US" altLang="en-US" sz="2000" b="1">
                <a:latin typeface="Times New Roman" panose="02020603050405020304" pitchFamily="18" charset="0"/>
                <a:cs typeface="Times New Roman" panose="02020603050405020304" pitchFamily="18" charset="0"/>
              </a:rPr>
              <a:t>optimization,</a:t>
            </a:r>
            <a:r>
              <a:rPr lang="en-IN" altLang="en-US" sz="2000" b="1">
                <a:latin typeface="Times New Roman" panose="02020603050405020304" pitchFamily="18" charset="0"/>
                <a:cs typeface="Times New Roman" panose="02020603050405020304" pitchFamily="18" charset="0"/>
              </a:rPr>
              <a:t>(</a:t>
            </a:r>
            <a:r>
              <a:rPr lang="en-US" altLang="en-US" sz="2000" b="1">
                <a:latin typeface="Times New Roman" panose="02020603050405020304" pitchFamily="18" charset="0"/>
                <a:cs typeface="Times New Roman" panose="02020603050405020304" pitchFamily="18" charset="0"/>
                <a:sym typeface="+mn-ea"/>
              </a:rPr>
              <a:t> Z. Wang, H. Ding, B. Li, L. Bao, Z. Yang, and Q. Liu,</a:t>
            </a:r>
            <a:r>
              <a:rPr lang="en-IN" altLang="en-US" sz="2000" b="1">
                <a:latin typeface="Times New Roman" panose="02020603050405020304" pitchFamily="18" charset="0"/>
                <a:cs typeface="Times New Roman" panose="02020603050405020304" pitchFamily="18" charset="0"/>
                <a:sym typeface="+mn-ea"/>
              </a:rPr>
              <a:t>2021</a:t>
            </a:r>
            <a:r>
              <a:rPr lang="en-IN" altLang="en-US" sz="2000" b="1">
                <a:latin typeface="Times New Roman" panose="02020603050405020304" pitchFamily="18" charset="0"/>
                <a:cs typeface="Times New Roman" panose="02020603050405020304" pitchFamily="18" charset="0"/>
              </a:rPr>
              <a:t>)</a:t>
            </a:r>
            <a:endParaRPr lang="en-US" altLang="en-US" sz="2000" b="1">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sym typeface="+mn-ea"/>
              </a:rPr>
              <a:t>Techniques Used:</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sym typeface="+mn-ea"/>
              </a:rPr>
              <a:t>Firefly Algorithm &amp; Ant Colony Optimization (ACO)</a:t>
            </a:r>
            <a:r>
              <a:rPr lang="en-IN" altLang="en-US" sz="2000">
                <a:latin typeface="Times New Roman" panose="02020603050405020304" pitchFamily="18" charset="0"/>
                <a:cs typeface="Times New Roman" panose="02020603050405020304" pitchFamily="18" charset="0"/>
                <a:sym typeface="+mn-ea"/>
              </a:rPr>
              <a:t> </a:t>
            </a:r>
            <a:r>
              <a:rPr lang="en-US" altLang="en-US" sz="2000">
                <a:latin typeface="Times New Roman" panose="02020603050405020304" pitchFamily="18" charset="0"/>
                <a:cs typeface="Times New Roman" panose="02020603050405020304" pitchFamily="18" charset="0"/>
              </a:rPr>
              <a:t>was capable of balancing network energy consumption</a:t>
            </a:r>
            <a:r>
              <a:rPr lang="en-IN" altLang="en-US" sz="2000">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rPr>
              <a:t>extending network lifetime</a:t>
            </a:r>
            <a:endParaRPr lang="en-US" altLang="en-US" sz="2000"/>
          </a:p>
          <a:p>
            <a:r>
              <a:rPr lang="en-US" altLang="en-US" sz="2000" b="1">
                <a:latin typeface="Times New Roman" panose="02020603050405020304" pitchFamily="18" charset="0"/>
                <a:cs typeface="Times New Roman" panose="02020603050405020304" pitchFamily="18" charset="0"/>
                <a:sym typeface="+mn-ea"/>
              </a:rPr>
              <a:t>Improved Parameters:</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sym typeface="+mn-ea"/>
              </a:rPr>
              <a:t>Energy Efficiency, Routing Optimization</a:t>
            </a:r>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sym typeface="+mn-ea"/>
              </a:rPr>
              <a:t>Drawbacks Identified:</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sym typeface="+mn-ea"/>
              </a:rPr>
              <a:t>High Complexity, Longer Convergence Time</a:t>
            </a:r>
            <a:endParaRPr lang="en-US" altLang="en-US" sz="2000">
              <a:latin typeface="Times New Roman" panose="02020603050405020304" pitchFamily="18" charset="0"/>
              <a:cs typeface="Times New Roman" panose="02020603050405020304" pitchFamily="18" charset="0"/>
            </a:endParaRPr>
          </a:p>
          <a:p>
            <a:pPr marL="0" indent="0">
              <a:buNone/>
            </a:pPr>
            <a:endParaRPr lang="en-US" altLang="en-US" sz="110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 y="0"/>
            <a:ext cx="12192635" cy="6859270"/>
          </a:xfrm>
        </p:spPr>
        <p:txBody>
          <a:bodyPr>
            <a:normAutofit/>
          </a:bodyPr>
          <a:lstStyle/>
          <a:p>
            <a:pPr marL="0" indent="0">
              <a:buNone/>
            </a:pPr>
            <a:r>
              <a:rPr lang="en-US" altLang="en-US" sz="2000" b="1">
                <a:latin typeface="Times New Roman" panose="02020603050405020304" pitchFamily="18" charset="0"/>
                <a:cs typeface="Times New Roman" panose="02020603050405020304" pitchFamily="18" charset="0"/>
                <a:sym typeface="+mn-ea"/>
              </a:rPr>
              <a:t>7. </a:t>
            </a:r>
            <a:r>
              <a:rPr lang="en-US" altLang="en-US" sz="2000" b="1">
                <a:latin typeface="Times New Roman" panose="02020603050405020304" pitchFamily="18" charset="0"/>
                <a:cs typeface="Times New Roman" panose="02020603050405020304" pitchFamily="18" charset="0"/>
              </a:rPr>
              <a:t> “Improved metaheuristic</a:t>
            </a:r>
            <a:r>
              <a:rPr lang="en-IN" altLang="en-US" sz="2000" b="1">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driven energy-aware cluster-based routing scheme for IoT</a:t>
            </a:r>
            <a:r>
              <a:rPr lang="en-IN" altLang="en-US" sz="2000" b="1">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assisted wireless sensor networks,”</a:t>
            </a:r>
            <a:r>
              <a:rPr lang="en-IN" altLang="en-US" sz="2000" b="1">
                <a:latin typeface="Times New Roman" panose="02020603050405020304" pitchFamily="18" charset="0"/>
                <a:cs typeface="Times New Roman" panose="02020603050405020304" pitchFamily="18" charset="0"/>
              </a:rPr>
              <a:t>(</a:t>
            </a:r>
            <a:r>
              <a:rPr lang="en-US" altLang="en-US" sz="2000" b="1">
                <a:latin typeface="Times New Roman" panose="02020603050405020304" pitchFamily="18" charset="0"/>
                <a:cs typeface="Times New Roman" panose="02020603050405020304" pitchFamily="18" charset="0"/>
              </a:rPr>
              <a:t>K. Lakshmanna, N. Subramani, Y. Alotaibi, S. Alghamdi, O.I. Khalafand, and A. K. Nanda,</a:t>
            </a:r>
            <a:r>
              <a:rPr lang="en-IN" altLang="en-US" sz="2000" b="1">
                <a:latin typeface="Times New Roman" panose="02020603050405020304" pitchFamily="18" charset="0"/>
                <a:cs typeface="Times New Roman" panose="02020603050405020304" pitchFamily="18" charset="0"/>
              </a:rPr>
              <a:t>2022)</a:t>
            </a:r>
            <a:endParaRPr lang="en-US" altLang="en-US" sz="2000" b="1">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sym typeface="+mn-ea"/>
              </a:rPr>
              <a:t>Techniques Used:</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sym typeface="+mn-ea"/>
              </a:rPr>
              <a:t>Metaheuristics for Energy-Aware Cluster Routing</a:t>
            </a:r>
            <a:r>
              <a:rPr lang="en-IN" altLang="en-US" sz="2000">
                <a:latin typeface="Times New Roman" panose="02020603050405020304" pitchFamily="18" charset="0"/>
                <a:cs typeface="Times New Roman" panose="02020603050405020304" pitchFamily="18" charset="0"/>
                <a:sym typeface="+mn-ea"/>
              </a:rPr>
              <a:t> approach </a:t>
            </a:r>
            <a:r>
              <a:rPr lang="en-US" altLang="en-US" sz="2000">
                <a:latin typeface="Times New Roman" panose="02020603050405020304" pitchFamily="18" charset="0"/>
                <a:cs typeface="Times New Roman" panose="02020603050405020304" pitchFamily="18" charset="0"/>
              </a:rPr>
              <a:t>that combines energy-aware clustering and optimized routing to enhance the efficiency and performance </a:t>
            </a:r>
            <a:r>
              <a:rPr lang="en-IN" altLang="en-US" sz="2000">
                <a:latin typeface="Times New Roman" panose="02020603050405020304" pitchFamily="18" charset="0"/>
                <a:cs typeface="Times New Roman" panose="02020603050405020304" pitchFamily="18" charset="0"/>
              </a:rPr>
              <a:t>.</a:t>
            </a:r>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sym typeface="+mn-ea"/>
              </a:rPr>
              <a:t>Improved Parameters:</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sym typeface="+mn-ea"/>
              </a:rPr>
              <a:t>Energy Efficiency, Routing Performance</a:t>
            </a:r>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sym typeface="+mn-ea"/>
              </a:rPr>
              <a:t>Drawbacks Identified:</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sym typeface="+mn-ea"/>
              </a:rPr>
              <a:t>Complex Algorithms, Scalability Issues</a:t>
            </a:r>
            <a:endParaRPr lang="en-US" altLang="en-US" sz="2000">
              <a:latin typeface="Times New Roman" panose="02020603050405020304" pitchFamily="18" charset="0"/>
              <a:cs typeface="Times New Roman" panose="02020603050405020304" pitchFamily="18" charset="0"/>
            </a:endParaRPr>
          </a:p>
          <a:p>
            <a:pPr marL="0" indent="0">
              <a:buNone/>
            </a:pPr>
            <a:endParaRPr lang="en-US" altLang="en-US" sz="2000">
              <a:latin typeface="Times New Roman" panose="02020603050405020304" pitchFamily="18" charset="0"/>
              <a:cs typeface="Times New Roman" panose="02020603050405020304" pitchFamily="18" charset="0"/>
              <a:sym typeface="+mn-ea"/>
            </a:endParaRPr>
          </a:p>
          <a:p>
            <a:pPr marL="0" indent="0">
              <a:buNone/>
            </a:pPr>
            <a:r>
              <a:rPr lang="en-US" altLang="en-US" sz="2000" b="1">
                <a:latin typeface="Times New Roman" panose="02020603050405020304" pitchFamily="18" charset="0"/>
                <a:cs typeface="Times New Roman" panose="02020603050405020304" pitchFamily="18" charset="0"/>
                <a:sym typeface="+mn-ea"/>
              </a:rPr>
              <a:t>8.</a:t>
            </a:r>
            <a:r>
              <a:rPr lang="en-US" altLang="en-US" sz="2000">
                <a:latin typeface="Times New Roman" panose="02020603050405020304" pitchFamily="18" charset="0"/>
                <a:cs typeface="Times New Roman" panose="02020603050405020304" pitchFamily="18" charset="0"/>
                <a:sym typeface="+mn-ea"/>
              </a:rPr>
              <a:t> </a:t>
            </a:r>
            <a:r>
              <a:rPr lang="en-US" altLang="en-US" sz="2000" b="1">
                <a:latin typeface="Times New Roman" panose="02020603050405020304" pitchFamily="18" charset="0"/>
                <a:cs typeface="Times New Roman" panose="02020603050405020304" pitchFamily="18" charset="0"/>
              </a:rPr>
              <a:t> “Multi-objective</a:t>
            </a:r>
            <a:r>
              <a:rPr lang="en-IN" altLang="en-US" sz="2000" b="1">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derived energy efficient routing in wireless sensor networks using hybrid African vultures-cuckoo search optimization</a:t>
            </a:r>
            <a:r>
              <a:rPr lang="en-IN" altLang="en-US" sz="2000" b="1">
                <a:latin typeface="Times New Roman" panose="02020603050405020304" pitchFamily="18" charset="0"/>
                <a:cs typeface="Times New Roman" panose="02020603050405020304" pitchFamily="18" charset="0"/>
              </a:rPr>
              <a:t>”</a:t>
            </a:r>
            <a:r>
              <a:rPr lang="en-US" altLang="en-US" sz="2000" b="1">
                <a:latin typeface="Times New Roman" panose="02020603050405020304" pitchFamily="18" charset="0"/>
                <a:cs typeface="Times New Roman" panose="02020603050405020304" pitchFamily="18" charset="0"/>
              </a:rPr>
              <a:t>,</a:t>
            </a:r>
            <a:r>
              <a:rPr lang="en-IN" altLang="en-US" sz="2000" b="1">
                <a:latin typeface="Times New Roman" panose="02020603050405020304" pitchFamily="18" charset="0"/>
                <a:cs typeface="Times New Roman" panose="02020603050405020304" pitchFamily="18" charset="0"/>
              </a:rPr>
              <a:t>(</a:t>
            </a:r>
            <a:r>
              <a:rPr lang="en-US" altLang="en-US" sz="2000" b="1">
                <a:latin typeface="Times New Roman" panose="02020603050405020304" pitchFamily="18" charset="0"/>
                <a:cs typeface="Times New Roman" panose="02020603050405020304" pitchFamily="18" charset="0"/>
                <a:sym typeface="+mn-ea"/>
              </a:rPr>
              <a:t>A. Asha, N. Verma, and I. Poonguzhali,</a:t>
            </a:r>
            <a:r>
              <a:rPr lang="en-IN" altLang="en-US" sz="2000" b="1">
                <a:latin typeface="Times New Roman" panose="02020603050405020304" pitchFamily="18" charset="0"/>
                <a:cs typeface="Times New Roman" panose="02020603050405020304" pitchFamily="18" charset="0"/>
                <a:sym typeface="+mn-ea"/>
              </a:rPr>
              <a:t>2023)</a:t>
            </a:r>
            <a:endParaRPr lang="en-US" altLang="en-US" sz="2000" b="1">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sym typeface="+mn-ea"/>
              </a:rPr>
              <a:t>Techniques Used:</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sym typeface="+mn-ea"/>
              </a:rPr>
              <a:t>Hybrid African Vultures-Cuckoo Search Optimization</a:t>
            </a:r>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sym typeface="+mn-ea"/>
              </a:rPr>
              <a:t>Improved Parameters:</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sym typeface="+mn-ea"/>
              </a:rPr>
              <a:t>Energy Efficiency, Network Lifetime</a:t>
            </a:r>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sym typeface="+mn-ea"/>
              </a:rPr>
              <a:t>Drawbacks Identified:</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sym typeface="+mn-ea"/>
              </a:rPr>
              <a:t>High Computational Cost, Difficulty in Parameter Selection</a:t>
            </a:r>
            <a:endParaRPr lang="en-US" altLang="en-US" sz="2000">
              <a:latin typeface="Times New Roman" panose="02020603050405020304" pitchFamily="18" charset="0"/>
              <a:cs typeface="Times New Roman" panose="02020603050405020304" pitchFamily="18" charset="0"/>
            </a:endParaRPr>
          </a:p>
          <a:p>
            <a:pPr marL="0" indent="0">
              <a:buNone/>
            </a:pPr>
            <a:endParaRPr 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 y="90805"/>
            <a:ext cx="12192635" cy="6859270"/>
          </a:xfrm>
        </p:spPr>
        <p:txBody>
          <a:bodyPr>
            <a:normAutofit fontScale="92500" lnSpcReduction="20000"/>
          </a:bodyPr>
          <a:lstStyle/>
          <a:p>
            <a:pPr marL="0" indent="0">
              <a:buNone/>
            </a:pPr>
            <a:r>
              <a:rPr lang="en-US" altLang="en-US" sz="2000" b="1">
                <a:latin typeface="Times New Roman" panose="02020603050405020304" pitchFamily="18" charset="0"/>
                <a:cs typeface="Times New Roman" panose="02020603050405020304" pitchFamily="18" charset="0"/>
                <a:sym typeface="+mn-ea"/>
              </a:rPr>
              <a:t>9.</a:t>
            </a:r>
            <a:r>
              <a:rPr lang="en-IN" altLang="en-US" sz="2000" b="1">
                <a:latin typeface="Times New Roman" panose="02020603050405020304" pitchFamily="18" charset="0"/>
                <a:cs typeface="Times New Roman" panose="02020603050405020304" pitchFamily="18" charset="0"/>
                <a:sym typeface="+mn-ea"/>
              </a:rPr>
              <a:t> </a:t>
            </a:r>
            <a:r>
              <a:rPr lang="en-US" altLang="en-US" sz="2000" b="1" dirty="0">
                <a:latin typeface="Times New Roman" panose="02020603050405020304" pitchFamily="18" charset="0"/>
                <a:cs typeface="Times New Roman" panose="02020603050405020304" pitchFamily="18" charset="0"/>
                <a:sym typeface="+mn-ea"/>
              </a:rPr>
              <a:t>F2SO: An energy efficient cluster-based routing protocol using fuzzy firebug swarm optimization algorithm</a:t>
            </a:r>
          </a:p>
          <a:p>
            <a:pPr marL="0" indent="0">
              <a:buNone/>
            </a:pPr>
            <a:r>
              <a:rPr lang="en-US" altLang="en-US" sz="2000" b="1" dirty="0">
                <a:latin typeface="Times New Roman" panose="02020603050405020304" pitchFamily="18" charset="0"/>
                <a:cs typeface="Times New Roman" panose="02020603050405020304" pitchFamily="18" charset="0"/>
                <a:sym typeface="+mn-ea"/>
              </a:rPr>
              <a:t> in WSN</a:t>
            </a:r>
            <a:r>
              <a:rPr lang="en-IN" altLang="en-US" sz="2000" b="1" dirty="0">
                <a:latin typeface="Times New Roman" panose="02020603050405020304" pitchFamily="18" charset="0"/>
                <a:cs typeface="Times New Roman" panose="02020603050405020304" pitchFamily="18" charset="0"/>
                <a:sym typeface="+mn-ea"/>
              </a:rPr>
              <a:t>”,</a:t>
            </a:r>
            <a:r>
              <a:rPr lang="en-IN" altLang="en-US" sz="2000" b="1">
                <a:latin typeface="Times New Roman" panose="02020603050405020304" pitchFamily="18" charset="0"/>
                <a:cs typeface="Times New Roman" panose="02020603050405020304" pitchFamily="18" charset="0"/>
              </a:rPr>
              <a:t>(</a:t>
            </a:r>
            <a:r>
              <a:rPr lang="en-US" altLang="en-US" sz="2000" b="1">
                <a:latin typeface="Times New Roman" panose="02020603050405020304" pitchFamily="18" charset="0"/>
                <a:cs typeface="Times New Roman" panose="02020603050405020304" pitchFamily="18" charset="0"/>
              </a:rPr>
              <a:t>K. Suresh, S. S. Sreeja Mole, and A. J. S. Kumar,</a:t>
            </a:r>
            <a:r>
              <a:rPr lang="en-IN" altLang="en-US" sz="2000" b="1">
                <a:latin typeface="Times New Roman" panose="02020603050405020304" pitchFamily="18" charset="0"/>
                <a:cs typeface="Times New Roman" panose="02020603050405020304" pitchFamily="18" charset="0"/>
              </a:rPr>
              <a:t>2023)</a:t>
            </a:r>
            <a:endParaRPr lang="en-US" altLang="en-US"/>
          </a:p>
          <a:p>
            <a:r>
              <a:rPr lang="en-US" altLang="en-US" sz="2000" b="1">
                <a:latin typeface="Times New Roman" panose="02020603050405020304" pitchFamily="18" charset="0"/>
                <a:cs typeface="Times New Roman" panose="02020603050405020304" pitchFamily="18" charset="0"/>
                <a:sym typeface="+mn-ea"/>
              </a:rPr>
              <a:t>Techniques Used:</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 Fuzzy Logic: Determines Cluster Head (CH) selection based on residual energy, distance, and node degree.</a:t>
            </a:r>
          </a:p>
          <a:p>
            <a:pPr marL="0" indent="0">
              <a:buNone/>
            </a:pPr>
            <a:r>
              <a:rPr lang="en-IN" altLang="en-US" sz="2000">
                <a:latin typeface="Times New Roman" panose="02020603050405020304" pitchFamily="18" charset="0"/>
                <a:cs typeface="Times New Roman" panose="02020603050405020304" pitchFamily="18" charset="0"/>
              </a:rPr>
              <a:t> Fi</a:t>
            </a:r>
            <a:r>
              <a:rPr lang="en-US" altLang="en-US" sz="2000">
                <a:latin typeface="Times New Roman" panose="02020603050405020304" pitchFamily="18" charset="0"/>
                <a:cs typeface="Times New Roman" panose="02020603050405020304" pitchFamily="18" charset="0"/>
              </a:rPr>
              <a:t>rebug Swarm Optimization: Optimizes clustering and routing</a:t>
            </a:r>
          </a:p>
          <a:p>
            <a:pPr marL="0" indent="0">
              <a:buNone/>
            </a:pPr>
            <a:r>
              <a:rPr lang="en-US" altLang="en-US" sz="2000" b="1">
                <a:latin typeface="Times New Roman" panose="02020603050405020304" pitchFamily="18" charset="0"/>
                <a:cs typeface="Times New Roman" panose="02020603050405020304" pitchFamily="18" charset="0"/>
                <a:sym typeface="+mn-ea"/>
              </a:rPr>
              <a:t>Improved Parameters:</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sym typeface="+mn-ea"/>
              </a:rPr>
              <a:t>Energy Efficiency, Cluster Head Selection Optimization</a:t>
            </a:r>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sym typeface="+mn-ea"/>
              </a:rPr>
              <a:t>Drawbacks Identified:</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Limited performance in large-scale WSNs due to higher processing overhead.</a:t>
            </a:r>
          </a:p>
          <a:p>
            <a:pPr marL="0" indent="0">
              <a:buNone/>
            </a:pPr>
            <a:endParaRPr lang="en-US" altLang="en-US"/>
          </a:p>
          <a:p>
            <a:pPr marL="0" indent="0">
              <a:buNone/>
            </a:pPr>
            <a:r>
              <a:rPr lang="en-US" altLang="en-US" sz="2000" b="1">
                <a:latin typeface="Times New Roman" panose="02020603050405020304" pitchFamily="18" charset="0"/>
                <a:cs typeface="Times New Roman" panose="02020603050405020304" pitchFamily="18" charset="0"/>
                <a:sym typeface="+mn-ea"/>
              </a:rPr>
              <a:t>10.</a:t>
            </a:r>
            <a:r>
              <a:rPr lang="en-IN" altLang="en-US" sz="2000" b="1">
                <a:latin typeface="Times New Roman" panose="02020603050405020304" pitchFamily="18" charset="0"/>
                <a:cs typeface="Times New Roman" panose="02020603050405020304" pitchFamily="18" charset="0"/>
                <a:sym typeface="+mn-ea"/>
              </a:rPr>
              <a:t> </a:t>
            </a:r>
            <a:r>
              <a:rPr lang="en-US" altLang="en-US" sz="2000" b="1">
                <a:latin typeface="Times New Roman" panose="02020603050405020304" pitchFamily="18" charset="0"/>
                <a:cs typeface="Times New Roman" panose="02020603050405020304" pitchFamily="18" charset="0"/>
              </a:rPr>
              <a:t> “Slime mould</a:t>
            </a:r>
            <a:r>
              <a:rPr lang="en-IN" altLang="en-US" sz="2000" b="1">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algorithm based fuzzy linear CFO estimation in wireless</a:t>
            </a:r>
            <a:r>
              <a:rPr lang="en-IN" altLang="en-US" sz="2000" b="1">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sensor networks</a:t>
            </a:r>
            <a:r>
              <a:rPr lang="en-IN" altLang="en-US" sz="2000" b="1">
                <a:latin typeface="Times New Roman" panose="02020603050405020304" pitchFamily="18" charset="0"/>
                <a:cs typeface="Times New Roman" panose="02020603050405020304" pitchFamily="18" charset="0"/>
              </a:rPr>
              <a:t>”,</a:t>
            </a:r>
            <a:r>
              <a:rPr lang="en-US" altLang="en-US" sz="2000" b="1">
                <a:latin typeface="Times New Roman" panose="02020603050405020304" pitchFamily="18" charset="0"/>
                <a:cs typeface="Times New Roman" panose="02020603050405020304" pitchFamily="18" charset="0"/>
              </a:rPr>
              <a:t> </a:t>
            </a:r>
            <a:r>
              <a:rPr lang="en-IN" altLang="en-US" sz="2000" b="1">
                <a:latin typeface="Times New Roman" panose="02020603050405020304" pitchFamily="18" charset="0"/>
                <a:cs typeface="Times New Roman" panose="02020603050405020304" pitchFamily="18" charset="0"/>
              </a:rPr>
              <a:t>(</a:t>
            </a:r>
            <a:r>
              <a:rPr lang="en-US" altLang="en-US" sz="2000" b="1">
                <a:latin typeface="Times New Roman" panose="02020603050405020304" pitchFamily="18" charset="0"/>
                <a:cs typeface="Times New Roman" panose="02020603050405020304" pitchFamily="18" charset="0"/>
                <a:sym typeface="+mn-ea"/>
              </a:rPr>
              <a:t>M. Prabhu, </a:t>
            </a:r>
          </a:p>
          <a:p>
            <a:pPr marL="0" indent="0">
              <a:buNone/>
            </a:pPr>
            <a:r>
              <a:rPr lang="en-US" altLang="en-US" sz="2000" b="1">
                <a:latin typeface="Times New Roman" panose="02020603050405020304" pitchFamily="18" charset="0"/>
                <a:cs typeface="Times New Roman" panose="02020603050405020304" pitchFamily="18" charset="0"/>
                <a:sym typeface="+mn-ea"/>
              </a:rPr>
              <a:t>B. Muthu Kumar, and A. Ahilan,</a:t>
            </a:r>
            <a:r>
              <a:rPr lang="en-IN" altLang="en-US" sz="2000" b="1">
                <a:latin typeface="Times New Roman" panose="02020603050405020304" pitchFamily="18" charset="0"/>
                <a:cs typeface="Times New Roman" panose="02020603050405020304" pitchFamily="18" charset="0"/>
                <a:sym typeface="+mn-ea"/>
              </a:rPr>
              <a:t>2023</a:t>
            </a:r>
            <a:r>
              <a:rPr lang="en-IN" altLang="en-US" sz="2000" b="1">
                <a:latin typeface="Times New Roman" panose="02020603050405020304" pitchFamily="18" charset="0"/>
                <a:cs typeface="Times New Roman" panose="02020603050405020304" pitchFamily="18" charset="0"/>
              </a:rPr>
              <a:t>)</a:t>
            </a:r>
            <a:endParaRPr lang="en-US" altLang="en-US" sz="2000" b="1">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sym typeface="+mn-ea"/>
              </a:rPr>
              <a:t>Techniques Used:</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sym typeface="+mn-ea"/>
              </a:rPr>
              <a:t>Slime Mould Algorithm &amp; Fuzzy Logic for CFO Estimation</a:t>
            </a:r>
            <a:r>
              <a:rPr lang="en-IN" altLang="en-US" sz="2000">
                <a:latin typeface="Times New Roman" panose="02020603050405020304" pitchFamily="18" charset="0"/>
                <a:cs typeface="Times New Roman" panose="02020603050405020304" pitchFamily="18" charset="0"/>
                <a:sym typeface="+mn-ea"/>
              </a:rPr>
              <a:t> </a:t>
            </a:r>
            <a:r>
              <a:rPr lang="en-US" altLang="en-US" sz="2000">
                <a:latin typeface="Times New Roman" panose="02020603050405020304" pitchFamily="18" charset="0"/>
                <a:cs typeface="Times New Roman" panose="02020603050405020304" pitchFamily="18" charset="0"/>
              </a:rPr>
              <a:t>to optimize energy-efficient routing and cluster head </a:t>
            </a:r>
          </a:p>
          <a:p>
            <a:pPr marL="0" indent="0">
              <a:buNone/>
            </a:pPr>
            <a:r>
              <a:rPr lang="en-US" altLang="en-US" sz="2000">
                <a:latin typeface="Times New Roman" panose="02020603050405020304" pitchFamily="18" charset="0"/>
                <a:cs typeface="Times New Roman" panose="02020603050405020304" pitchFamily="18" charset="0"/>
              </a:rPr>
              <a:t>selection in wireless sensor networks</a:t>
            </a:r>
          </a:p>
          <a:p>
            <a:r>
              <a:rPr lang="en-US" altLang="en-US" sz="2000" b="1">
                <a:latin typeface="Times New Roman" panose="02020603050405020304" pitchFamily="18" charset="0"/>
                <a:cs typeface="Times New Roman" panose="02020603050405020304" pitchFamily="18" charset="0"/>
                <a:sym typeface="+mn-ea"/>
              </a:rPr>
              <a:t>Improved Parameters:</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sym typeface="+mn-ea"/>
              </a:rPr>
              <a:t>Accuracy in CFO Estimation</a:t>
            </a:r>
            <a:endParaRPr lang="en-US" altLang="en-US" sz="2000">
              <a:latin typeface="Times New Roman" panose="02020603050405020304" pitchFamily="18" charset="0"/>
              <a:cs typeface="Times New Roman" panose="02020603050405020304" pitchFamily="18" charset="0"/>
            </a:endParaRPr>
          </a:p>
          <a:p>
            <a:r>
              <a:rPr lang="en-US" altLang="en-US" sz="2000" b="1">
                <a:latin typeface="Times New Roman" panose="02020603050405020304" pitchFamily="18" charset="0"/>
                <a:cs typeface="Times New Roman" panose="02020603050405020304" pitchFamily="18" charset="0"/>
                <a:sym typeface="+mn-ea"/>
              </a:rPr>
              <a:t>Drawbacks Identified:</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sym typeface="+mn-ea"/>
              </a:rPr>
              <a:t>Not Directly Related to Routing</a:t>
            </a:r>
            <a:endParaRPr lang="en-US" altLang="en-US" sz="2000">
              <a:latin typeface="Times New Roman" panose="02020603050405020304" pitchFamily="18" charset="0"/>
              <a:cs typeface="Times New Roman" panose="02020603050405020304" pitchFamily="18" charset="0"/>
            </a:endParaRPr>
          </a:p>
          <a:p>
            <a:pPr marL="0" indent="0">
              <a:buNone/>
            </a:pPr>
            <a:endParaRPr 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15809" y="-49"/>
            <a:ext cx="6166339" cy="584775"/>
          </a:xfrm>
          <a:prstGeom prst="rect">
            <a:avLst/>
          </a:prstGeom>
        </p:spPr>
        <p:txBody>
          <a:bodyPr wrap="square">
            <a:spAutoFit/>
          </a:bodyPr>
          <a:lstStyle/>
          <a:p>
            <a:pPr algn="ctr"/>
            <a:r>
              <a:rPr lang="en-US" sz="3200" b="1" dirty="0">
                <a:latin typeface="Times New Roman" panose="02020603050405020304" pitchFamily="18" charset="0"/>
                <a:cs typeface="Times New Roman" panose="02020603050405020304" pitchFamily="18" charset="0"/>
              </a:rPr>
              <a:t>LITERATURE SURVEY</a:t>
            </a:r>
            <a:endParaRPr lang="en-US" sz="3200" dirty="0"/>
          </a:p>
        </p:txBody>
      </p:sp>
      <p:sp>
        <p:nvSpPr>
          <p:cNvPr id="3" name="Content Placeholder 2"/>
          <p:cNvSpPr>
            <a:spLocks noGrp="1"/>
          </p:cNvSpPr>
          <p:nvPr>
            <p:ph idx="1"/>
          </p:nvPr>
        </p:nvSpPr>
        <p:spPr>
          <a:xfrm>
            <a:off x="323850" y="380365"/>
            <a:ext cx="11544935" cy="6097270"/>
          </a:xfrm>
        </p:spPr>
        <p:txBody>
          <a:bodyPr/>
          <a:lstStyle/>
          <a:p>
            <a:pPr marL="0" indent="0">
              <a:buNone/>
            </a:pPr>
            <a:r>
              <a:rPr lang="en-IN" altLang="en-US" dirty="0">
                <a:sym typeface="+mn-ea"/>
              </a:rPr>
              <a:t>                 </a:t>
            </a:r>
            <a:endParaRPr lang="en-US" dirty="0">
              <a:sym typeface="+mn-ea"/>
            </a:endParaRPr>
          </a:p>
          <a:p>
            <a:pPr marL="0" indent="0">
              <a:buNone/>
            </a:pPr>
            <a:endParaRPr lang="en-US" dirty="0"/>
          </a:p>
          <a:p>
            <a:pPr marL="0" indent="0">
              <a:buNone/>
            </a:pPr>
            <a:r>
              <a:rPr lang="en-IN" altLang="en-US"/>
              <a:t> </a:t>
            </a:r>
          </a:p>
        </p:txBody>
      </p:sp>
      <p:graphicFrame>
        <p:nvGraphicFramePr>
          <p:cNvPr id="4" name="Table 4"/>
          <p:cNvGraphicFramePr>
            <a:graphicFrameLocks noGrp="1"/>
          </p:cNvGraphicFramePr>
          <p:nvPr>
            <p:custDataLst>
              <p:tags r:id="rId1"/>
            </p:custDataLst>
          </p:nvPr>
        </p:nvGraphicFramePr>
        <p:xfrm>
          <a:off x="121920" y="619125"/>
          <a:ext cx="11910060" cy="6163945"/>
        </p:xfrm>
        <a:graphic>
          <a:graphicData uri="http://schemas.openxmlformats.org/drawingml/2006/table">
            <a:tbl>
              <a:tblPr firstRow="1" bandRow="1">
                <a:tableStyleId>{5C22544A-7EE6-4342-B048-85BDC9FD1C3A}</a:tableStyleId>
              </a:tblPr>
              <a:tblGrid>
                <a:gridCol w="819150">
                  <a:extLst>
                    <a:ext uri="{9D8B030D-6E8A-4147-A177-3AD203B41FA5}">
                      <a16:colId xmlns:a16="http://schemas.microsoft.com/office/drawing/2014/main" val="20000"/>
                    </a:ext>
                  </a:extLst>
                </a:gridCol>
                <a:gridCol w="2848610">
                  <a:extLst>
                    <a:ext uri="{9D8B030D-6E8A-4147-A177-3AD203B41FA5}">
                      <a16:colId xmlns:a16="http://schemas.microsoft.com/office/drawing/2014/main" val="20001"/>
                    </a:ext>
                  </a:extLst>
                </a:gridCol>
                <a:gridCol w="1486535">
                  <a:extLst>
                    <a:ext uri="{9D8B030D-6E8A-4147-A177-3AD203B41FA5}">
                      <a16:colId xmlns:a16="http://schemas.microsoft.com/office/drawing/2014/main" val="20002"/>
                    </a:ext>
                  </a:extLst>
                </a:gridCol>
                <a:gridCol w="2362835">
                  <a:extLst>
                    <a:ext uri="{9D8B030D-6E8A-4147-A177-3AD203B41FA5}">
                      <a16:colId xmlns:a16="http://schemas.microsoft.com/office/drawing/2014/main" val="20003"/>
                    </a:ext>
                  </a:extLst>
                </a:gridCol>
                <a:gridCol w="2045335">
                  <a:extLst>
                    <a:ext uri="{9D8B030D-6E8A-4147-A177-3AD203B41FA5}">
                      <a16:colId xmlns:a16="http://schemas.microsoft.com/office/drawing/2014/main" val="20004"/>
                    </a:ext>
                  </a:extLst>
                </a:gridCol>
                <a:gridCol w="2347595">
                  <a:extLst>
                    <a:ext uri="{9D8B030D-6E8A-4147-A177-3AD203B41FA5}">
                      <a16:colId xmlns:a16="http://schemas.microsoft.com/office/drawing/2014/main" val="20005"/>
                    </a:ext>
                  </a:extLst>
                </a:gridCol>
              </a:tblGrid>
              <a:tr h="532130">
                <a:tc>
                  <a:txBody>
                    <a:bodyPr/>
                    <a:lstStyle/>
                    <a:p>
                      <a:r>
                        <a:rPr lang="en-US" sz="1600" dirty="0">
                          <a:latin typeface="Times New Roman" panose="02020603050405020304" pitchFamily="18" charset="0"/>
                          <a:cs typeface="Times New Roman" panose="02020603050405020304" pitchFamily="18" charset="0"/>
                        </a:rPr>
                        <a:t>S.NO</a:t>
                      </a:r>
                    </a:p>
                  </a:txBody>
                  <a:tcPr/>
                </a:tc>
                <a:tc>
                  <a:txBody>
                    <a:bodyPr/>
                    <a:lstStyle/>
                    <a:p>
                      <a:r>
                        <a:rPr lang="en-US" sz="1600" dirty="0">
                          <a:latin typeface="Times New Roman" panose="02020603050405020304" pitchFamily="18" charset="0"/>
                          <a:cs typeface="Times New Roman" panose="02020603050405020304" pitchFamily="18" charset="0"/>
                        </a:rPr>
                        <a:t>              TITLE</a:t>
                      </a:r>
                    </a:p>
                  </a:txBody>
                  <a:tcPr/>
                </a:tc>
                <a:tc>
                  <a:txBody>
                    <a:bodyPr/>
                    <a:lstStyle/>
                    <a:p>
                      <a:pPr algn="ctr"/>
                      <a:r>
                        <a:rPr lang="en-US" sz="1600" dirty="0"/>
                        <a:t> </a:t>
                      </a:r>
                      <a:r>
                        <a:rPr lang="en-US" sz="1600" dirty="0">
                          <a:latin typeface="Times New Roman" panose="02020603050405020304" pitchFamily="18" charset="0"/>
                          <a:cs typeface="Times New Roman" panose="02020603050405020304" pitchFamily="18" charset="0"/>
                        </a:rPr>
                        <a:t>YEAR OF      PUBLISH</a:t>
                      </a:r>
                    </a:p>
                  </a:txBody>
                  <a:tcPr/>
                </a:tc>
                <a:tc>
                  <a:txBody>
                    <a:bodyPr/>
                    <a:lstStyle/>
                    <a:p>
                      <a:r>
                        <a:rPr lang="en-US" sz="1600" dirty="0"/>
                        <a:t>     </a:t>
                      </a:r>
                      <a:r>
                        <a:rPr lang="en-US" sz="1600" dirty="0">
                          <a:latin typeface="Times New Roman" panose="02020603050405020304" pitchFamily="18" charset="0"/>
                          <a:cs typeface="Times New Roman" panose="02020603050405020304" pitchFamily="18" charset="0"/>
                        </a:rPr>
                        <a:t>TECHNIQUES</a:t>
                      </a:r>
                    </a:p>
                  </a:txBody>
                  <a:tcPr/>
                </a:tc>
                <a:tc>
                  <a:txBody>
                    <a:bodyPr/>
                    <a:lstStyle/>
                    <a:p>
                      <a:r>
                        <a:rPr lang="en-US" sz="1600" dirty="0"/>
                        <a:t>   </a:t>
                      </a:r>
                      <a:r>
                        <a:rPr lang="en-US" sz="1600" dirty="0">
                          <a:latin typeface="Times New Roman" panose="02020603050405020304" pitchFamily="18" charset="0"/>
                          <a:cs typeface="Times New Roman" panose="02020603050405020304" pitchFamily="18" charset="0"/>
                        </a:rPr>
                        <a:t>PARAMETERS</a:t>
                      </a:r>
                    </a:p>
                  </a:txBody>
                  <a:tcPr/>
                </a:tc>
                <a:tc>
                  <a:txBody>
                    <a:bodyPr/>
                    <a:lstStyle/>
                    <a:p>
                      <a:r>
                        <a:rPr lang="en-US" sz="1600" dirty="0"/>
                        <a:t>  </a:t>
                      </a:r>
                      <a:r>
                        <a:rPr lang="en-US" sz="1600" dirty="0">
                          <a:latin typeface="Times New Roman" panose="02020603050405020304" pitchFamily="18" charset="0"/>
                          <a:cs typeface="Times New Roman" panose="02020603050405020304" pitchFamily="18" charset="0"/>
                        </a:rPr>
                        <a:t>ADVANTAGES </a:t>
                      </a:r>
                    </a:p>
                  </a:txBody>
                  <a:tcPr/>
                </a:tc>
                <a:extLst>
                  <a:ext uri="{0D108BD9-81ED-4DB2-BD59-A6C34878D82A}">
                    <a16:rowId xmlns:a16="http://schemas.microsoft.com/office/drawing/2014/main" val="10000"/>
                  </a:ext>
                </a:extLst>
              </a:tr>
              <a:tr h="1073785">
                <a:tc>
                  <a:txBody>
                    <a:bodyPr/>
                    <a:lstStyle/>
                    <a:p>
                      <a:endParaRPr lang="en-IN" sz="1600" dirty="0"/>
                    </a:p>
                    <a:p>
                      <a:endParaRPr lang="en-IN" sz="1600" dirty="0"/>
                    </a:p>
                    <a:p>
                      <a:r>
                        <a:rPr lang="en-IN" sz="1600" dirty="0"/>
                        <a:t>   1</a:t>
                      </a:r>
                    </a:p>
                  </a:txBody>
                  <a:tcPr/>
                </a:tc>
                <a:tc>
                  <a:txBody>
                    <a:bodyPr/>
                    <a:lstStyle/>
                    <a:p>
                      <a:r>
                        <a:rPr lang="en-US" altLang="en-US" sz="1600" dirty="0">
                          <a:latin typeface="Times New Roman" panose="02020603050405020304" pitchFamily="18" charset="0"/>
                          <a:cs typeface="Times New Roman" panose="02020603050405020304" pitchFamily="18" charset="0"/>
                        </a:rPr>
                        <a:t> Energy efficient cluster-based routing protocol for WSN using butterfly optimization algorithm and ant colony optimization</a:t>
                      </a:r>
                    </a:p>
                  </a:txBody>
                  <a:tcPr/>
                </a:tc>
                <a:tc>
                  <a:txBody>
                    <a:bodyPr/>
                    <a:lstStyle/>
                    <a:p>
                      <a:pPr>
                        <a:lnSpc>
                          <a:spcPct val="106000"/>
                        </a:lnSpc>
                        <a:spcBef>
                          <a:spcPct val="0"/>
                        </a:spcBef>
                        <a:spcAft>
                          <a:spcPct val="0"/>
                        </a:spcAft>
                      </a:pPr>
                      <a:r>
                        <a:rPr sz="1600">
                          <a:solidFill>
                            <a:srgbClr val="000000"/>
                          </a:solidFill>
                          <a:latin typeface="Times New Roman" panose="02020603050405020304"/>
                          <a:ea typeface="Times New Roman" panose="02020603050405020304"/>
                        </a:rPr>
                        <a:t> 2021</a:t>
                      </a:r>
                    </a:p>
                  </a:txBody>
                  <a:tcPr marL="68580" marR="68580" marT="0" marB="0"/>
                </a:tc>
                <a:tc>
                  <a:txBody>
                    <a:bodyPr/>
                    <a:lstStyle/>
                    <a:p>
                      <a:pPr>
                        <a:lnSpc>
                          <a:spcPct val="106000"/>
                        </a:lnSpc>
                        <a:spcBef>
                          <a:spcPct val="0"/>
                        </a:spcBef>
                        <a:spcAft>
                          <a:spcPct val="0"/>
                        </a:spcAft>
                      </a:pPr>
                      <a:r>
                        <a:rPr sz="1600">
                          <a:solidFill>
                            <a:srgbClr val="000000"/>
                          </a:solidFill>
                          <a:latin typeface="Times New Roman" panose="02020603050405020304"/>
                          <a:ea typeface="Times New Roman" panose="02020603050405020304"/>
                        </a:rPr>
                        <a:t>Ant Colony Optimization + Butterfly Optimization</a:t>
                      </a:r>
                    </a:p>
                  </a:txBody>
                  <a:tcPr marL="68580" marR="68580" marT="0" marB="0"/>
                </a:tc>
                <a:tc>
                  <a:txBody>
                    <a:bodyPr/>
                    <a:lstStyle/>
                    <a:p>
                      <a:r>
                        <a:rPr lang="en-US" altLang="en-US" sz="1600">
                          <a:latin typeface="Times New Roman" panose="02020603050405020304" pitchFamily="18" charset="0"/>
                          <a:cs typeface="Times New Roman" panose="02020603050405020304" pitchFamily="18" charset="0"/>
                          <a:sym typeface="+mn-ea"/>
                        </a:rPr>
                        <a:t>Residual energy, distance, cluster head selection </a:t>
                      </a:r>
                      <a:endParaRPr lang="en-US" sz="1600" dirty="0">
                        <a:latin typeface="Times New Roman" panose="02020603050405020304" pitchFamily="18" charset="0"/>
                        <a:cs typeface="Times New Roman" panose="02020603050405020304" pitchFamily="18" charset="0"/>
                      </a:endParaRPr>
                    </a:p>
                  </a:txBody>
                  <a:tcPr/>
                </a:tc>
                <a:tc>
                  <a:txBody>
                    <a:bodyPr/>
                    <a:lstStyle/>
                    <a:p>
                      <a:pPr>
                        <a:lnSpc>
                          <a:spcPct val="106000"/>
                        </a:lnSpc>
                        <a:spcBef>
                          <a:spcPct val="0"/>
                        </a:spcBef>
                        <a:spcAft>
                          <a:spcPct val="0"/>
                        </a:spcAft>
                      </a:pPr>
                      <a:r>
                        <a:rPr sz="1600">
                          <a:solidFill>
                            <a:srgbClr val="000000"/>
                          </a:solidFill>
                          <a:latin typeface="Times New Roman" panose="02020603050405020304"/>
                          <a:ea typeface="Times New Roman" panose="02020603050405020304"/>
                        </a:rPr>
                        <a:t>Increases energy efficiency and network lifetime</a:t>
                      </a:r>
                    </a:p>
                  </a:txBody>
                  <a:tcPr marL="68580" marR="68580" marT="0" marB="0"/>
                </a:tc>
                <a:extLst>
                  <a:ext uri="{0D108BD9-81ED-4DB2-BD59-A6C34878D82A}">
                    <a16:rowId xmlns:a16="http://schemas.microsoft.com/office/drawing/2014/main" val="10001"/>
                  </a:ext>
                </a:extLst>
              </a:tr>
              <a:tr h="1019175">
                <a:tc>
                  <a:txBody>
                    <a:bodyPr/>
                    <a:lstStyle/>
                    <a:p>
                      <a:endParaRPr lang="en-IN" sz="1600" dirty="0"/>
                    </a:p>
                    <a:p>
                      <a:r>
                        <a:rPr lang="en-IN" sz="1600" dirty="0"/>
                        <a:t>    2</a:t>
                      </a:r>
                    </a:p>
                  </a:txBody>
                  <a:tcPr/>
                </a:tc>
                <a:tc>
                  <a:txBody>
                    <a:bodyPr/>
                    <a:lstStyle/>
                    <a:p>
                      <a:r>
                        <a:rPr lang="en-US" altLang="en-US" sz="1600" dirty="0">
                          <a:latin typeface="Times New Roman" panose="02020603050405020304" pitchFamily="18" charset="0"/>
                          <a:cs typeface="Times New Roman" panose="02020603050405020304" pitchFamily="18" charset="0"/>
                        </a:rPr>
                        <a:t>Energy-efficient cluster-based routing protocol for wsn</a:t>
                      </a:r>
                    </a:p>
                    <a:p>
                      <a:r>
                        <a:rPr lang="en-US" altLang="en-US" sz="1600" dirty="0">
                          <a:latin typeface="Times New Roman" panose="02020603050405020304" pitchFamily="18" charset="0"/>
                          <a:cs typeface="Times New Roman" panose="02020603050405020304" pitchFamily="18" charset="0"/>
                        </a:rPr>
                        <a:t>based on hybrid bso–tlbo optimization model</a:t>
                      </a:r>
                    </a:p>
                  </a:txBody>
                  <a:tcPr/>
                </a:tc>
                <a:tc>
                  <a:txBody>
                    <a:bodyPr/>
                    <a:lstStyle/>
                    <a:p>
                      <a:pPr algn="just">
                        <a:lnSpc>
                          <a:spcPct val="106000"/>
                        </a:lnSpc>
                        <a:spcBef>
                          <a:spcPct val="0"/>
                        </a:spcBef>
                        <a:spcAft>
                          <a:spcPct val="0"/>
                        </a:spcAft>
                      </a:pPr>
                      <a:r>
                        <a:rPr sz="1600">
                          <a:solidFill>
                            <a:srgbClr val="000000"/>
                          </a:solidFill>
                          <a:latin typeface="Times New Roman" panose="02020603050405020304"/>
                          <a:ea typeface="Times New Roman" panose="02020603050405020304"/>
                        </a:rPr>
                        <a:t> 2021</a:t>
                      </a:r>
                    </a:p>
                  </a:txBody>
                  <a:tcPr marL="68580" marR="68580" marT="0" marB="0"/>
                </a:tc>
                <a:tc>
                  <a:txBody>
                    <a:bodyPr/>
                    <a:lstStyle/>
                    <a:p>
                      <a:pPr algn="just">
                        <a:lnSpc>
                          <a:spcPct val="106000"/>
                        </a:lnSpc>
                        <a:spcBef>
                          <a:spcPct val="0"/>
                        </a:spcBef>
                        <a:spcAft>
                          <a:spcPct val="0"/>
                        </a:spcAft>
                      </a:pPr>
                      <a:r>
                        <a:rPr sz="1600">
                          <a:solidFill>
                            <a:srgbClr val="000000"/>
                          </a:solidFill>
                          <a:latin typeface="Times New Roman" panose="02020603050405020304"/>
                          <a:ea typeface="Times New Roman" panose="02020603050405020304"/>
                        </a:rPr>
                        <a:t>BSO+ TLBO</a:t>
                      </a:r>
                    </a:p>
                  </a:txBody>
                  <a:tcPr marL="68580" marR="68580" marT="0" marB="0"/>
                </a:tc>
                <a:tc>
                  <a:txBody>
                    <a:bodyPr/>
                    <a:lstStyle/>
                    <a:p>
                      <a:r>
                        <a:rPr lang="en-US" altLang="en-US" sz="1600" dirty="0">
                          <a:latin typeface="Times New Roman" panose="02020603050405020304" pitchFamily="18" charset="0"/>
                          <a:cs typeface="Times New Roman" panose="02020603050405020304" pitchFamily="18" charset="0"/>
                        </a:rPr>
                        <a:t>Energy consumption, node degree, distance, node centrality</a:t>
                      </a:r>
                    </a:p>
                  </a:txBody>
                  <a:tcPr/>
                </a:tc>
                <a:tc>
                  <a:txBody>
                    <a:bodyPr/>
                    <a:lstStyle/>
                    <a:p>
                      <a:pPr algn="just">
                        <a:lnSpc>
                          <a:spcPct val="106000"/>
                        </a:lnSpc>
                        <a:spcBef>
                          <a:spcPct val="0"/>
                        </a:spcBef>
                        <a:spcAft>
                          <a:spcPct val="0"/>
                        </a:spcAft>
                      </a:pPr>
                      <a:r>
                        <a:rPr sz="1600">
                          <a:solidFill>
                            <a:srgbClr val="000000"/>
                          </a:solidFill>
                          <a:latin typeface="Times New Roman" panose="02020603050405020304"/>
                          <a:ea typeface="Times New Roman" panose="02020603050405020304"/>
                        </a:rPr>
                        <a:t>Improves energy use, network data rate</a:t>
                      </a:r>
                    </a:p>
                  </a:txBody>
                  <a:tcPr marL="68580" marR="68580" marT="0" marB="0"/>
                </a:tc>
                <a:extLst>
                  <a:ext uri="{0D108BD9-81ED-4DB2-BD59-A6C34878D82A}">
                    <a16:rowId xmlns:a16="http://schemas.microsoft.com/office/drawing/2014/main" val="10002"/>
                  </a:ext>
                </a:extLst>
              </a:tr>
              <a:tr h="1076960">
                <a:tc>
                  <a:txBody>
                    <a:bodyPr/>
                    <a:lstStyle/>
                    <a:p>
                      <a:endParaRPr lang="en-IN" sz="1600" dirty="0"/>
                    </a:p>
                    <a:p>
                      <a:r>
                        <a:rPr lang="en-IN" sz="1600" dirty="0"/>
                        <a:t>   3</a:t>
                      </a:r>
                    </a:p>
                  </a:txBody>
                  <a:tcPr/>
                </a:tc>
                <a:tc>
                  <a:txBody>
                    <a:bodyPr/>
                    <a:lstStyle/>
                    <a:p>
                      <a:r>
                        <a:rPr lang="en-US" altLang="en-US" sz="1600" dirty="0">
                          <a:latin typeface="Times New Roman" panose="02020603050405020304" pitchFamily="18" charset="0"/>
                          <a:cs typeface="Times New Roman" panose="02020603050405020304" pitchFamily="18" charset="0"/>
                        </a:rPr>
                        <a:t>GAPSO-H:</a:t>
                      </a:r>
                    </a:p>
                    <a:p>
                      <a:r>
                        <a:rPr lang="en-US" altLang="en-US" sz="1600" dirty="0">
                          <a:latin typeface="Times New Roman" panose="02020603050405020304" pitchFamily="18" charset="0"/>
                          <a:cs typeface="Times New Roman" panose="02020603050405020304" pitchFamily="18" charset="0"/>
                        </a:rPr>
                        <a:t>A hybrid approach towards optimizing the cluster-based</a:t>
                      </a:r>
                    </a:p>
                    <a:p>
                      <a:r>
                        <a:rPr lang="en-US" altLang="en-US" sz="1600" dirty="0">
                          <a:latin typeface="Times New Roman" panose="02020603050405020304" pitchFamily="18" charset="0"/>
                          <a:cs typeface="Times New Roman" panose="02020603050405020304" pitchFamily="18" charset="0"/>
                        </a:rPr>
                        <a:t>routing in wireless sensor network</a:t>
                      </a:r>
                    </a:p>
                  </a:txBody>
                  <a:tcPr/>
                </a:tc>
                <a:tc>
                  <a:txBody>
                    <a:bodyPr/>
                    <a:lstStyle/>
                    <a:p>
                      <a:pPr algn="just">
                        <a:lnSpc>
                          <a:spcPct val="106000"/>
                        </a:lnSpc>
                        <a:spcBef>
                          <a:spcPct val="0"/>
                        </a:spcBef>
                        <a:spcAft>
                          <a:spcPct val="0"/>
                        </a:spcAft>
                      </a:pPr>
                      <a:r>
                        <a:rPr sz="1600">
                          <a:solidFill>
                            <a:srgbClr val="000000"/>
                          </a:solidFill>
                          <a:latin typeface="Times New Roman" panose="02020603050405020304"/>
                          <a:ea typeface="Times New Roman" panose="02020603050405020304"/>
                        </a:rPr>
                        <a:t> 2021</a:t>
                      </a:r>
                    </a:p>
                  </a:txBody>
                  <a:tcPr marL="68580" marR="68580" marT="0" marB="0"/>
                </a:tc>
                <a:tc>
                  <a:txBody>
                    <a:bodyPr/>
                    <a:lstStyle/>
                    <a:p>
                      <a:pPr algn="just">
                        <a:lnSpc>
                          <a:spcPct val="106000"/>
                        </a:lnSpc>
                        <a:spcBef>
                          <a:spcPct val="0"/>
                        </a:spcBef>
                        <a:spcAft>
                          <a:spcPct val="0"/>
                        </a:spcAft>
                      </a:pPr>
                      <a:r>
                        <a:rPr sz="1600">
                          <a:solidFill>
                            <a:srgbClr val="000000"/>
                          </a:solidFill>
                          <a:latin typeface="Times New Roman" panose="02020603050405020304"/>
                          <a:ea typeface="Times New Roman" panose="02020603050405020304"/>
                        </a:rPr>
                        <a:t>Genetic Algorithm +Particle Swarm Optimization</a:t>
                      </a:r>
                    </a:p>
                  </a:txBody>
                  <a:tcPr marL="68580" marR="68580" marT="0" marB="0"/>
                </a:tc>
                <a:tc>
                  <a:txBody>
                    <a:bodyPr/>
                    <a:lstStyle/>
                    <a:p>
                      <a:r>
                        <a:rPr lang="en-US" altLang="en-US" sz="1600" dirty="0">
                          <a:latin typeface="Times New Roman" panose="02020603050405020304" pitchFamily="18" charset="0"/>
                          <a:cs typeface="Times New Roman" panose="02020603050405020304" pitchFamily="18" charset="0"/>
                        </a:rPr>
                        <a:t>Fitness function (energy, distance), cluster quality</a:t>
                      </a:r>
                    </a:p>
                  </a:txBody>
                  <a:tcPr/>
                </a:tc>
                <a:tc>
                  <a:txBody>
                    <a:bodyPr/>
                    <a:lstStyle/>
                    <a:p>
                      <a:pPr algn="just">
                        <a:lnSpc>
                          <a:spcPct val="106000"/>
                        </a:lnSpc>
                        <a:spcBef>
                          <a:spcPct val="0"/>
                        </a:spcBef>
                        <a:spcAft>
                          <a:spcPct val="0"/>
                        </a:spcAft>
                      </a:pPr>
                      <a:r>
                        <a:rPr sz="1600">
                          <a:solidFill>
                            <a:srgbClr val="000000"/>
                          </a:solidFill>
                          <a:latin typeface="Times New Roman" panose="02020603050405020304"/>
                          <a:ea typeface="Times New Roman" panose="02020603050405020304"/>
                        </a:rPr>
                        <a:t>Reduces CH re-selection costs and adapts well to sink mobility</a:t>
                      </a:r>
                    </a:p>
                  </a:txBody>
                  <a:tcPr marL="68580" marR="68580" marT="0" marB="0"/>
                </a:tc>
                <a:extLst>
                  <a:ext uri="{0D108BD9-81ED-4DB2-BD59-A6C34878D82A}">
                    <a16:rowId xmlns:a16="http://schemas.microsoft.com/office/drawing/2014/main" val="10003"/>
                  </a:ext>
                </a:extLst>
              </a:tr>
              <a:tr h="753110">
                <a:tc>
                  <a:txBody>
                    <a:bodyPr/>
                    <a:lstStyle/>
                    <a:p>
                      <a:pPr>
                        <a:buNone/>
                      </a:pPr>
                      <a:r>
                        <a:rPr lang="en-IN" sz="1600" dirty="0"/>
                        <a:t> </a:t>
                      </a:r>
                    </a:p>
                    <a:p>
                      <a:pPr>
                        <a:buNone/>
                      </a:pPr>
                      <a:endParaRPr lang="en-IN" sz="1600" dirty="0"/>
                    </a:p>
                    <a:p>
                      <a:pPr>
                        <a:buNone/>
                      </a:pPr>
                      <a:r>
                        <a:rPr lang="en-IN" sz="1600" dirty="0"/>
                        <a:t>   4</a:t>
                      </a:r>
                    </a:p>
                  </a:txBody>
                  <a:tcPr/>
                </a:tc>
                <a:tc>
                  <a:txBody>
                    <a:bodyPr/>
                    <a:lstStyle/>
                    <a:p>
                      <a:r>
                        <a:rPr lang="en-US" altLang="en-US" sz="1600" dirty="0">
                          <a:latin typeface="Times New Roman" panose="02020603050405020304" pitchFamily="18" charset="0"/>
                          <a:cs typeface="Times New Roman" panose="02020603050405020304" pitchFamily="18" charset="0"/>
                        </a:rPr>
                        <a:t>Hybridization of metaheuristic</a:t>
                      </a:r>
                      <a:r>
                        <a:rPr lang="en-IN" altLang="en-US"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algorithm for dynamic cluster-based routing protocol</a:t>
                      </a:r>
                    </a:p>
                    <a:p>
                      <a:r>
                        <a:rPr lang="en-US" altLang="en-US" sz="1600" dirty="0">
                          <a:latin typeface="Times New Roman" panose="02020603050405020304" pitchFamily="18" charset="0"/>
                          <a:cs typeface="Times New Roman" panose="02020603050405020304" pitchFamily="18" charset="0"/>
                        </a:rPr>
                        <a:t>in wireless sensor networks</a:t>
                      </a:r>
                    </a:p>
                  </a:txBody>
                  <a:tcPr/>
                </a:tc>
                <a:tc>
                  <a:txBody>
                    <a:bodyPr/>
                    <a:lstStyle/>
                    <a:p>
                      <a:pPr algn="just">
                        <a:lnSpc>
                          <a:spcPct val="106000"/>
                        </a:lnSpc>
                        <a:spcBef>
                          <a:spcPct val="0"/>
                        </a:spcBef>
                        <a:spcAft>
                          <a:spcPct val="0"/>
                        </a:spcAft>
                      </a:pPr>
                      <a:r>
                        <a:rPr lang="en-IN" sz="1600">
                          <a:solidFill>
                            <a:srgbClr val="000000"/>
                          </a:solidFill>
                          <a:latin typeface="Times New Roman" panose="02020603050405020304" pitchFamily="18" charset="0"/>
                          <a:ea typeface="Times New Roman" panose="02020603050405020304"/>
                          <a:cs typeface="Times New Roman" panose="02020603050405020304" pitchFamily="18" charset="0"/>
                        </a:rPr>
                        <a:t>2021</a:t>
                      </a:r>
                    </a:p>
                  </a:txBody>
                  <a:tcPr marL="68580" marR="68580" marT="0" marB="0"/>
                </a:tc>
                <a:tc>
                  <a:txBody>
                    <a:bodyPr/>
                    <a:lstStyle/>
                    <a:p>
                      <a:pPr algn="just">
                        <a:lnSpc>
                          <a:spcPct val="106000"/>
                        </a:lnSpc>
                        <a:spcBef>
                          <a:spcPct val="0"/>
                        </a:spcBef>
                        <a:spcAft>
                          <a:spcPct val="0"/>
                        </a:spcAft>
                      </a:pPr>
                      <a:r>
                        <a:rPr sz="1600">
                          <a:solidFill>
                            <a:srgbClr val="000000"/>
                          </a:solidFill>
                          <a:latin typeface="Times New Roman" panose="02020603050405020304" pitchFamily="18" charset="0"/>
                          <a:ea typeface="Times New Roman" panose="02020603050405020304"/>
                          <a:cs typeface="Times New Roman" panose="02020603050405020304" pitchFamily="18" charset="0"/>
                        </a:rPr>
                        <a:t>Hybrid Metaheuristic Cluster-Based Routing</a:t>
                      </a:r>
                    </a:p>
                  </a:txBody>
                  <a:tcPr marL="68580" marR="68580" marT="0" marB="0"/>
                </a:tc>
                <a:tc>
                  <a:txBody>
                    <a:bodyPr/>
                    <a:lstStyle/>
                    <a:p>
                      <a:r>
                        <a:rPr lang="en-US" altLang="en-US" sz="1600" dirty="0">
                          <a:latin typeface="Times New Roman" panose="02020603050405020304" pitchFamily="18" charset="0"/>
                          <a:cs typeface="Times New Roman" panose="02020603050405020304" pitchFamily="18" charset="0"/>
                        </a:rPr>
                        <a:t>Energy consumption, node degree</a:t>
                      </a:r>
                      <a:r>
                        <a:rPr lang="en-IN" altLang="en-US" sz="1600" dirty="0">
                          <a:latin typeface="Times New Roman" panose="02020603050405020304" pitchFamily="18" charset="0"/>
                          <a:cs typeface="Times New Roman" panose="02020603050405020304" pitchFamily="18" charset="0"/>
                        </a:rPr>
                        <a:t>.</a:t>
                      </a:r>
                    </a:p>
                  </a:txBody>
                  <a:tcPr/>
                </a:tc>
                <a:tc>
                  <a:txBody>
                    <a:bodyPr/>
                    <a:lstStyle/>
                    <a:p>
                      <a:pPr algn="just">
                        <a:lnSpc>
                          <a:spcPct val="106000"/>
                        </a:lnSpc>
                        <a:spcBef>
                          <a:spcPct val="0"/>
                        </a:spcBef>
                        <a:spcAft>
                          <a:spcPct val="0"/>
                        </a:spcAft>
                      </a:pPr>
                      <a:r>
                        <a:rPr lang="en-IN" sz="1600">
                          <a:solidFill>
                            <a:srgbClr val="000000"/>
                          </a:solidFill>
                          <a:latin typeface="Times New Roman" panose="02020603050405020304" pitchFamily="18" charset="0"/>
                          <a:ea typeface="Times New Roman" panose="02020603050405020304"/>
                          <a:cs typeface="Times New Roman" panose="02020603050405020304" pitchFamily="18" charset="0"/>
                        </a:rPr>
                        <a:t>Ensure network</a:t>
                      </a:r>
                      <a:r>
                        <a:rPr sz="1600">
                          <a:solidFill>
                            <a:srgbClr val="000000"/>
                          </a:solidFill>
                          <a:latin typeface="Times New Roman" panose="02020603050405020304" pitchFamily="18" charset="0"/>
                          <a:ea typeface="Times New Roman" panose="02020603050405020304"/>
                          <a:cs typeface="Times New Roman" panose="02020603050405020304" pitchFamily="18" charset="0"/>
                        </a:rPr>
                        <a:t> longevity and dynamic</a:t>
                      </a:r>
                    </a:p>
                  </a:txBody>
                  <a:tcPr marL="68580" marR="68580" marT="0" marB="0"/>
                </a:tc>
                <a:extLst>
                  <a:ext uri="{0D108BD9-81ED-4DB2-BD59-A6C34878D82A}">
                    <a16:rowId xmlns:a16="http://schemas.microsoft.com/office/drawing/2014/main" val="10004"/>
                  </a:ext>
                </a:extLst>
              </a:tr>
              <a:tr h="753110">
                <a:tc>
                  <a:txBody>
                    <a:bodyPr/>
                    <a:lstStyle/>
                    <a:p>
                      <a:pPr>
                        <a:buNone/>
                      </a:pPr>
                      <a:endParaRPr lang="en-IN" sz="1600" dirty="0"/>
                    </a:p>
                    <a:p>
                      <a:pPr>
                        <a:buNone/>
                      </a:pPr>
                      <a:r>
                        <a:rPr lang="en-IN" sz="1600" dirty="0"/>
                        <a:t>   5 </a:t>
                      </a:r>
                    </a:p>
                  </a:txBody>
                  <a:tcPr/>
                </a:tc>
                <a:tc>
                  <a:txBody>
                    <a:bodyPr/>
                    <a:lstStyle/>
                    <a:p>
                      <a:pPr>
                        <a:buNone/>
                      </a:pPr>
                      <a:r>
                        <a:rPr lang="en-US" altLang="en-US" sz="1600" dirty="0">
                          <a:latin typeface="Times New Roman" panose="02020603050405020304" pitchFamily="18" charset="0"/>
                          <a:cs typeface="Times New Roman" panose="02020603050405020304" pitchFamily="18" charset="0"/>
                        </a:rPr>
                        <a:t>Energy-aware cluster-based routing protocol for WSN based IoT</a:t>
                      </a:r>
                    </a:p>
                  </a:txBody>
                  <a:tcPr/>
                </a:tc>
                <a:tc>
                  <a:txBody>
                    <a:bodyPr/>
                    <a:lstStyle/>
                    <a:p>
                      <a:pPr algn="just">
                        <a:lnSpc>
                          <a:spcPct val="106000"/>
                        </a:lnSpc>
                        <a:spcBef>
                          <a:spcPct val="0"/>
                        </a:spcBef>
                        <a:spcAft>
                          <a:spcPct val="0"/>
                        </a:spcAft>
                      </a:pPr>
                      <a:r>
                        <a:rPr lang="en-IN" sz="1600">
                          <a:solidFill>
                            <a:srgbClr val="000000"/>
                          </a:solidFill>
                          <a:latin typeface="Times New Roman" panose="02020603050405020304"/>
                          <a:ea typeface="Times New Roman" panose="02020603050405020304"/>
                        </a:rPr>
                        <a:t>2022</a:t>
                      </a:r>
                    </a:p>
                  </a:txBody>
                  <a:tcPr marL="68580" marR="68580" marT="0" marB="0"/>
                </a:tc>
                <a:tc>
                  <a:txBody>
                    <a:bodyPr/>
                    <a:lstStyle/>
                    <a:p>
                      <a:pPr algn="just">
                        <a:lnSpc>
                          <a:spcPct val="106000"/>
                        </a:lnSpc>
                        <a:spcBef>
                          <a:spcPct val="0"/>
                        </a:spcBef>
                        <a:spcAft>
                          <a:spcPct val="0"/>
                        </a:spcAft>
                      </a:pPr>
                      <a:r>
                        <a:rPr lang="en-US" altLang="en-US" sz="1600">
                          <a:solidFill>
                            <a:srgbClr val="000000"/>
                          </a:solidFill>
                          <a:latin typeface="Times New Roman" panose="02020603050405020304"/>
                          <a:ea typeface="Times New Roman" panose="02020603050405020304"/>
                        </a:rPr>
                        <a:t>Energy</a:t>
                      </a:r>
                      <a:r>
                        <a:rPr lang="en-IN" altLang="en-US" sz="1600">
                          <a:solidFill>
                            <a:srgbClr val="000000"/>
                          </a:solidFill>
                          <a:latin typeface="Times New Roman" panose="02020603050405020304"/>
                          <a:ea typeface="Times New Roman" panose="02020603050405020304"/>
                        </a:rPr>
                        <a:t> </a:t>
                      </a:r>
                      <a:r>
                        <a:rPr lang="en-US" altLang="en-US" sz="1600">
                          <a:solidFill>
                            <a:srgbClr val="000000"/>
                          </a:solidFill>
                          <a:latin typeface="Times New Roman" panose="02020603050405020304"/>
                          <a:ea typeface="Times New Roman" panose="02020603050405020304"/>
                        </a:rPr>
                        <a:t>Aware Cluste</a:t>
                      </a:r>
                      <a:r>
                        <a:rPr lang="en-IN" altLang="en-US" sz="1600">
                          <a:solidFill>
                            <a:srgbClr val="000000"/>
                          </a:solidFill>
                          <a:latin typeface="Times New Roman" panose="02020603050405020304"/>
                          <a:ea typeface="Times New Roman" panose="02020603050405020304"/>
                        </a:rPr>
                        <a:t>r </a:t>
                      </a:r>
                      <a:r>
                        <a:rPr lang="en-US" altLang="en-US" sz="1600">
                          <a:solidFill>
                            <a:srgbClr val="000000"/>
                          </a:solidFill>
                          <a:latin typeface="Times New Roman" panose="02020603050405020304"/>
                          <a:ea typeface="Times New Roman" panose="02020603050405020304"/>
                        </a:rPr>
                        <a:t>Based Routing</a:t>
                      </a:r>
                    </a:p>
                  </a:txBody>
                  <a:tcPr marL="68580" marR="68580" marT="0" marB="0"/>
                </a:tc>
                <a:tc>
                  <a:txBody>
                    <a:bodyPr/>
                    <a:lstStyle/>
                    <a:p>
                      <a:pPr>
                        <a:buNone/>
                      </a:pPr>
                      <a:r>
                        <a:rPr lang="en-US" altLang="en-US" sz="1600" dirty="0">
                          <a:latin typeface="Times New Roman" panose="02020603050405020304" pitchFamily="18" charset="0"/>
                          <a:cs typeface="Times New Roman" panose="02020603050405020304" pitchFamily="18" charset="0"/>
                          <a:sym typeface="+mn-ea"/>
                        </a:rPr>
                        <a:t>Residual Energy</a:t>
                      </a:r>
                      <a:r>
                        <a:rPr lang="en-IN" altLang="en-US" sz="1600" dirty="0">
                          <a:latin typeface="Times New Roman" panose="02020603050405020304" pitchFamily="18" charset="0"/>
                          <a:cs typeface="Times New Roman" panose="02020603050405020304" pitchFamily="18" charset="0"/>
                          <a:sym typeface="+mn-ea"/>
                        </a:rPr>
                        <a:t>,Distance to Base Station</a:t>
                      </a:r>
                    </a:p>
                    <a:p>
                      <a:pPr>
                        <a:buNone/>
                      </a:pPr>
                      <a:r>
                        <a:rPr lang="en-US" altLang="en-US" sz="1600">
                          <a:latin typeface="Times New Roman" panose="02020603050405020304" pitchFamily="18" charset="0"/>
                          <a:cs typeface="Times New Roman" panose="02020603050405020304" pitchFamily="18" charset="0"/>
                          <a:sym typeface="+mn-ea"/>
                        </a:rPr>
                        <a:t> </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lnSpc>
                          <a:spcPct val="106000"/>
                        </a:lnSpc>
                        <a:spcBef>
                          <a:spcPct val="0"/>
                        </a:spcBef>
                        <a:spcAft>
                          <a:spcPct val="0"/>
                        </a:spcAft>
                      </a:pPr>
                      <a:r>
                        <a:rPr lang="en-IN" altLang="en-US" sz="1600">
                          <a:solidFill>
                            <a:srgbClr val="000000"/>
                          </a:solidFill>
                          <a:latin typeface="Times New Roman" panose="02020603050405020304"/>
                          <a:ea typeface="Times New Roman" panose="02020603050405020304"/>
                        </a:rPr>
                        <a:t>P</a:t>
                      </a:r>
                      <a:r>
                        <a:rPr lang="en-US" altLang="en-US" sz="1600">
                          <a:solidFill>
                            <a:srgbClr val="000000"/>
                          </a:solidFill>
                          <a:latin typeface="Times New Roman" panose="02020603050405020304"/>
                          <a:ea typeface="Times New Roman" panose="02020603050405020304"/>
                        </a:rPr>
                        <a:t>rolongs Network Lifetime by Balancing Energy Consumption</a:t>
                      </a:r>
                    </a:p>
                  </a:txBody>
                  <a:tcPr marL="68580" marR="68580" marT="0" marB="0"/>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p:cNvGraphicFramePr>
            <a:graphicFrameLocks noGrp="1"/>
          </p:cNvGraphicFramePr>
          <p:nvPr>
            <p:ph idx="1"/>
            <p:custDataLst>
              <p:tags r:id="rId1"/>
            </p:custDataLst>
          </p:nvPr>
        </p:nvGraphicFramePr>
        <p:xfrm>
          <a:off x="0" y="75565"/>
          <a:ext cx="12191365" cy="6941185"/>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0000"/>
                    </a:ext>
                  </a:extLst>
                </a:gridCol>
                <a:gridCol w="2915920">
                  <a:extLst>
                    <a:ext uri="{9D8B030D-6E8A-4147-A177-3AD203B41FA5}">
                      <a16:colId xmlns:a16="http://schemas.microsoft.com/office/drawing/2014/main" val="20001"/>
                    </a:ext>
                  </a:extLst>
                </a:gridCol>
                <a:gridCol w="1522095">
                  <a:extLst>
                    <a:ext uri="{9D8B030D-6E8A-4147-A177-3AD203B41FA5}">
                      <a16:colId xmlns:a16="http://schemas.microsoft.com/office/drawing/2014/main" val="20002"/>
                    </a:ext>
                  </a:extLst>
                </a:gridCol>
                <a:gridCol w="2419350">
                  <a:extLst>
                    <a:ext uri="{9D8B030D-6E8A-4147-A177-3AD203B41FA5}">
                      <a16:colId xmlns:a16="http://schemas.microsoft.com/office/drawing/2014/main" val="20003"/>
                    </a:ext>
                  </a:extLst>
                </a:gridCol>
                <a:gridCol w="2092960">
                  <a:extLst>
                    <a:ext uri="{9D8B030D-6E8A-4147-A177-3AD203B41FA5}">
                      <a16:colId xmlns:a16="http://schemas.microsoft.com/office/drawing/2014/main" val="20004"/>
                    </a:ext>
                  </a:extLst>
                </a:gridCol>
                <a:gridCol w="2402840">
                  <a:extLst>
                    <a:ext uri="{9D8B030D-6E8A-4147-A177-3AD203B41FA5}">
                      <a16:colId xmlns:a16="http://schemas.microsoft.com/office/drawing/2014/main" val="20005"/>
                    </a:ext>
                  </a:extLst>
                </a:gridCol>
              </a:tblGrid>
              <a:tr h="903605">
                <a:tc>
                  <a:txBody>
                    <a:bodyPr/>
                    <a:lstStyle/>
                    <a:p>
                      <a:r>
                        <a:rPr lang="en-US" dirty="0">
                          <a:latin typeface="Times New Roman" panose="02020603050405020304" pitchFamily="18" charset="0"/>
                          <a:cs typeface="Times New Roman" panose="02020603050405020304" pitchFamily="18" charset="0"/>
                        </a:rPr>
                        <a:t>S.NO</a:t>
                      </a:r>
                    </a:p>
                  </a:txBody>
                  <a:tcPr/>
                </a:tc>
                <a:tc>
                  <a:txBody>
                    <a:bodyPr/>
                    <a:lstStyle/>
                    <a:p>
                      <a:r>
                        <a:rPr lang="en-US" dirty="0">
                          <a:latin typeface="Times New Roman" panose="02020603050405020304" pitchFamily="18" charset="0"/>
                          <a:cs typeface="Times New Roman" panose="02020603050405020304" pitchFamily="18" charset="0"/>
                        </a:rPr>
                        <a:t>              TITLE</a:t>
                      </a:r>
                    </a:p>
                  </a:txBody>
                  <a:tcPr/>
                </a:tc>
                <a:tc>
                  <a:txBody>
                    <a:bodyPr/>
                    <a:lstStyle/>
                    <a:p>
                      <a:pPr algn="ctr"/>
                      <a:r>
                        <a:rPr lang="en-US" dirty="0"/>
                        <a:t> </a:t>
                      </a:r>
                      <a:r>
                        <a:rPr lang="en-US" dirty="0">
                          <a:latin typeface="Times New Roman" panose="02020603050405020304" pitchFamily="18" charset="0"/>
                          <a:cs typeface="Times New Roman" panose="02020603050405020304" pitchFamily="18" charset="0"/>
                        </a:rPr>
                        <a:t>YEAR OF      PUBLISH</a:t>
                      </a:r>
                    </a:p>
                  </a:txBody>
                  <a:tcPr/>
                </a:tc>
                <a:tc>
                  <a:txBody>
                    <a:bodyPr/>
                    <a:lstStyle/>
                    <a:p>
                      <a:r>
                        <a:rPr lang="en-US" dirty="0"/>
                        <a:t>     </a:t>
                      </a:r>
                      <a:r>
                        <a:rPr lang="en-US" dirty="0">
                          <a:latin typeface="Times New Roman" panose="02020603050405020304" pitchFamily="18" charset="0"/>
                          <a:cs typeface="Times New Roman" panose="02020603050405020304" pitchFamily="18" charset="0"/>
                        </a:rPr>
                        <a:t>TECHNIQUES</a:t>
                      </a:r>
                    </a:p>
                  </a:txBody>
                  <a:tcPr/>
                </a:tc>
                <a:tc>
                  <a:txBody>
                    <a:bodyPr/>
                    <a:lstStyle/>
                    <a:p>
                      <a:r>
                        <a:rPr lang="en-US" dirty="0"/>
                        <a:t>   </a:t>
                      </a:r>
                      <a:r>
                        <a:rPr lang="en-US" dirty="0">
                          <a:latin typeface="Times New Roman" panose="02020603050405020304" pitchFamily="18" charset="0"/>
                          <a:cs typeface="Times New Roman" panose="02020603050405020304" pitchFamily="18" charset="0"/>
                        </a:rPr>
                        <a:t>PARAMETERS</a:t>
                      </a:r>
                    </a:p>
                  </a:txBody>
                  <a:tcPr/>
                </a:tc>
                <a:tc>
                  <a:txBody>
                    <a:bodyPr/>
                    <a:lstStyle/>
                    <a:p>
                      <a:r>
                        <a:rPr lang="en-US" dirty="0"/>
                        <a:t>  </a:t>
                      </a:r>
                      <a:r>
                        <a:rPr lang="en-US" dirty="0">
                          <a:latin typeface="Times New Roman" panose="02020603050405020304" pitchFamily="18" charset="0"/>
                          <a:cs typeface="Times New Roman" panose="02020603050405020304" pitchFamily="18" charset="0"/>
                        </a:rPr>
                        <a:t>ADVANTAGES </a:t>
                      </a:r>
                    </a:p>
                  </a:txBody>
                  <a:tcPr/>
                </a:tc>
                <a:extLst>
                  <a:ext uri="{0D108BD9-81ED-4DB2-BD59-A6C34878D82A}">
                    <a16:rowId xmlns:a16="http://schemas.microsoft.com/office/drawing/2014/main" val="10000"/>
                  </a:ext>
                </a:extLst>
              </a:tr>
              <a:tr h="1066800">
                <a:tc>
                  <a:txBody>
                    <a:bodyPr/>
                    <a:lstStyle/>
                    <a:p>
                      <a:endParaRPr lang="en-IN" sz="1600" dirty="0"/>
                    </a:p>
                    <a:p>
                      <a:r>
                        <a:rPr lang="en-IN" sz="1600" dirty="0"/>
                        <a:t>    6</a:t>
                      </a:r>
                    </a:p>
                  </a:txBody>
                  <a:tcPr/>
                </a:tc>
                <a:tc>
                  <a:txBody>
                    <a:bodyPr/>
                    <a:lstStyle/>
                    <a:p>
                      <a:r>
                        <a:rPr lang="en-US" altLang="en-US" sz="1600" dirty="0">
                          <a:latin typeface="Times New Roman" panose="02020603050405020304" pitchFamily="18" charset="0"/>
                          <a:cs typeface="Times New Roman" panose="02020603050405020304" pitchFamily="18" charset="0"/>
                        </a:rPr>
                        <a:t>Hybridization of metaheuristic</a:t>
                      </a:r>
                      <a:r>
                        <a:rPr lang="en-IN" altLang="en-US"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algorithm for dynamic cluster-based routing protocol</a:t>
                      </a:r>
                    </a:p>
                    <a:p>
                      <a:r>
                        <a:rPr lang="en-US" altLang="en-US" sz="1600" dirty="0">
                          <a:latin typeface="Times New Roman" panose="02020603050405020304" pitchFamily="18" charset="0"/>
                          <a:cs typeface="Times New Roman" panose="02020603050405020304" pitchFamily="18" charset="0"/>
                        </a:rPr>
                        <a:t>in wireless sensor networks</a:t>
                      </a:r>
                    </a:p>
                  </a:txBody>
                  <a:tcPr/>
                </a:tc>
                <a:tc>
                  <a:txBody>
                    <a:bodyPr/>
                    <a:lstStyle/>
                    <a:p>
                      <a:pPr algn="just">
                        <a:lnSpc>
                          <a:spcPct val="106000"/>
                        </a:lnSpc>
                        <a:spcBef>
                          <a:spcPct val="0"/>
                        </a:spcBef>
                        <a:spcAft>
                          <a:spcPct val="0"/>
                        </a:spcAft>
                      </a:pPr>
                      <a:r>
                        <a:rPr lang="en-IN" sz="1600">
                          <a:solidFill>
                            <a:srgbClr val="000000"/>
                          </a:solidFill>
                          <a:latin typeface="Times New Roman" panose="02020603050405020304" pitchFamily="18" charset="0"/>
                          <a:ea typeface="Times New Roman" panose="02020603050405020304"/>
                          <a:cs typeface="Times New Roman" panose="02020603050405020304" pitchFamily="18" charset="0"/>
                        </a:rPr>
                        <a:t>2021</a:t>
                      </a:r>
                    </a:p>
                  </a:txBody>
                  <a:tcPr marL="68580" marR="68580" marT="0" marB="0"/>
                </a:tc>
                <a:tc>
                  <a:txBody>
                    <a:bodyPr/>
                    <a:lstStyle/>
                    <a:p>
                      <a:pPr algn="just">
                        <a:lnSpc>
                          <a:spcPct val="106000"/>
                        </a:lnSpc>
                        <a:spcBef>
                          <a:spcPct val="0"/>
                        </a:spcBef>
                        <a:spcAft>
                          <a:spcPct val="0"/>
                        </a:spcAft>
                      </a:pPr>
                      <a:r>
                        <a:rPr sz="1600">
                          <a:solidFill>
                            <a:srgbClr val="000000"/>
                          </a:solidFill>
                          <a:latin typeface="Times New Roman" panose="02020603050405020304" pitchFamily="18" charset="0"/>
                          <a:ea typeface="Times New Roman" panose="02020603050405020304"/>
                          <a:cs typeface="Times New Roman" panose="02020603050405020304" pitchFamily="18" charset="0"/>
                        </a:rPr>
                        <a:t>Hybrid Metaheuristic Cluster-Based Routing</a:t>
                      </a:r>
                    </a:p>
                  </a:txBody>
                  <a:tcPr marL="68580" marR="68580" marT="0" marB="0"/>
                </a:tc>
                <a:tc>
                  <a:txBody>
                    <a:bodyPr/>
                    <a:lstStyle/>
                    <a:p>
                      <a:r>
                        <a:rPr lang="en-US" altLang="en-US" sz="1600" dirty="0">
                          <a:latin typeface="Times New Roman" panose="02020603050405020304" pitchFamily="18" charset="0"/>
                          <a:cs typeface="Times New Roman" panose="02020603050405020304" pitchFamily="18" charset="0"/>
                        </a:rPr>
                        <a:t>Energy consumption, node degree</a:t>
                      </a:r>
                      <a:r>
                        <a:rPr lang="en-IN" altLang="en-US" sz="1600" dirty="0">
                          <a:latin typeface="Times New Roman" panose="02020603050405020304" pitchFamily="18" charset="0"/>
                          <a:cs typeface="Times New Roman" panose="02020603050405020304" pitchFamily="18" charset="0"/>
                        </a:rPr>
                        <a:t>.</a:t>
                      </a:r>
                    </a:p>
                  </a:txBody>
                  <a:tcPr/>
                </a:tc>
                <a:tc>
                  <a:txBody>
                    <a:bodyPr/>
                    <a:lstStyle/>
                    <a:p>
                      <a:pPr algn="just">
                        <a:lnSpc>
                          <a:spcPct val="106000"/>
                        </a:lnSpc>
                        <a:spcBef>
                          <a:spcPct val="0"/>
                        </a:spcBef>
                        <a:spcAft>
                          <a:spcPct val="0"/>
                        </a:spcAft>
                      </a:pPr>
                      <a:r>
                        <a:rPr lang="en-IN" sz="1600">
                          <a:solidFill>
                            <a:srgbClr val="000000"/>
                          </a:solidFill>
                          <a:latin typeface="Times New Roman" panose="02020603050405020304" pitchFamily="18" charset="0"/>
                          <a:ea typeface="Times New Roman" panose="02020603050405020304"/>
                          <a:cs typeface="Times New Roman" panose="02020603050405020304" pitchFamily="18" charset="0"/>
                        </a:rPr>
                        <a:t>Ensure network</a:t>
                      </a:r>
                      <a:r>
                        <a:rPr sz="1600">
                          <a:solidFill>
                            <a:srgbClr val="000000"/>
                          </a:solidFill>
                          <a:latin typeface="Times New Roman" panose="02020603050405020304" pitchFamily="18" charset="0"/>
                          <a:ea typeface="Times New Roman" panose="02020603050405020304"/>
                          <a:cs typeface="Times New Roman" panose="02020603050405020304" pitchFamily="18" charset="0"/>
                        </a:rPr>
                        <a:t> longevity and dynamic</a:t>
                      </a:r>
                    </a:p>
                  </a:txBody>
                  <a:tcPr marL="68580" marR="68580" marT="0" marB="0"/>
                </a:tc>
                <a:extLst>
                  <a:ext uri="{0D108BD9-81ED-4DB2-BD59-A6C34878D82A}">
                    <a16:rowId xmlns:a16="http://schemas.microsoft.com/office/drawing/2014/main" val="10001"/>
                  </a:ext>
                </a:extLst>
              </a:tr>
              <a:tr h="914400">
                <a:tc>
                  <a:txBody>
                    <a:bodyPr/>
                    <a:lstStyle/>
                    <a:p>
                      <a:endParaRPr lang="en-IN" sz="1600" dirty="0"/>
                    </a:p>
                    <a:p>
                      <a:r>
                        <a:rPr lang="en-IN" sz="1600" dirty="0"/>
                        <a:t>    7</a:t>
                      </a:r>
                    </a:p>
                    <a:p>
                      <a:r>
                        <a:rPr lang="en-IN" sz="1600" dirty="0"/>
                        <a:t>   </a:t>
                      </a:r>
                    </a:p>
                  </a:txBody>
                  <a:tcPr/>
                </a:tc>
                <a:tc>
                  <a:txBody>
                    <a:bodyPr/>
                    <a:lstStyle/>
                    <a:p>
                      <a:r>
                        <a:rPr lang="en-US" altLang="en-US" sz="1600" dirty="0">
                          <a:latin typeface="Times New Roman" panose="02020603050405020304" pitchFamily="18" charset="0"/>
                          <a:cs typeface="Times New Roman" panose="02020603050405020304" pitchFamily="18" charset="0"/>
                        </a:rPr>
                        <a:t>F2SO: An energy efficient cluster-based routing protocol using fuzzy firebug swarm optimization algorithm in WSN</a:t>
                      </a:r>
                    </a:p>
                  </a:txBody>
                  <a:tcPr/>
                </a:tc>
                <a:tc>
                  <a:txBody>
                    <a:bodyPr/>
                    <a:lstStyle/>
                    <a:p>
                      <a:pPr algn="just">
                        <a:lnSpc>
                          <a:spcPct val="106000"/>
                        </a:lnSpc>
                        <a:spcBef>
                          <a:spcPct val="0"/>
                        </a:spcBef>
                        <a:spcAft>
                          <a:spcPct val="0"/>
                        </a:spcAft>
                      </a:pPr>
                      <a:r>
                        <a:rPr lang="en-IN" sz="1600">
                          <a:solidFill>
                            <a:srgbClr val="000000"/>
                          </a:solidFill>
                          <a:latin typeface="Times New Roman" panose="02020603050405020304"/>
                          <a:ea typeface="Times New Roman" panose="02020603050405020304"/>
                        </a:rPr>
                        <a:t>2023</a:t>
                      </a:r>
                    </a:p>
                  </a:txBody>
                  <a:tcPr marL="68580" marR="68580" marT="0" marB="0"/>
                </a:tc>
                <a:tc>
                  <a:txBody>
                    <a:bodyPr/>
                    <a:lstStyle/>
                    <a:p>
                      <a:pPr algn="just">
                        <a:lnSpc>
                          <a:spcPct val="106000"/>
                        </a:lnSpc>
                        <a:spcBef>
                          <a:spcPct val="0"/>
                        </a:spcBef>
                        <a:spcAft>
                          <a:spcPct val="0"/>
                        </a:spcAft>
                      </a:pPr>
                      <a:r>
                        <a:rPr lang="en-US" altLang="en-US" sz="1600">
                          <a:solidFill>
                            <a:srgbClr val="000000"/>
                          </a:solidFill>
                          <a:latin typeface="Times New Roman" panose="02020603050405020304"/>
                          <a:ea typeface="Times New Roman" panose="02020603050405020304"/>
                        </a:rPr>
                        <a:t>Fuzzy Firebug Swarm Optimization (F2SO) algorithm</a:t>
                      </a:r>
                    </a:p>
                  </a:txBody>
                  <a:tcPr marL="68580" marR="68580" marT="0" marB="0"/>
                </a:tc>
                <a:tc>
                  <a:txBody>
                    <a:bodyPr/>
                    <a:lstStyle/>
                    <a:p>
                      <a:r>
                        <a:rPr lang="en-US" altLang="en-US" sz="1600" dirty="0">
                          <a:latin typeface="Times New Roman" panose="02020603050405020304" pitchFamily="18" charset="0"/>
                          <a:cs typeface="Times New Roman" panose="02020603050405020304" pitchFamily="18" charset="0"/>
                        </a:rPr>
                        <a:t>Network Load and Traffic Patterns</a:t>
                      </a:r>
                    </a:p>
                  </a:txBody>
                  <a:tcPr/>
                </a:tc>
                <a:tc>
                  <a:txBody>
                    <a:bodyPr/>
                    <a:lstStyle/>
                    <a:p>
                      <a:pPr algn="just">
                        <a:lnSpc>
                          <a:spcPct val="106000"/>
                        </a:lnSpc>
                        <a:spcBef>
                          <a:spcPct val="0"/>
                        </a:spcBef>
                        <a:spcAft>
                          <a:spcPct val="0"/>
                        </a:spcAft>
                      </a:pPr>
                      <a:r>
                        <a:rPr lang="en-IN" altLang="en-US" sz="1600">
                          <a:solidFill>
                            <a:srgbClr val="000000"/>
                          </a:solidFill>
                          <a:latin typeface="Times New Roman" panose="02020603050405020304"/>
                          <a:ea typeface="Times New Roman" panose="02020603050405020304"/>
                        </a:rPr>
                        <a:t>E</a:t>
                      </a:r>
                      <a:r>
                        <a:rPr lang="en-US" altLang="en-US" sz="1600">
                          <a:solidFill>
                            <a:srgbClr val="000000"/>
                          </a:solidFill>
                          <a:latin typeface="Times New Roman" panose="02020603050405020304"/>
                          <a:ea typeface="Times New Roman" panose="02020603050405020304"/>
                        </a:rPr>
                        <a:t>nhances Packet Delivery Ratio and Reduces End-to-End Delays</a:t>
                      </a:r>
                    </a:p>
                  </a:txBody>
                  <a:tcPr marL="68580" marR="68580" marT="0" marB="0"/>
                </a:tc>
                <a:extLst>
                  <a:ext uri="{0D108BD9-81ED-4DB2-BD59-A6C34878D82A}">
                    <a16:rowId xmlns:a16="http://schemas.microsoft.com/office/drawing/2014/main" val="10002"/>
                  </a:ext>
                </a:extLst>
              </a:tr>
              <a:tr h="1355725">
                <a:tc>
                  <a:txBody>
                    <a:bodyPr/>
                    <a:lstStyle/>
                    <a:p>
                      <a:endParaRPr lang="en-IN" sz="1600" dirty="0"/>
                    </a:p>
                    <a:p>
                      <a:r>
                        <a:rPr lang="en-IN" sz="1600" dirty="0"/>
                        <a:t>   </a:t>
                      </a:r>
                    </a:p>
                    <a:p>
                      <a:r>
                        <a:rPr lang="en-IN" sz="1600" dirty="0"/>
                        <a:t>     8</a:t>
                      </a:r>
                    </a:p>
                  </a:txBody>
                  <a:tcPr/>
                </a:tc>
                <a:tc>
                  <a:txBody>
                    <a:bodyPr/>
                    <a:lstStyle/>
                    <a:p>
                      <a:r>
                        <a:rPr lang="en-US" altLang="en-US" sz="1600" dirty="0">
                          <a:latin typeface="Times New Roman" panose="02020603050405020304" pitchFamily="18" charset="0"/>
                          <a:cs typeface="Times New Roman" panose="02020603050405020304" pitchFamily="18" charset="0"/>
                        </a:rPr>
                        <a:t>Energy efficient cluster-based routing protocol for WSN</a:t>
                      </a:r>
                    </a:p>
                    <a:p>
                      <a:r>
                        <a:rPr lang="en-US" altLang="en-US" sz="1600" dirty="0">
                          <a:latin typeface="Times New Roman" panose="02020603050405020304" pitchFamily="18" charset="0"/>
                          <a:cs typeface="Times New Roman" panose="02020603050405020304" pitchFamily="18" charset="0"/>
                        </a:rPr>
                        <a:t>using firefly algorithm and ant colony optimization</a:t>
                      </a:r>
                    </a:p>
                  </a:txBody>
                  <a:tcPr/>
                </a:tc>
                <a:tc>
                  <a:txBody>
                    <a:bodyPr/>
                    <a:lstStyle/>
                    <a:p>
                      <a:pPr algn="just">
                        <a:lnSpc>
                          <a:spcPct val="106000"/>
                        </a:lnSpc>
                        <a:spcBef>
                          <a:spcPct val="0"/>
                        </a:spcBef>
                        <a:spcAft>
                          <a:spcPct val="0"/>
                        </a:spcAft>
                      </a:pPr>
                      <a:r>
                        <a:rPr lang="en-IN" sz="1600">
                          <a:solidFill>
                            <a:srgbClr val="000000"/>
                          </a:solidFill>
                          <a:latin typeface="Times New Roman" panose="02020603050405020304" pitchFamily="18" charset="0"/>
                          <a:ea typeface="Times New Roman" panose="02020603050405020304"/>
                          <a:cs typeface="Times New Roman" panose="02020603050405020304" pitchFamily="18" charset="0"/>
                        </a:rPr>
                        <a:t>2022</a:t>
                      </a:r>
                    </a:p>
                  </a:txBody>
                  <a:tcPr marL="68580" marR="68580" marT="0" marB="0"/>
                </a:tc>
                <a:tc>
                  <a:txBody>
                    <a:bodyPr/>
                    <a:lstStyle/>
                    <a:p>
                      <a:pPr algn="just">
                        <a:lnSpc>
                          <a:spcPct val="106000"/>
                        </a:lnSpc>
                        <a:spcBef>
                          <a:spcPct val="0"/>
                        </a:spcBef>
                        <a:spcAft>
                          <a:spcPct val="0"/>
                        </a:spcAft>
                      </a:pPr>
                      <a:r>
                        <a:rPr sz="1600">
                          <a:solidFill>
                            <a:srgbClr val="000000"/>
                          </a:solidFill>
                          <a:latin typeface="Times New Roman" panose="02020603050405020304" pitchFamily="18" charset="0"/>
                          <a:ea typeface="Times New Roman" panose="02020603050405020304"/>
                          <a:cs typeface="Times New Roman" panose="02020603050405020304" pitchFamily="18" charset="0"/>
                        </a:rPr>
                        <a:t>Firefly + Ant Colony Optimization</a:t>
                      </a:r>
                    </a:p>
                  </a:txBody>
                  <a:tcPr marL="68580" marR="68580" marT="0" marB="0"/>
                </a:tc>
                <a:tc>
                  <a:txBody>
                    <a:bodyPr/>
                    <a:lstStyle/>
                    <a:p>
                      <a:r>
                        <a:rPr lang="en-US" altLang="en-US" sz="1600">
                          <a:latin typeface="Times New Roman" panose="02020603050405020304" pitchFamily="18" charset="0"/>
                          <a:cs typeface="Times New Roman" panose="02020603050405020304" pitchFamily="18" charset="0"/>
                          <a:sym typeface="+mn-ea"/>
                        </a:rPr>
                        <a:t>Energy</a:t>
                      </a:r>
                      <a:r>
                        <a:rPr lang="en-IN" altLang="en-US" sz="1600">
                          <a:latin typeface="Times New Roman" panose="02020603050405020304" pitchFamily="18" charset="0"/>
                          <a:cs typeface="Times New Roman" panose="02020603050405020304" pitchFamily="18" charset="0"/>
                          <a:sym typeface="+mn-ea"/>
                        </a:rPr>
                        <a:t>  </a:t>
                      </a:r>
                      <a:r>
                        <a:rPr lang="en-US" altLang="en-US" sz="1600">
                          <a:latin typeface="Times New Roman" panose="02020603050405020304" pitchFamily="18" charset="0"/>
                          <a:cs typeface="Times New Roman" panose="02020603050405020304" pitchFamily="18" charset="0"/>
                          <a:sym typeface="+mn-ea"/>
                        </a:rPr>
                        <a:t>Efficiency,</a:t>
                      </a:r>
                    </a:p>
                    <a:p>
                      <a:r>
                        <a:rPr lang="en-IN" altLang="en-US" sz="1600" dirty="0">
                          <a:latin typeface="Times New Roman" panose="02020603050405020304" pitchFamily="18" charset="0"/>
                          <a:cs typeface="Times New Roman" panose="02020603050405020304" pitchFamily="18" charset="0"/>
                          <a:sym typeface="+mn-ea"/>
                        </a:rPr>
                        <a:t>network lifetime</a:t>
                      </a:r>
                    </a:p>
                  </a:txBody>
                  <a:tcPr/>
                </a:tc>
                <a:tc>
                  <a:txBody>
                    <a:bodyPr/>
                    <a:lstStyle/>
                    <a:p>
                      <a:pPr algn="just">
                        <a:lnSpc>
                          <a:spcPct val="106000"/>
                        </a:lnSpc>
                        <a:spcBef>
                          <a:spcPct val="0"/>
                        </a:spcBef>
                        <a:spcAft>
                          <a:spcPct val="0"/>
                        </a:spcAft>
                      </a:pPr>
                      <a:r>
                        <a:rPr sz="1600">
                          <a:solidFill>
                            <a:srgbClr val="000000"/>
                          </a:solidFill>
                          <a:latin typeface="Times New Roman" panose="02020603050405020304" pitchFamily="18" charset="0"/>
                          <a:ea typeface="Times New Roman" panose="02020603050405020304"/>
                          <a:cs typeface="Times New Roman" panose="02020603050405020304" pitchFamily="18" charset="0"/>
                        </a:rPr>
                        <a:t>Balances energy, improves data delivery</a:t>
                      </a:r>
                    </a:p>
                  </a:txBody>
                  <a:tcPr marL="68580" marR="68580" marT="0" marB="0"/>
                </a:tc>
                <a:extLst>
                  <a:ext uri="{0D108BD9-81ED-4DB2-BD59-A6C34878D82A}">
                    <a16:rowId xmlns:a16="http://schemas.microsoft.com/office/drawing/2014/main" val="10003"/>
                  </a:ext>
                </a:extLst>
              </a:tr>
              <a:tr h="1192530">
                <a:tc>
                  <a:txBody>
                    <a:bodyPr/>
                    <a:lstStyle/>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9</a:t>
                      </a:r>
                    </a:p>
                  </a:txBody>
                  <a:tcPr/>
                </a:tc>
                <a:tc>
                  <a:txBody>
                    <a:bodyPr/>
                    <a:lstStyle/>
                    <a:p>
                      <a:r>
                        <a:rPr lang="en-US" altLang="en-US" sz="1600" dirty="0">
                          <a:latin typeface="Times New Roman" panose="02020603050405020304" pitchFamily="18" charset="0"/>
                          <a:cs typeface="Times New Roman" panose="02020603050405020304" pitchFamily="18" charset="0"/>
                        </a:rPr>
                        <a:t>Slime mould</a:t>
                      </a:r>
                    </a:p>
                    <a:p>
                      <a:r>
                        <a:rPr lang="en-US" altLang="en-US" sz="1600" dirty="0">
                          <a:latin typeface="Times New Roman" panose="02020603050405020304" pitchFamily="18" charset="0"/>
                          <a:cs typeface="Times New Roman" panose="02020603050405020304" pitchFamily="18" charset="0"/>
                        </a:rPr>
                        <a:t>algorithm based fuzzy linear CFO estimation in wireless</a:t>
                      </a:r>
                    </a:p>
                    <a:p>
                      <a:r>
                        <a:rPr lang="en-US" altLang="en-US" sz="1600" dirty="0">
                          <a:latin typeface="Times New Roman" panose="02020603050405020304" pitchFamily="18" charset="0"/>
                          <a:cs typeface="Times New Roman" panose="02020603050405020304" pitchFamily="18" charset="0"/>
                        </a:rPr>
                        <a:t>sensor networks</a:t>
                      </a:r>
                    </a:p>
                  </a:txBody>
                  <a:tcPr/>
                </a:tc>
                <a:tc>
                  <a:txBody>
                    <a:bodyPr/>
                    <a:lstStyle/>
                    <a:p>
                      <a:pPr algn="just">
                        <a:lnSpc>
                          <a:spcPct val="106000"/>
                        </a:lnSpc>
                        <a:spcBef>
                          <a:spcPct val="0"/>
                        </a:spcBef>
                        <a:spcAft>
                          <a:spcPct val="0"/>
                        </a:spcAft>
                      </a:pPr>
                      <a:r>
                        <a:rPr sz="1600">
                          <a:solidFill>
                            <a:srgbClr val="000000"/>
                          </a:solidFill>
                          <a:latin typeface="Times New Roman" panose="02020603050405020304"/>
                          <a:ea typeface="Times New Roman" panose="02020603050405020304"/>
                        </a:rPr>
                        <a:t> 2023</a:t>
                      </a:r>
                    </a:p>
                  </a:txBody>
                  <a:tcPr marL="68580" marR="68580" marT="0" marB="0"/>
                </a:tc>
                <a:tc>
                  <a:txBody>
                    <a:bodyPr/>
                    <a:lstStyle/>
                    <a:p>
                      <a:pPr algn="just">
                        <a:lnSpc>
                          <a:spcPct val="106000"/>
                        </a:lnSpc>
                        <a:spcBef>
                          <a:spcPct val="0"/>
                        </a:spcBef>
                        <a:spcAft>
                          <a:spcPct val="0"/>
                        </a:spcAft>
                      </a:pPr>
                      <a:r>
                        <a:rPr sz="1600">
                          <a:solidFill>
                            <a:srgbClr val="000000"/>
                          </a:solidFill>
                          <a:latin typeface="Times New Roman" panose="02020603050405020304"/>
                          <a:ea typeface="Times New Roman" panose="02020603050405020304"/>
                        </a:rPr>
                        <a:t>Slime Mold Optimization</a:t>
                      </a:r>
                    </a:p>
                  </a:txBody>
                  <a:tcPr marL="68580" marR="68580" marT="0" marB="0"/>
                </a:tc>
                <a:tc>
                  <a:txBody>
                    <a:bodyPr/>
                    <a:lstStyle/>
                    <a:p>
                      <a:r>
                        <a:rPr lang="en-US" altLang="en-US" sz="1600">
                          <a:latin typeface="Times New Roman" panose="02020603050405020304" pitchFamily="18" charset="0"/>
                          <a:cs typeface="Times New Roman" panose="02020603050405020304" pitchFamily="18" charset="0"/>
                          <a:sym typeface="+mn-ea"/>
                        </a:rPr>
                        <a:t> </a:t>
                      </a:r>
                      <a:r>
                        <a:rPr lang="en-IN" altLang="en-US" sz="1600">
                          <a:latin typeface="Times New Roman" panose="02020603050405020304" pitchFamily="18" charset="0"/>
                          <a:cs typeface="Times New Roman" panose="02020603050405020304" pitchFamily="18" charset="0"/>
                          <a:sym typeface="+mn-ea"/>
                        </a:rPr>
                        <a:t>N</a:t>
                      </a:r>
                      <a:r>
                        <a:rPr lang="en-US" altLang="en-US" sz="1600" dirty="0">
                          <a:latin typeface="Times New Roman" panose="02020603050405020304" pitchFamily="18" charset="0"/>
                          <a:cs typeface="Times New Roman" panose="02020603050405020304" pitchFamily="18" charset="0"/>
                        </a:rPr>
                        <a:t>ode residual energy</a:t>
                      </a:r>
                    </a:p>
                  </a:txBody>
                  <a:tcPr/>
                </a:tc>
                <a:tc>
                  <a:txBody>
                    <a:bodyPr/>
                    <a:lstStyle/>
                    <a:p>
                      <a:pPr algn="just">
                        <a:lnSpc>
                          <a:spcPct val="106000"/>
                        </a:lnSpc>
                        <a:spcBef>
                          <a:spcPct val="0"/>
                        </a:spcBef>
                        <a:spcAft>
                          <a:spcPct val="0"/>
                        </a:spcAft>
                      </a:pPr>
                      <a:r>
                        <a:rPr sz="1600">
                          <a:solidFill>
                            <a:srgbClr val="000000"/>
                          </a:solidFill>
                          <a:latin typeface="Times New Roman" panose="02020603050405020304"/>
                          <a:ea typeface="Times New Roman" panose="02020603050405020304"/>
                        </a:rPr>
                        <a:t>Extends network life</a:t>
                      </a:r>
                    </a:p>
                  </a:txBody>
                  <a:tcPr marL="68580" marR="68580" marT="0" marB="0"/>
                </a:tc>
                <a:extLst>
                  <a:ext uri="{0D108BD9-81ED-4DB2-BD59-A6C34878D82A}">
                    <a16:rowId xmlns:a16="http://schemas.microsoft.com/office/drawing/2014/main" val="10004"/>
                  </a:ext>
                </a:extLst>
              </a:tr>
              <a:tr h="1355725">
                <a:tc>
                  <a:txBody>
                    <a:bodyPr/>
                    <a:lstStyle/>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10</a:t>
                      </a:r>
                    </a:p>
                  </a:txBody>
                  <a:tcPr/>
                </a:tc>
                <a:tc>
                  <a:txBody>
                    <a:bodyPr/>
                    <a:lstStyle/>
                    <a:p>
                      <a:pPr>
                        <a:buNone/>
                      </a:pPr>
                      <a:r>
                        <a:rPr lang="en-US" altLang="en-US" sz="1600" dirty="0">
                          <a:latin typeface="Times New Roman" panose="02020603050405020304" pitchFamily="18" charset="0"/>
                          <a:cs typeface="Times New Roman" panose="02020603050405020304" pitchFamily="18" charset="0"/>
                        </a:rPr>
                        <a:t>Multi-objective</a:t>
                      </a:r>
                      <a:r>
                        <a:rPr lang="en-IN" altLang="en-US"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derived energy efficient routing in wireless sensor networks using hybrid African vultures-cuckoo search optimization,</a:t>
                      </a:r>
                    </a:p>
                  </a:txBody>
                  <a:tcPr/>
                </a:tc>
                <a:tc>
                  <a:txBody>
                    <a:bodyPr/>
                    <a:lstStyle/>
                    <a:p>
                      <a:pPr algn="just">
                        <a:lnSpc>
                          <a:spcPct val="106000"/>
                        </a:lnSpc>
                        <a:spcBef>
                          <a:spcPct val="0"/>
                        </a:spcBef>
                        <a:spcAft>
                          <a:spcPct val="0"/>
                        </a:spcAft>
                      </a:pPr>
                      <a:r>
                        <a:rPr sz="1600">
                          <a:solidFill>
                            <a:srgbClr val="000000"/>
                          </a:solidFill>
                          <a:latin typeface="Times New Roman" panose="02020603050405020304"/>
                          <a:ea typeface="Times New Roman" panose="02020603050405020304"/>
                        </a:rPr>
                        <a:t> 2023</a:t>
                      </a:r>
                    </a:p>
                  </a:txBody>
                  <a:tcPr marL="68580" marR="68580" marT="0" marB="0"/>
                </a:tc>
                <a:tc>
                  <a:txBody>
                    <a:bodyPr/>
                    <a:lstStyle/>
                    <a:p>
                      <a:pPr algn="just">
                        <a:lnSpc>
                          <a:spcPct val="106000"/>
                        </a:lnSpc>
                        <a:spcBef>
                          <a:spcPct val="0"/>
                        </a:spcBef>
                        <a:spcAft>
                          <a:spcPct val="0"/>
                        </a:spcAft>
                      </a:pPr>
                      <a:r>
                        <a:rPr sz="1600">
                          <a:solidFill>
                            <a:srgbClr val="000000"/>
                          </a:solidFill>
                          <a:latin typeface="Times New Roman" panose="02020603050405020304"/>
                          <a:ea typeface="Times New Roman" panose="02020603050405020304"/>
                        </a:rPr>
                        <a:t>African Vulture + Cuckoo Search Optimization</a:t>
                      </a:r>
                    </a:p>
                  </a:txBody>
                  <a:tcPr marL="68580" marR="68580" marT="0" marB="0"/>
                </a:tc>
                <a:tc>
                  <a:txBody>
                    <a:bodyPr/>
                    <a:lstStyle/>
                    <a:p>
                      <a:pPr>
                        <a:buNone/>
                      </a:pPr>
                      <a:r>
                        <a:rPr lang="en-US" altLang="en-US" sz="1600" dirty="0">
                          <a:latin typeface="Times New Roman" panose="02020603050405020304" pitchFamily="18" charset="0"/>
                          <a:cs typeface="Times New Roman" panose="02020603050405020304" pitchFamily="18" charset="0"/>
                        </a:rPr>
                        <a:t>Residual energy, transmission range, link quality</a:t>
                      </a:r>
                    </a:p>
                  </a:txBody>
                  <a:tcPr/>
                </a:tc>
                <a:tc>
                  <a:txBody>
                    <a:bodyPr/>
                    <a:lstStyle/>
                    <a:p>
                      <a:pPr algn="just">
                        <a:lnSpc>
                          <a:spcPct val="106000"/>
                        </a:lnSpc>
                        <a:spcBef>
                          <a:spcPct val="0"/>
                        </a:spcBef>
                        <a:spcAft>
                          <a:spcPct val="0"/>
                        </a:spcAft>
                      </a:pPr>
                      <a:r>
                        <a:rPr sz="1600">
                          <a:solidFill>
                            <a:srgbClr val="000000"/>
                          </a:solidFill>
                          <a:latin typeface="Times New Roman" panose="02020603050405020304"/>
                          <a:ea typeface="Times New Roman" panose="02020603050405020304"/>
                        </a:rPr>
                        <a:t>High packet delivery ratio, stable data transmission</a:t>
                      </a:r>
                    </a:p>
                  </a:txBody>
                  <a:tcPr marL="68580" marR="68580" marT="0" marB="0"/>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1205" y="347660"/>
            <a:ext cx="10515600" cy="914400"/>
          </a:xfrm>
        </p:spPr>
        <p:txBody>
          <a:bodyPr>
            <a:normAutofit/>
          </a:bodyPr>
          <a:lstStyle/>
          <a:p>
            <a:pPr marL="457200" indent="-457200" algn="ctr"/>
            <a:r>
              <a:rPr lang="en-IN" altLang="en-US" sz="3200" b="1" dirty="0">
                <a:latin typeface="Times New Roman" panose="02020603050405020304" pitchFamily="18" charset="0"/>
                <a:cs typeface="Times New Roman" panose="02020603050405020304" pitchFamily="18" charset="0"/>
              </a:rPr>
              <a:t>4. </a:t>
            </a:r>
            <a:r>
              <a:rPr lang="en-US" sz="3200" b="1" dirty="0">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idx="1"/>
          </p:nvPr>
        </p:nvSpPr>
        <p:spPr>
          <a:xfrm>
            <a:off x="258476" y="1411025"/>
            <a:ext cx="10918794" cy="5211193"/>
          </a:xfrm>
        </p:spPr>
        <p:txBody>
          <a:bodyPr>
            <a:noAutofit/>
          </a:bodyPr>
          <a:lstStyle/>
          <a:p>
            <a:pPr algn="just"/>
            <a:r>
              <a:rPr lang="en-US" sz="1900" dirty="0">
                <a:latin typeface="Times New Roman" panose="02020603050405020304" pitchFamily="18" charset="0"/>
                <a:cs typeface="Times New Roman" panose="02020603050405020304" pitchFamily="18" charset="0"/>
                <a:sym typeface="+mn-ea"/>
              </a:rPr>
              <a:t>In this existing </a:t>
            </a:r>
            <a:r>
              <a:rPr lang="en-IN" altLang="en-US" sz="1900" dirty="0">
                <a:latin typeface="Times New Roman" panose="02020603050405020304" pitchFamily="18" charset="0"/>
                <a:cs typeface="Times New Roman" panose="02020603050405020304" pitchFamily="18" charset="0"/>
                <a:sym typeface="+mn-ea"/>
              </a:rPr>
              <a:t>the</a:t>
            </a:r>
            <a:r>
              <a:rPr lang="en-US" sz="1900" dirty="0">
                <a:latin typeface="Times New Roman" panose="02020603050405020304" pitchFamily="18" charset="0"/>
                <a:cs typeface="Times New Roman" panose="02020603050405020304" pitchFamily="18" charset="0"/>
                <a:sym typeface="+mn-ea"/>
              </a:rPr>
              <a:t> energy-efficient method which utilizes the Brainstorm algorithm in order to adopt the ideal CH to reduce energy-draining. </a:t>
            </a:r>
          </a:p>
          <a:p>
            <a:pPr algn="just"/>
            <a:r>
              <a:rPr lang="en-US" sz="1900" dirty="0">
                <a:latin typeface="Times New Roman" panose="02020603050405020304" pitchFamily="18" charset="0"/>
                <a:cs typeface="Times New Roman" panose="02020603050405020304" pitchFamily="18" charset="0"/>
                <a:sym typeface="+mn-ea"/>
              </a:rPr>
              <a:t>Further, the effectiveness of the Brain Storm Optimization (BSO) algorithm is enhanced with the incorporation of the Modified Teacher-Learner Optimized(MTLBO) algorithm with it. </a:t>
            </a:r>
          </a:p>
          <a:p>
            <a:pPr algn="just"/>
            <a:r>
              <a:rPr lang="en-US" sz="1900" dirty="0">
                <a:latin typeface="Times New Roman" panose="02020603050405020304" pitchFamily="18" charset="0"/>
                <a:cs typeface="Times New Roman" panose="02020603050405020304" pitchFamily="18" charset="0"/>
                <a:sym typeface="+mn-ea"/>
              </a:rPr>
              <a:t>The modified BSO-MTLBO algorithm can be used to attain an improved throughput, network lifetime, and to reduce the energy consumption by nodes and CH, death of sensor nodes, routing overhead. </a:t>
            </a:r>
            <a:endParaRPr lang="en-US" sz="1900" dirty="0">
              <a:solidFill>
                <a:schemeClr val="tx1"/>
              </a:solidFill>
              <a:latin typeface="Times New Roman" panose="02020603050405020304" pitchFamily="18" charset="0"/>
              <a:cs typeface="Times New Roman" panose="02020603050405020304" pitchFamily="18" charset="0"/>
            </a:endParaRPr>
          </a:p>
          <a:p>
            <a:pPr algn="just"/>
            <a:r>
              <a:rPr lang="en-US" sz="1900" dirty="0">
                <a:latin typeface="Times New Roman" panose="02020603050405020304" pitchFamily="18" charset="0"/>
                <a:cs typeface="Times New Roman" panose="02020603050405020304" pitchFamily="18" charset="0"/>
                <a:sym typeface="+mn-ea"/>
              </a:rPr>
              <a:t>People from different background are grouped together Produce a maximum number of ideas corresponding to the above norms Analyze the problem to select the best ideas</a:t>
            </a:r>
            <a:r>
              <a:rPr lang="en-IN" altLang="en-US" sz="1900" dirty="0">
                <a:latin typeface="Times New Roman" panose="02020603050405020304" pitchFamily="18" charset="0"/>
                <a:cs typeface="Times New Roman" panose="02020603050405020304" pitchFamily="18" charset="0"/>
                <a:sym typeface="+mn-ea"/>
              </a:rPr>
              <a:t>.</a:t>
            </a:r>
          </a:p>
          <a:p>
            <a:pPr algn="just"/>
            <a:r>
              <a:rPr lang="en-US" altLang="en-US" sz="2000">
                <a:latin typeface="Times New Roman" panose="02020603050405020304" pitchFamily="18" charset="0"/>
                <a:cs typeface="Times New Roman" panose="02020603050405020304" pitchFamily="18" charset="0"/>
              </a:rPr>
              <a:t>The BSO algorithm is exploited to form the clusters of effective sensor nodes</a:t>
            </a:r>
            <a:r>
              <a:rPr lang="en-US" altLang="en-US" sz="1900">
                <a:latin typeface="Times New Roman" panose="02020603050405020304" pitchFamily="18" charset="0"/>
                <a:cs typeface="Times New Roman" panose="02020603050405020304" pitchFamily="18" charset="0"/>
              </a:rPr>
              <a:t>The TLBO algorithm is used to fine-tune the parameters of BSO for a better selection of CH</a:t>
            </a:r>
            <a:r>
              <a:rPr lang="en-IN" altLang="en-US" sz="1900">
                <a:latin typeface="Times New Roman" panose="02020603050405020304" pitchFamily="18" charset="0"/>
                <a:cs typeface="Times New Roman" panose="02020603050405020304" pitchFamily="18" charset="0"/>
              </a:rPr>
              <a:t>.</a:t>
            </a:r>
          </a:p>
          <a:p>
            <a:pPr algn="just"/>
            <a:r>
              <a:rPr lang="en-US" altLang="en-US" sz="1900">
                <a:latin typeface="Times New Roman" panose="02020603050405020304" pitchFamily="18" charset="0"/>
                <a:cs typeface="Times New Roman" panose="02020603050405020304" pitchFamily="18" charset="0"/>
              </a:rPr>
              <a:t> The fitness functions used in the ranking phase are used to improve the energy efficiency of the system. optimal routing is selected by the modified BSO algorithm.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7276"/>
            <a:ext cx="10515600" cy="773612"/>
          </a:xfrm>
          <a:ln>
            <a:noFill/>
          </a:ln>
        </p:spPr>
        <p:txBody>
          <a:bodyPr>
            <a:noAutofit/>
          </a:bodyPr>
          <a:lstStyle/>
          <a:p>
            <a:r>
              <a:rPr lang="en-US" sz="3200" b="1" dirty="0">
                <a:latin typeface="Times New Roman" panose="02020603050405020304" pitchFamily="18" charset="0"/>
                <a:cs typeface="Times New Roman" panose="02020603050405020304" pitchFamily="18" charset="0"/>
              </a:rPr>
              <a:t>              </a:t>
            </a:r>
            <a:r>
              <a:rPr lang="en-IN" altLang="en-US" sz="3200" b="1" dirty="0">
                <a:latin typeface="Times New Roman" panose="02020603050405020304" pitchFamily="18" charset="0"/>
                <a:cs typeface="Times New Roman" panose="02020603050405020304" pitchFamily="18" charset="0"/>
              </a:rPr>
              <a:t>5. </a:t>
            </a:r>
            <a:r>
              <a:rPr lang="en-US" sz="3200" b="1" dirty="0">
                <a:latin typeface="Times New Roman" panose="02020603050405020304" pitchFamily="18" charset="0"/>
                <a:cs typeface="Times New Roman" panose="02020603050405020304" pitchFamily="18" charset="0"/>
              </a:rPr>
              <a:t>EXISTING SYSTEM BLOCK DIAGRAM</a:t>
            </a:r>
            <a:br>
              <a:rPr lang="en-US" sz="3200" b="1" dirty="0">
                <a:latin typeface="Times New Roman" panose="02020603050405020304" pitchFamily="18" charset="0"/>
                <a:cs typeface="Times New Roman" panose="02020603050405020304" pitchFamily="18" charset="0"/>
              </a:rPr>
            </a:br>
            <a:endParaRPr lang="en-IN" sz="2400" b="1" dirty="0">
              <a:latin typeface="Times New Roman" panose="02020603050405020304" pitchFamily="18" charset="0"/>
              <a:cs typeface="Times New Roman" panose="02020603050405020304" pitchFamily="18" charset="0"/>
            </a:endParaRPr>
          </a:p>
        </p:txBody>
      </p:sp>
      <p:sp>
        <p:nvSpPr>
          <p:cNvPr id="4" name="Text Box 3"/>
          <p:cNvSpPr txBox="1"/>
          <p:nvPr/>
        </p:nvSpPr>
        <p:spPr>
          <a:xfrm>
            <a:off x="538480" y="996463"/>
            <a:ext cx="11115040" cy="909320"/>
          </a:xfrm>
          <a:prstGeom prst="rect">
            <a:avLst/>
          </a:prstGeom>
          <a:noFill/>
        </p:spPr>
        <p:txBody>
          <a:bodyPr wrap="square" rtlCol="0" anchor="t">
            <a:noAutofit/>
          </a:bodyPr>
          <a:lstStyle/>
          <a:p>
            <a:pPr algn="ctr"/>
            <a:r>
              <a:rPr lang="en-US" sz="2000" b="1" dirty="0">
                <a:latin typeface="Times New Roman" panose="02020603050405020304" pitchFamily="18" charset="0"/>
                <a:cs typeface="Times New Roman" panose="02020603050405020304" pitchFamily="18" charset="0"/>
                <a:sym typeface="+mn-ea"/>
              </a:rPr>
              <a:t>Energy Efficient Cluster based Routing Protocol for WSN based on Hybrid BSO-TLBO Optimization Model</a:t>
            </a:r>
          </a:p>
        </p:txBody>
      </p:sp>
      <p:sp>
        <p:nvSpPr>
          <p:cNvPr id="3" name="Text Box 2"/>
          <p:cNvSpPr txBox="1"/>
          <p:nvPr/>
        </p:nvSpPr>
        <p:spPr>
          <a:xfrm>
            <a:off x="2887836" y="5676871"/>
            <a:ext cx="7422515" cy="368300"/>
          </a:xfrm>
          <a:prstGeom prst="rect">
            <a:avLst/>
          </a:prstGeom>
          <a:noFill/>
        </p:spPr>
        <p:txBody>
          <a:bodyPr wrap="square" rtlCol="0">
            <a:spAutoFit/>
          </a:bodyPr>
          <a:lstStyle/>
          <a:p>
            <a:r>
              <a:rPr lang="en-IN" altLang="en-US" dirty="0"/>
              <a:t>Figure 2 :Block diagram of </a:t>
            </a:r>
            <a:r>
              <a:rPr lang="en-US" sz="1800" dirty="0">
                <a:latin typeface="Times New Roman" panose="02020603050405020304" pitchFamily="18" charset="0"/>
                <a:cs typeface="Times New Roman" panose="02020603050405020304" pitchFamily="18" charset="0"/>
                <a:sym typeface="+mn-ea"/>
              </a:rPr>
              <a:t>Hybrid BSO-TLBO Optimization Model</a:t>
            </a:r>
            <a:endParaRPr lang="en-IN" altLang="en-US" dirty="0"/>
          </a:p>
        </p:txBody>
      </p:sp>
      <p:pic>
        <p:nvPicPr>
          <p:cNvPr id="9" name="Picture 8"/>
          <p:cNvPicPr>
            <a:picLocks noChangeAspect="1"/>
          </p:cNvPicPr>
          <p:nvPr/>
        </p:nvPicPr>
        <p:blipFill>
          <a:blip r:embed="rId2"/>
          <a:stretch>
            <a:fillRect/>
          </a:stretch>
        </p:blipFill>
        <p:spPr>
          <a:xfrm>
            <a:off x="123825" y="1697990"/>
            <a:ext cx="11944350" cy="35718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3720" y="817245"/>
            <a:ext cx="10515600" cy="6159500"/>
          </a:xfrm>
        </p:spPr>
        <p:txBody>
          <a:bodyPr>
            <a:noAutofit/>
          </a:bodyPr>
          <a:lstStyle/>
          <a:p>
            <a:pPr marL="342900" indent="-342900">
              <a:buAutoNum type="arabicPeriod"/>
            </a:pPr>
            <a:r>
              <a:rPr lang="en-US" altLang="en-US" sz="1600" b="1" dirty="0">
                <a:latin typeface="Times New Roman" panose="02020603050405020304" pitchFamily="18" charset="0"/>
                <a:cs typeface="Times New Roman" panose="02020603050405020304" pitchFamily="18" charset="0"/>
              </a:rPr>
              <a:t>Sensor Node Development</a:t>
            </a:r>
            <a:r>
              <a:rPr lang="en-US" altLang="en-US" sz="1600" dirty="0">
                <a:latin typeface="Times New Roman" panose="02020603050405020304" pitchFamily="18" charset="0"/>
                <a:cs typeface="Times New Roman" panose="02020603050405020304" pitchFamily="18" charset="0"/>
              </a:rPr>
              <a:t>: This phase involves the deployment of sensor nodes in the test area. </a:t>
            </a:r>
            <a:r>
              <a:rPr lang="en-US" altLang="en-US" sz="1600" dirty="0" err="1">
                <a:latin typeface="Times New Roman" panose="02020603050405020304" pitchFamily="18" charset="0"/>
                <a:cs typeface="Times New Roman" panose="02020603050405020304" pitchFamily="18" charset="0"/>
              </a:rPr>
              <a:t>Te</a:t>
            </a:r>
            <a:r>
              <a:rPr lang="en-IN" altLang="en-US" sz="1600" dirty="0" err="1">
                <a:latin typeface="Times New Roman" panose="02020603050405020304" pitchFamily="18" charset="0"/>
                <a:cs typeface="Times New Roman" panose="02020603050405020304" pitchFamily="18" charset="0"/>
              </a:rPr>
              <a:t>st</a:t>
            </a:r>
            <a:r>
              <a:rPr lang="en-IN" altLang="en-US" sz="1600" dirty="0">
                <a:latin typeface="Times New Roman" panose="02020603050405020304" pitchFamily="18" charset="0"/>
                <a:cs typeface="Times New Roman" panose="02020603050405020304" pitchFamily="18" charset="0"/>
              </a:rPr>
              <a:t> area which will check the active</a:t>
            </a:r>
            <a:r>
              <a:rPr lang="en-US" altLang="en-US" sz="1600" dirty="0">
                <a:latin typeface="Times New Roman" panose="02020603050405020304" pitchFamily="18" charset="0"/>
                <a:cs typeface="Times New Roman" panose="02020603050405020304" pitchFamily="18" charset="0"/>
              </a:rPr>
              <a:t> nodes to collect data and communication modules to transmit data to other nodes and the base station (BS).</a:t>
            </a:r>
          </a:p>
          <a:p>
            <a:pPr marL="342900" indent="-342900">
              <a:buAutoNum type="arabicPeriod"/>
            </a:pPr>
            <a:r>
              <a:rPr lang="en-US" altLang="en-US" sz="1600" b="1" dirty="0">
                <a:latin typeface="Times New Roman" panose="02020603050405020304" pitchFamily="18" charset="0"/>
                <a:cs typeface="Times New Roman" panose="02020603050405020304" pitchFamily="18" charset="0"/>
              </a:rPr>
              <a:t>Application of Modified BSO Algorithm:</a:t>
            </a:r>
            <a:r>
              <a:rPr lang="en-US" altLang="en-US" sz="1600" dirty="0">
                <a:latin typeface="Times New Roman" panose="02020603050405020304" pitchFamily="18" charset="0"/>
                <a:cs typeface="Times New Roman" panose="02020603050405020304" pitchFamily="18" charset="0"/>
              </a:rPr>
              <a:t> The B</a:t>
            </a:r>
            <a:r>
              <a:rPr lang="en-IN" altLang="en-US" sz="1600" dirty="0">
                <a:latin typeface="Times New Roman" panose="02020603050405020304" pitchFamily="18" charset="0"/>
                <a:cs typeface="Times New Roman" panose="02020603050405020304" pitchFamily="18" charset="0"/>
              </a:rPr>
              <a:t>rain</a:t>
            </a:r>
            <a:r>
              <a:rPr lang="en-US" altLang="en-US" sz="1600" dirty="0">
                <a:latin typeface="Times New Roman" panose="02020603050405020304" pitchFamily="18" charset="0"/>
                <a:cs typeface="Times New Roman" panose="02020603050405020304" pitchFamily="18" charset="0"/>
              </a:rPr>
              <a:t> S</a:t>
            </a:r>
            <a:r>
              <a:rPr lang="en-IN" altLang="en-US" sz="1600" dirty="0" err="1">
                <a:latin typeface="Times New Roman" panose="02020603050405020304" pitchFamily="18" charset="0"/>
                <a:cs typeface="Times New Roman" panose="02020603050405020304" pitchFamily="18" charset="0"/>
              </a:rPr>
              <a:t>torm</a:t>
            </a:r>
            <a:r>
              <a:rPr lang="en-US" altLang="en-US" sz="1600" dirty="0">
                <a:latin typeface="Times New Roman" panose="02020603050405020304" pitchFamily="18" charset="0"/>
                <a:cs typeface="Times New Roman" panose="02020603050405020304" pitchFamily="18" charset="0"/>
              </a:rPr>
              <a:t> Optimization (BSO) algorithm is applied </a:t>
            </a:r>
            <a:r>
              <a:rPr lang="en-IN" altLang="en-US" sz="1600" dirty="0">
                <a:latin typeface="Times New Roman" panose="02020603050405020304" pitchFamily="18" charset="0"/>
                <a:cs typeface="Times New Roman" panose="02020603050405020304" pitchFamily="18" charset="0"/>
              </a:rPr>
              <a:t>on the test area</a:t>
            </a:r>
            <a:r>
              <a:rPr lang="en-US" altLang="en-US" sz="1600" dirty="0">
                <a:latin typeface="Times New Roman" panose="02020603050405020304" pitchFamily="18" charset="0"/>
                <a:cs typeface="Times New Roman" panose="02020603050405020304" pitchFamily="18" charset="0"/>
              </a:rPr>
              <a:t>.</a:t>
            </a:r>
            <a:r>
              <a:rPr lang="en-IN" altLang="en-US" sz="1600" dirty="0">
                <a:latin typeface="Times New Roman" panose="02020603050405020304" pitchFamily="18" charset="0"/>
                <a:cs typeface="Times New Roman" panose="02020603050405020304" pitchFamily="18" charset="0"/>
              </a:rPr>
              <a:t>By clustering phase it will check energy of each nodes in the network for better selection of cluster head.</a:t>
            </a:r>
          </a:p>
          <a:p>
            <a:pPr marL="342900" indent="-342900">
              <a:buAutoNum type="arabicPeriod"/>
            </a:pPr>
            <a:r>
              <a:rPr lang="en-US" altLang="en-US" sz="1600" b="1" dirty="0">
                <a:latin typeface="Times New Roman" panose="02020603050405020304" pitchFamily="18" charset="0"/>
                <a:cs typeface="Times New Roman" panose="02020603050405020304" pitchFamily="18" charset="0"/>
              </a:rPr>
              <a:t>Teacher-Learner Phase:</a:t>
            </a:r>
            <a:r>
              <a:rPr lang="en-US" altLang="en-US" sz="1600" dirty="0">
                <a:latin typeface="Times New Roman" panose="02020603050405020304" pitchFamily="18" charset="0"/>
                <a:cs typeface="Times New Roman" panose="02020603050405020304" pitchFamily="18" charset="0"/>
              </a:rPr>
              <a:t> It involves a learning process where nodes learn from each other to improve their fitness values. The fitness function is likely based on factors like energy consumption, data transmission distance, and network coverage.</a:t>
            </a:r>
          </a:p>
          <a:p>
            <a:pPr marL="342900" indent="-342900">
              <a:buAutoNum type="arabicPeriod"/>
            </a:pPr>
            <a:r>
              <a:rPr lang="en-US" altLang="en-US" sz="1600" b="1" dirty="0">
                <a:latin typeface="Times New Roman" panose="02020603050405020304" pitchFamily="18" charset="0"/>
                <a:cs typeface="Times New Roman" panose="02020603050405020304" pitchFamily="18" charset="0"/>
              </a:rPr>
              <a:t>Ranking Phase:</a:t>
            </a:r>
            <a:r>
              <a:rPr lang="en-US" altLang="en-US" sz="1600" dirty="0">
                <a:latin typeface="Times New Roman" panose="02020603050405020304" pitchFamily="18" charset="0"/>
                <a:cs typeface="Times New Roman" panose="02020603050405020304" pitchFamily="18" charset="0"/>
              </a:rPr>
              <a:t> In this phase, nodes are ranked based on their fitness values. Nodes with higher fitness values are more likely to be selected as CHs.</a:t>
            </a:r>
          </a:p>
          <a:p>
            <a:pPr marL="342900" indent="-342900">
              <a:buAutoNum type="arabicPeriod"/>
            </a:pPr>
            <a:r>
              <a:rPr lang="en-US" altLang="en-US" sz="1600" b="1" dirty="0">
                <a:latin typeface="Times New Roman" panose="02020603050405020304" pitchFamily="18" charset="0"/>
                <a:cs typeface="Times New Roman" panose="02020603050405020304" pitchFamily="18" charset="0"/>
              </a:rPr>
              <a:t>Estimation of Fitness Function: </a:t>
            </a:r>
            <a:r>
              <a:rPr lang="en-US" altLang="en-US" sz="1600" dirty="0">
                <a:latin typeface="Times New Roman" panose="02020603050405020304" pitchFamily="18" charset="0"/>
                <a:cs typeface="Times New Roman" panose="02020603050405020304" pitchFamily="18" charset="0"/>
              </a:rPr>
              <a:t>The fitness function is estimated using various parameters, including residual energy, node degree (number of neighbors), node centrality (importance in the network), distance between nodes, and distance between the CH and the BS.</a:t>
            </a:r>
          </a:p>
          <a:p>
            <a:pPr marL="342900" indent="-342900">
              <a:buAutoNum type="arabicPeriod"/>
            </a:pPr>
            <a:r>
              <a:rPr lang="en-US" altLang="en-US" sz="1600" b="1" dirty="0">
                <a:latin typeface="Times New Roman" panose="02020603050405020304" pitchFamily="18" charset="0"/>
                <a:cs typeface="Times New Roman" panose="02020603050405020304" pitchFamily="18" charset="0"/>
              </a:rPr>
              <a:t>Node Allocation:</a:t>
            </a:r>
            <a:r>
              <a:rPr lang="en-US" altLang="en-US" sz="1600" dirty="0">
                <a:latin typeface="Times New Roman" panose="02020603050405020304" pitchFamily="18" charset="0"/>
                <a:cs typeface="Times New Roman" panose="02020603050405020304" pitchFamily="18" charset="0"/>
              </a:rPr>
              <a:t> Based on the fitness values, nodes are allocated to clusters. Nodes with higher fitness values are more likely to be selected as CHs.</a:t>
            </a:r>
          </a:p>
          <a:p>
            <a:pPr marL="342900" indent="-342900">
              <a:buAutoNum type="arabicPeriod"/>
            </a:pPr>
            <a:r>
              <a:rPr lang="en-US" altLang="en-US" sz="1600" b="1" dirty="0">
                <a:latin typeface="Times New Roman" panose="02020603050405020304" pitchFamily="18" charset="0"/>
                <a:cs typeface="Times New Roman" panose="02020603050405020304" pitchFamily="18" charset="0"/>
              </a:rPr>
              <a:t>Optimal CH Selection:</a:t>
            </a:r>
            <a:r>
              <a:rPr lang="en-US" altLang="en-US" sz="1600" dirty="0">
                <a:latin typeface="Times New Roman" panose="02020603050405020304" pitchFamily="18" charset="0"/>
                <a:cs typeface="Times New Roman" panose="02020603050405020304" pitchFamily="18" charset="0"/>
              </a:rPr>
              <a:t> If the weight of the fitness function of a sensor node is higher, it is selected as the CH. Otherwise, it becomes a non-CH node.</a:t>
            </a:r>
          </a:p>
          <a:p>
            <a:pPr marL="342900" indent="-342900">
              <a:buAutoNum type="arabicPeriod"/>
            </a:pPr>
            <a:r>
              <a:rPr lang="en-US" altLang="en-US" sz="1600" b="1" dirty="0">
                <a:latin typeface="Times New Roman" panose="02020603050405020304" pitchFamily="18" charset="0"/>
                <a:cs typeface="Times New Roman" panose="02020603050405020304" pitchFamily="18" charset="0"/>
              </a:rPr>
              <a:t>Data Transfer to BS:</a:t>
            </a:r>
            <a:r>
              <a:rPr lang="en-US" altLang="en-US" sz="1600" dirty="0">
                <a:latin typeface="Times New Roman" panose="02020603050405020304" pitchFamily="18" charset="0"/>
                <a:cs typeface="Times New Roman" panose="02020603050405020304" pitchFamily="18" charset="0"/>
              </a:rPr>
              <a:t> Once the clusters are formed and CHs are selected, data is collected from sensor nodes and forwarded to the base station through the CHs.</a:t>
            </a:r>
          </a:p>
        </p:txBody>
      </p:sp>
      <p:sp>
        <p:nvSpPr>
          <p:cNvPr id="5" name="Text Box 4"/>
          <p:cNvSpPr txBox="1"/>
          <p:nvPr/>
        </p:nvSpPr>
        <p:spPr>
          <a:xfrm>
            <a:off x="4668520" y="132080"/>
            <a:ext cx="4064000" cy="583565"/>
          </a:xfrm>
          <a:prstGeom prst="rect">
            <a:avLst/>
          </a:prstGeom>
          <a:noFill/>
        </p:spPr>
        <p:txBody>
          <a:bodyPr wrap="square" rtlCol="0">
            <a:spAutoFit/>
          </a:bodyPr>
          <a:lstStyle/>
          <a:p>
            <a:r>
              <a:rPr lang="en-IN" altLang="en-US" sz="3200" b="1">
                <a:latin typeface="Times New Roman" panose="02020603050405020304" pitchFamily="18" charset="0"/>
                <a:cs typeface="Times New Roman" panose="02020603050405020304" pitchFamily="18" charset="0"/>
              </a:rPr>
              <a:t>IT’S WORKING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0819"/>
            <a:ext cx="10515600" cy="683581"/>
          </a:xfrm>
        </p:spPr>
        <p:txBody>
          <a:bodyPr>
            <a:normAutofit/>
          </a:bodyPr>
          <a:lstStyle/>
          <a:p>
            <a:pPr algn="ctr"/>
            <a:r>
              <a:rPr lang="en-IN" altLang="en-US" sz="3000" b="1" dirty="0">
                <a:latin typeface="Times New Roman" panose="02020603050405020304" pitchFamily="18" charset="0"/>
                <a:cs typeface="Times New Roman" panose="02020603050405020304" pitchFamily="18" charset="0"/>
              </a:rPr>
              <a:t>6.</a:t>
            </a:r>
            <a:r>
              <a:rPr lang="en-US" sz="3000" b="1"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EXISITING SYSTEM  DRAWBACKS</a:t>
            </a:r>
            <a:endParaRPr lang="en-IN"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94316" y="1383665"/>
            <a:ext cx="10901039" cy="5031604"/>
          </a:xfrm>
        </p:spPr>
        <p:txBody>
          <a:bodyPr>
            <a:noAutofit/>
          </a:bodyPr>
          <a:lstStyle/>
          <a:p>
            <a:pPr marL="342900" indent="-342900">
              <a:buAutoNum type="arabicPeriod"/>
            </a:pPr>
            <a:r>
              <a:rPr lang="en-US" altLang="en-US" sz="2000">
                <a:latin typeface="Times New Roman" panose="02020603050405020304" pitchFamily="18" charset="0"/>
                <a:cs typeface="Times New Roman" panose="02020603050405020304" pitchFamily="18" charset="0"/>
              </a:rPr>
              <a:t>High Computational Complexity</a:t>
            </a:r>
          </a:p>
          <a:p>
            <a:pPr marL="342900" indent="-342900">
              <a:buAutoNum type="arabicPeriod"/>
            </a:pPr>
            <a:r>
              <a:rPr lang="en-US" altLang="en-US" sz="2000">
                <a:latin typeface="Times New Roman" panose="02020603050405020304" pitchFamily="18" charset="0"/>
                <a:cs typeface="Times New Roman" panose="02020603050405020304" pitchFamily="18" charset="0"/>
              </a:rPr>
              <a:t>Energy Imbalance</a:t>
            </a:r>
          </a:p>
          <a:p>
            <a:pPr marL="342900" indent="-342900">
              <a:buAutoNum type="arabicPeriod"/>
            </a:pPr>
            <a:r>
              <a:rPr lang="en-US" altLang="en-US" sz="2000">
                <a:latin typeface="Times New Roman" panose="02020603050405020304" pitchFamily="18" charset="0"/>
                <a:cs typeface="Times New Roman" panose="02020603050405020304" pitchFamily="18" charset="0"/>
              </a:rPr>
              <a:t>Limited </a:t>
            </a:r>
            <a:r>
              <a:rPr lang="en-IN" altLang="en-US" sz="2000">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rPr>
              <a:t>Scalability</a:t>
            </a:r>
          </a:p>
          <a:p>
            <a:pPr marL="342900" indent="-342900">
              <a:buAutoNum type="arabicPeriod"/>
            </a:pPr>
            <a:r>
              <a:rPr lang="en-US" altLang="en-US" sz="2000">
                <a:latin typeface="Times New Roman" panose="02020603050405020304" pitchFamily="18" charset="0"/>
                <a:cs typeface="Times New Roman" panose="02020603050405020304" pitchFamily="18" charset="0"/>
              </a:rPr>
              <a:t> Potential Convergence Issues</a:t>
            </a:r>
          </a:p>
          <a:p>
            <a:pPr marL="342900" indent="-342900">
              <a:buAutoNum type="arabicPeriod"/>
            </a:pPr>
            <a:r>
              <a:rPr lang="en-IN" altLang="en-US" sz="2000">
                <a:latin typeface="Times New Roman" panose="02020603050405020304" pitchFamily="18" charset="0"/>
                <a:cs typeface="Times New Roman" panose="02020603050405020304" pitchFamily="18" charset="0"/>
                <a:sym typeface="+mn-ea"/>
              </a:rPr>
              <a:t>It takes more amount of looping period when compare with HOEEACR</a:t>
            </a:r>
            <a:endParaRPr lang="en-US" altLang="en-US" sz="2000">
              <a:latin typeface="Times New Roman" panose="02020603050405020304" pitchFamily="18" charset="0"/>
              <a:cs typeface="Times New Roman" panose="02020603050405020304" pitchFamily="18" charset="0"/>
            </a:endParaRPr>
          </a:p>
          <a:p>
            <a:pPr marL="342900" indent="-342900">
              <a:buAutoNum type="arabicPeriod"/>
            </a:pPr>
            <a:r>
              <a:rPr lang="en-US" altLang="en-US" sz="2000">
                <a:latin typeface="Times New Roman" panose="02020603050405020304" pitchFamily="18" charset="0"/>
                <a:cs typeface="Times New Roman" panose="02020603050405020304" pitchFamily="18" charset="0"/>
              </a:rPr>
              <a:t>Increased Communication Overhead</a:t>
            </a:r>
          </a:p>
          <a:p>
            <a:pPr marL="0" indent="0">
              <a:buNone/>
            </a:pPr>
            <a:r>
              <a:rPr lang="en-IN" altLang="en-US" sz="2000">
                <a:latin typeface="Times New Roman" panose="02020603050405020304" pitchFamily="18" charset="0"/>
                <a:cs typeface="Times New Roman" panose="02020603050405020304" pitchFamily="18" charset="0"/>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7268"/>
            <a:ext cx="10515600" cy="769433"/>
          </a:xfrm>
        </p:spPr>
        <p:txBody>
          <a:bodyPr>
            <a:normAutofit fontScale="90000"/>
          </a:bodyPr>
          <a:lstStyle/>
          <a:p>
            <a:pPr marL="457200" indent="-457200" algn="ctr"/>
            <a:r>
              <a:rPr lang="en-IN" altLang="en-US" sz="3200" b="1" dirty="0">
                <a:latin typeface="Times New Roman" panose="02020603050405020304" pitchFamily="18" charset="0"/>
                <a:cs typeface="Times New Roman" panose="02020603050405020304" pitchFamily="18" charset="0"/>
              </a:rPr>
              <a:t>7. </a:t>
            </a:r>
            <a:r>
              <a:rPr lang="en-US" sz="3200" b="1" dirty="0">
                <a:latin typeface="Times New Roman" panose="02020603050405020304" pitchFamily="18" charset="0"/>
                <a:cs typeface="Times New Roman" panose="02020603050405020304" pitchFamily="18" charset="0"/>
              </a:rPr>
              <a:t>PROPOSED SYSTEM NECESSITY</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(Problem Identification)</a:t>
            </a:r>
          </a:p>
        </p:txBody>
      </p:sp>
      <p:sp>
        <p:nvSpPr>
          <p:cNvPr id="3" name="Content Placeholder 2"/>
          <p:cNvSpPr>
            <a:spLocks noGrp="1"/>
          </p:cNvSpPr>
          <p:nvPr>
            <p:ph idx="1"/>
          </p:nvPr>
        </p:nvSpPr>
        <p:spPr>
          <a:xfrm>
            <a:off x="628650" y="962025"/>
            <a:ext cx="10867933" cy="5199079"/>
          </a:xfrm>
        </p:spPr>
        <p:txBody>
          <a:bodyPr>
            <a:noAutofit/>
          </a:bodyPr>
          <a:lstStyle/>
          <a:p>
            <a:pPr algn="just">
              <a:buFont typeface="Wingdings" panose="05000000000000000000" charset="0"/>
              <a:buChar char="Ø"/>
            </a:pPr>
            <a:r>
              <a:rPr lang="en-US" altLang="en-US" sz="2000" b="1" dirty="0">
                <a:latin typeface="Times New Roman" panose="02020603050405020304" pitchFamily="18" charset="0"/>
                <a:cs typeface="Times New Roman" panose="02020603050405020304" pitchFamily="18" charset="0"/>
              </a:rPr>
              <a:t>Problem Identification:</a:t>
            </a:r>
            <a:endParaRPr lang="en-US" altLang="en-US" sz="2000" dirty="0">
              <a:latin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cs typeface="Times New Roman" panose="02020603050405020304" pitchFamily="18" charset="0"/>
              </a:rPr>
              <a:t>Energy Scarcity in </a:t>
            </a:r>
            <a:r>
              <a:rPr lang="en-US" altLang="en-US" sz="2000" b="1" dirty="0" err="1">
                <a:latin typeface="Times New Roman" panose="02020603050405020304" pitchFamily="18" charset="0"/>
                <a:cs typeface="Times New Roman" panose="02020603050405020304" pitchFamily="18" charset="0"/>
              </a:rPr>
              <a:t>WSNs:</a:t>
            </a:r>
            <a:r>
              <a:rPr lang="en-US" altLang="en-US" sz="2000" dirty="0" err="1">
                <a:latin typeface="Times New Roman" panose="02020603050405020304" pitchFamily="18" charset="0"/>
                <a:cs typeface="Times New Roman" panose="02020603050405020304" pitchFamily="18" charset="0"/>
              </a:rPr>
              <a:t>Wireless</a:t>
            </a:r>
            <a:r>
              <a:rPr lang="en-US" altLang="en-US" sz="2000" dirty="0">
                <a:latin typeface="Times New Roman" panose="02020603050405020304" pitchFamily="18" charset="0"/>
                <a:cs typeface="Times New Roman" panose="02020603050405020304" pitchFamily="18" charset="0"/>
              </a:rPr>
              <a:t> Sensor Networks (WSNs) are heavily constrained by limited energy resources, making energy management crucial for extending network lifetime.</a:t>
            </a:r>
          </a:p>
          <a:p>
            <a:pPr algn="just"/>
            <a:endParaRPr lang="en-US" altLang="en-US" sz="2000" dirty="0">
              <a:latin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cs typeface="Times New Roman" panose="02020603050405020304" pitchFamily="18" charset="0"/>
              </a:rPr>
              <a:t>Inefficient Data </a:t>
            </a:r>
            <a:r>
              <a:rPr lang="en-US" altLang="en-US" sz="2000" b="1" dirty="0" err="1">
                <a:latin typeface="Times New Roman" panose="02020603050405020304" pitchFamily="18" charset="0"/>
                <a:cs typeface="Times New Roman" panose="02020603050405020304" pitchFamily="18" charset="0"/>
              </a:rPr>
              <a:t>Transmission:</a:t>
            </a:r>
            <a:r>
              <a:rPr lang="en-US" altLang="en-US" sz="2000" dirty="0" err="1">
                <a:latin typeface="Times New Roman" panose="02020603050405020304" pitchFamily="18" charset="0"/>
                <a:cs typeface="Times New Roman" panose="02020603050405020304" pitchFamily="18" charset="0"/>
              </a:rPr>
              <a:t>Existing</a:t>
            </a:r>
            <a:r>
              <a:rPr lang="en-US" altLang="en-US" sz="2000" dirty="0">
                <a:latin typeface="Times New Roman" panose="02020603050405020304" pitchFamily="18" charset="0"/>
                <a:cs typeface="Times New Roman" panose="02020603050405020304" pitchFamily="18" charset="0"/>
              </a:rPr>
              <a:t> routing and clustering methods often fail to optimize energy consumption effectively, leading to unbalanced energy usage and reduced network performance.</a:t>
            </a:r>
          </a:p>
          <a:p>
            <a:pPr algn="just"/>
            <a:endParaRPr lang="en-US" altLang="en-US" sz="2000" dirty="0">
              <a:latin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cs typeface="Times New Roman" panose="02020603050405020304" pitchFamily="18" charset="0"/>
              </a:rPr>
              <a:t>Challenges in </a:t>
            </a:r>
            <a:r>
              <a:rPr lang="en-US" altLang="en-US" sz="2000" b="1" dirty="0" err="1">
                <a:latin typeface="Times New Roman" panose="02020603050405020304" pitchFamily="18" charset="0"/>
                <a:cs typeface="Times New Roman" panose="02020603050405020304" pitchFamily="18" charset="0"/>
              </a:rPr>
              <a:t>Routing:</a:t>
            </a:r>
            <a:r>
              <a:rPr lang="en-US" altLang="en-US" sz="2000" dirty="0" err="1">
                <a:latin typeface="Times New Roman" panose="02020603050405020304" pitchFamily="18" charset="0"/>
                <a:cs typeface="Times New Roman" panose="02020603050405020304" pitchFamily="18" charset="0"/>
              </a:rPr>
              <a:t>Reliable</a:t>
            </a:r>
            <a:r>
              <a:rPr lang="en-US" altLang="en-US" sz="2000" dirty="0">
                <a:latin typeface="Times New Roman" panose="02020603050405020304" pitchFamily="18" charset="0"/>
                <a:cs typeface="Times New Roman" panose="02020603050405020304" pitchFamily="18" charset="0"/>
              </a:rPr>
              <a:t> data transmission suffers due to limited battery life, increased transmission delays, and reduced packet delivery rates.</a:t>
            </a:r>
          </a:p>
          <a:p>
            <a:pPr algn="just"/>
            <a:endParaRPr lang="en-US" altLang="en-US" sz="2000" b="1" dirty="0">
              <a:latin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cs typeface="Times New Roman" panose="02020603050405020304" pitchFamily="18" charset="0"/>
              </a:rPr>
              <a:t>Need for </a:t>
            </a:r>
            <a:r>
              <a:rPr lang="en-US" altLang="en-US" sz="2000" b="1" dirty="0" err="1">
                <a:latin typeface="Times New Roman" panose="02020603050405020304" pitchFamily="18" charset="0"/>
                <a:cs typeface="Times New Roman" panose="02020603050405020304" pitchFamily="18" charset="0"/>
              </a:rPr>
              <a:t>Optimization:</a:t>
            </a:r>
            <a:r>
              <a:rPr lang="en-US" altLang="en-US" sz="2000" dirty="0" err="1">
                <a:latin typeface="Times New Roman" panose="02020603050405020304" pitchFamily="18" charset="0"/>
                <a:cs typeface="Times New Roman" panose="02020603050405020304" pitchFamily="18" charset="0"/>
              </a:rPr>
              <a:t>Traditional</a:t>
            </a:r>
            <a:r>
              <a:rPr lang="en-US" altLang="en-US" sz="2000" dirty="0">
                <a:latin typeface="Times New Roman" panose="02020603050405020304" pitchFamily="18" charset="0"/>
                <a:cs typeface="Times New Roman" panose="02020603050405020304" pitchFamily="18" charset="0"/>
              </a:rPr>
              <a:t> methods lack advanced optimization techniques for selecting cluster heads and routing paths, resulting in significant overhead and inefficiency.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38785"/>
            <a:ext cx="12192635" cy="6857365"/>
          </a:xfrm>
        </p:spPr>
        <p:txBody>
          <a:bodyPr>
            <a:normAutofit/>
          </a:bodyPr>
          <a:lstStyle/>
          <a:p>
            <a:pPr>
              <a:buFont typeface="Wingdings" panose="05000000000000000000" charset="0"/>
              <a:buChar char="Ø"/>
            </a:pPr>
            <a:r>
              <a:rPr lang="en-US" altLang="en-US" sz="2000" b="1">
                <a:latin typeface="Times New Roman" panose="02020603050405020304" pitchFamily="18" charset="0"/>
                <a:cs typeface="Times New Roman" panose="02020603050405020304" pitchFamily="18" charset="0"/>
              </a:rPr>
              <a:t>Necessity :</a:t>
            </a:r>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To address these challenges, a Hybrid Optimized Energy-Efficient Adaptive Clustered Routing (HOEEACR) approach is proposed. It leverages advanced algorithms for:</a:t>
            </a:r>
          </a:p>
          <a:p>
            <a:r>
              <a:rPr lang="en-US" altLang="en-US" sz="2000">
                <a:latin typeface="Times New Roman" panose="02020603050405020304" pitchFamily="18" charset="0"/>
                <a:cs typeface="Times New Roman" panose="02020603050405020304" pitchFamily="18" charset="0"/>
              </a:rPr>
              <a:t>Cluster Head Selection: Using Genetic Bee Colony (GBC) optimization for energy-efficient clustering.</a:t>
            </a:r>
          </a:p>
          <a:p>
            <a:r>
              <a:rPr lang="en-US" altLang="en-US" sz="2000">
                <a:latin typeface="Times New Roman" panose="02020603050405020304" pitchFamily="18" charset="0"/>
                <a:cs typeface="Times New Roman" panose="02020603050405020304" pitchFamily="18" charset="0"/>
              </a:rPr>
              <a:t>Optimal Routing: Employing Aquila and African Vulture Optimization (AAVO) for maximizing network lifetime and performance.</a:t>
            </a:r>
          </a:p>
          <a:p>
            <a:pPr marL="0" indent="0">
              <a:buNone/>
            </a:pPr>
            <a:endParaRPr lang="en-US" altLang="en-US" sz="200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sz="2000" b="1" dirty="0">
                <a:latin typeface="Times New Roman" panose="02020603050405020304" pitchFamily="18" charset="0"/>
                <a:cs typeface="Times New Roman" panose="02020603050405020304" pitchFamily="18" charset="0"/>
                <a:sym typeface="+mn-ea"/>
              </a:rPr>
              <a:t>Key Features of the Proposed System</a:t>
            </a:r>
            <a:r>
              <a:rPr lang="en-IN" altLang="en-US" sz="2000" b="1" dirty="0">
                <a:latin typeface="Times New Roman" panose="02020603050405020304" pitchFamily="18" charset="0"/>
                <a:cs typeface="Times New Roman" panose="02020603050405020304" pitchFamily="18" charset="0"/>
                <a:sym typeface="+mn-ea"/>
              </a:rPr>
              <a:t>:</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sym typeface="+mn-ea"/>
              </a:rPr>
              <a:t>Energy Balancing:</a:t>
            </a:r>
            <a:r>
              <a:rPr lang="en-US" sz="2000" dirty="0">
                <a:latin typeface="Times New Roman" panose="02020603050405020304" pitchFamily="18" charset="0"/>
                <a:cs typeface="Times New Roman" panose="02020603050405020304" pitchFamily="18" charset="0"/>
                <a:sym typeface="+mn-ea"/>
              </a:rPr>
              <a:t> Prevents early depletion of nodes by evenly distributing energy usage across the network.</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sym typeface="+mn-ea"/>
              </a:rPr>
              <a:t>Dynamic Adaptability:</a:t>
            </a:r>
            <a:r>
              <a:rPr lang="en-US" sz="2000" dirty="0">
                <a:latin typeface="Times New Roman" panose="02020603050405020304" pitchFamily="18" charset="0"/>
                <a:cs typeface="Times New Roman" panose="02020603050405020304" pitchFamily="18" charset="0"/>
                <a:sym typeface="+mn-ea"/>
              </a:rPr>
              <a:t> Adjusts cluster head selection and routing paths as the network state changes.</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sym typeface="+mn-ea"/>
              </a:rPr>
              <a:t>Performance Optimization:</a:t>
            </a:r>
            <a:r>
              <a:rPr lang="en-US" sz="2000" dirty="0">
                <a:latin typeface="Times New Roman" panose="02020603050405020304" pitchFamily="18" charset="0"/>
                <a:cs typeface="Times New Roman" panose="02020603050405020304" pitchFamily="18" charset="0"/>
                <a:sym typeface="+mn-ea"/>
              </a:rPr>
              <a:t> Combines the strengths of GBC and AAVO algorithms to maximize network efficiency and lifetime.</a:t>
            </a:r>
            <a:endParaRPr lang="en-US" sz="2000" dirty="0">
              <a:latin typeface="Times New Roman" panose="02020603050405020304" pitchFamily="18" charset="0"/>
              <a:cs typeface="Times New Roman" panose="02020603050405020304" pitchFamily="18" charset="0"/>
            </a:endParaRPr>
          </a:p>
          <a:p>
            <a:endParaRPr 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7560" y="182245"/>
            <a:ext cx="10403840" cy="1011555"/>
          </a:xfrm>
        </p:spPr>
        <p:txBody>
          <a:bodyPr/>
          <a:lstStyle/>
          <a:p>
            <a:r>
              <a:rPr lang="en-IN" altLang="en-US" sz="3200" b="1" dirty="0">
                <a:latin typeface="Times New Roman" panose="02020603050405020304" pitchFamily="18" charset="0"/>
                <a:cs typeface="Times New Roman" panose="02020603050405020304" pitchFamily="18" charset="0"/>
                <a:sym typeface="+mn-ea"/>
              </a:rPr>
              <a:t>8. </a:t>
            </a:r>
            <a:r>
              <a:rPr lang="en-US" sz="3200" b="1" dirty="0">
                <a:latin typeface="Times New Roman" panose="02020603050405020304" pitchFamily="18" charset="0"/>
                <a:cs typeface="Times New Roman" panose="02020603050405020304" pitchFamily="18" charset="0"/>
                <a:sym typeface="+mn-ea"/>
              </a:rPr>
              <a:t>PROPOSED SYSTEM</a:t>
            </a:r>
            <a:endParaRPr lang="en-US" sz="3200"/>
          </a:p>
        </p:txBody>
      </p:sp>
      <p:sp>
        <p:nvSpPr>
          <p:cNvPr id="3" name="Content Placeholder 2"/>
          <p:cNvSpPr>
            <a:spLocks noGrp="1"/>
          </p:cNvSpPr>
          <p:nvPr>
            <p:ph idx="1"/>
          </p:nvPr>
        </p:nvSpPr>
        <p:spPr>
          <a:xfrm>
            <a:off x="-635" y="878205"/>
            <a:ext cx="12192635" cy="6405880"/>
          </a:xfrm>
        </p:spPr>
        <p:txBody>
          <a:bodyPr>
            <a:noAutofit/>
          </a:bodyPr>
          <a:lstStyle/>
          <a:p>
            <a:pPr marL="457200" lvl="1" indent="0" algn="just">
              <a:lnSpc>
                <a:spcPct val="150000"/>
              </a:lnSpc>
              <a:buNone/>
            </a:pPr>
            <a:r>
              <a:rPr lang="en-US" sz="1700" dirty="0">
                <a:sym typeface="+mn-ea"/>
              </a:rPr>
              <a:t>The </a:t>
            </a:r>
            <a:r>
              <a:rPr lang="en-US" sz="1700" b="1" dirty="0">
                <a:sym typeface="+mn-ea"/>
              </a:rPr>
              <a:t>HOEEACR</a:t>
            </a:r>
            <a:r>
              <a:rPr lang="en-US" sz="1700" dirty="0">
                <a:sym typeface="+mn-ea"/>
              </a:rPr>
              <a:t> system is designed to improve the energy efficiency and lifetime of Wireless Sensor Networks (WSNs) by addressing challenges related to energy constraints and inefficient routing. It achieves this by combining two key optimization algorithms: the </a:t>
            </a:r>
            <a:r>
              <a:rPr lang="en-US" sz="1700" b="1" dirty="0">
                <a:sym typeface="+mn-ea"/>
              </a:rPr>
              <a:t>Genetic Bee Colony (GBC) Algorithm</a:t>
            </a:r>
            <a:r>
              <a:rPr lang="en-US" sz="1700" dirty="0">
                <a:sym typeface="+mn-ea"/>
              </a:rPr>
              <a:t> for cluster head selection and the </a:t>
            </a:r>
            <a:r>
              <a:rPr lang="en-US" sz="1700" b="1" dirty="0">
                <a:sym typeface="+mn-ea"/>
              </a:rPr>
              <a:t>Aquila with African Vulture Optimization (AAVO) Algorithm</a:t>
            </a:r>
            <a:r>
              <a:rPr lang="en-US" sz="1700" dirty="0">
                <a:sym typeface="+mn-ea"/>
              </a:rPr>
              <a:t> for routing.</a:t>
            </a:r>
            <a:endParaRPr lang="en-US" sz="1700"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US" sz="1700" dirty="0">
                <a:latin typeface="Times New Roman" panose="02020603050405020304" pitchFamily="18" charset="0"/>
                <a:cs typeface="Times New Roman" panose="02020603050405020304" pitchFamily="18" charset="0"/>
                <a:sym typeface="+mn-ea"/>
              </a:rPr>
              <a:t>The proposed method integrates the </a:t>
            </a:r>
            <a:r>
              <a:rPr lang="en-US" sz="1700" b="1" dirty="0">
                <a:latin typeface="Times New Roman" panose="02020603050405020304" pitchFamily="18" charset="0"/>
                <a:cs typeface="Times New Roman" panose="02020603050405020304" pitchFamily="18" charset="0"/>
                <a:sym typeface="+mn-ea"/>
              </a:rPr>
              <a:t>Genetic Bee Colony (GBC) Algorithm</a:t>
            </a:r>
            <a:r>
              <a:rPr lang="en-US" sz="1700" dirty="0">
                <a:latin typeface="Times New Roman" panose="02020603050405020304" pitchFamily="18" charset="0"/>
                <a:cs typeface="Times New Roman" panose="02020603050405020304" pitchFamily="18" charset="0"/>
                <a:sym typeface="+mn-ea"/>
              </a:rPr>
              <a:t> for efficient cluster head selection and the </a:t>
            </a:r>
            <a:r>
              <a:rPr lang="en-US" sz="1700" b="1" dirty="0">
                <a:latin typeface="Times New Roman" panose="02020603050405020304" pitchFamily="18" charset="0"/>
                <a:cs typeface="Times New Roman" panose="02020603050405020304" pitchFamily="18" charset="0"/>
                <a:sym typeface="+mn-ea"/>
              </a:rPr>
              <a:t>Aquila with African Vulture Optimization (AAVO) Algorithm</a:t>
            </a:r>
            <a:r>
              <a:rPr lang="en-US" sz="1700" dirty="0">
                <a:latin typeface="Times New Roman" panose="02020603050405020304" pitchFamily="18" charset="0"/>
                <a:cs typeface="Times New Roman" panose="02020603050405020304" pitchFamily="18" charset="0"/>
                <a:sym typeface="+mn-ea"/>
              </a:rPr>
              <a:t> for optimal inter-cluster routing. </a:t>
            </a:r>
            <a:endParaRPr lang="en-US" sz="1700"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US" sz="1700" dirty="0">
                <a:latin typeface="Times New Roman" panose="02020603050405020304" pitchFamily="18" charset="0"/>
                <a:cs typeface="Times New Roman" panose="02020603050405020304" pitchFamily="18" charset="0"/>
                <a:sym typeface="+mn-ea"/>
              </a:rPr>
              <a:t>The GBC algorithm ensures energy-efficient cluster head selection by considering multiple parameters, including residual energy, node centrality, and neighborhood distance. </a:t>
            </a:r>
            <a:endParaRPr lang="en-US" sz="1700"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IN" altLang="en-US" sz="1700" dirty="0">
                <a:latin typeface="Times New Roman" panose="02020603050405020304" pitchFamily="18" charset="0"/>
                <a:cs typeface="Times New Roman" panose="02020603050405020304" pitchFamily="18" charset="0"/>
                <a:sym typeface="+mn-ea"/>
              </a:rPr>
              <a:t>T</a:t>
            </a:r>
            <a:r>
              <a:rPr lang="en-US" sz="1700" dirty="0">
                <a:latin typeface="Times New Roman" panose="02020603050405020304" pitchFamily="18" charset="0"/>
                <a:cs typeface="Times New Roman" panose="02020603050405020304" pitchFamily="18" charset="0"/>
                <a:sym typeface="+mn-ea"/>
              </a:rPr>
              <a:t>he AAVO algorithm optimizes the routing path to balance energy consumption and improve overall network performance.</a:t>
            </a:r>
          </a:p>
          <a:p>
            <a:pPr algn="just">
              <a:lnSpc>
                <a:spcPct val="150000"/>
              </a:lnSpc>
            </a:pPr>
            <a:r>
              <a:rPr lang="en-US" sz="1700" dirty="0">
                <a:latin typeface="Times New Roman" panose="02020603050405020304" pitchFamily="18" charset="0"/>
                <a:cs typeface="Times New Roman" panose="02020603050405020304" pitchFamily="18" charset="0"/>
                <a:sym typeface="+mn-ea"/>
              </a:rPr>
              <a:t> </a:t>
            </a:r>
            <a:r>
              <a:rPr lang="en-IN" altLang="en-US" sz="1700" dirty="0">
                <a:latin typeface="Times New Roman" panose="02020603050405020304" pitchFamily="18" charset="0"/>
                <a:cs typeface="Times New Roman" panose="02020603050405020304" pitchFamily="18" charset="0"/>
                <a:sym typeface="+mn-ea"/>
              </a:rPr>
              <a:t>T</a:t>
            </a:r>
            <a:r>
              <a:rPr lang="en-US" sz="1700" dirty="0">
                <a:latin typeface="Times New Roman" panose="02020603050405020304" pitchFamily="18" charset="0"/>
                <a:cs typeface="Times New Roman" panose="02020603050405020304" pitchFamily="18" charset="0"/>
                <a:sym typeface="+mn-ea"/>
              </a:rPr>
              <a:t>he </a:t>
            </a:r>
            <a:r>
              <a:rPr lang="en-US" sz="1700" b="1" dirty="0">
                <a:latin typeface="Times New Roman" panose="02020603050405020304" pitchFamily="18" charset="0"/>
                <a:cs typeface="Times New Roman" panose="02020603050405020304" pitchFamily="18" charset="0"/>
                <a:sym typeface="+mn-ea"/>
              </a:rPr>
              <a:t>Aquila with African Vulture Optimization (AAVO) Algorithm</a:t>
            </a:r>
            <a:r>
              <a:rPr lang="en-US" sz="1700" dirty="0">
                <a:latin typeface="Times New Roman" panose="02020603050405020304" pitchFamily="18" charset="0"/>
                <a:cs typeface="Times New Roman" panose="02020603050405020304" pitchFamily="18" charset="0"/>
                <a:sym typeface="+mn-ea"/>
              </a:rPr>
              <a:t>, minimizing energy consumption and ensuring reliable data transmission to the base station.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87320" y="-183515"/>
            <a:ext cx="10515600" cy="1325563"/>
          </a:xfrm>
        </p:spPr>
        <p:txBody>
          <a:bodyPr/>
          <a:lstStyle/>
          <a:p>
            <a:r>
              <a:rPr lang="en-IN" altLang="en-US" sz="3200" b="1">
                <a:latin typeface="Times New Roman" panose="02020603050405020304" pitchFamily="18" charset="0"/>
                <a:cs typeface="Times New Roman" panose="02020603050405020304" pitchFamily="18" charset="0"/>
              </a:rPr>
              <a:t>9. Proposed system block diagram</a:t>
            </a:r>
          </a:p>
        </p:txBody>
      </p:sp>
      <p:sp>
        <p:nvSpPr>
          <p:cNvPr id="3" name="Content Placeholder 2"/>
          <p:cNvSpPr>
            <a:spLocks noGrp="1"/>
          </p:cNvSpPr>
          <p:nvPr>
            <p:ph idx="1"/>
          </p:nvPr>
        </p:nvSpPr>
        <p:spPr>
          <a:xfrm>
            <a:off x="0" y="896620"/>
            <a:ext cx="12192635" cy="5962015"/>
          </a:xfrm>
        </p:spPr>
        <p:txBody>
          <a:bodyPr/>
          <a:lstStyle/>
          <a:p>
            <a:endParaRPr lang="en-US" dirty="0"/>
          </a:p>
        </p:txBody>
      </p:sp>
      <p:sp>
        <p:nvSpPr>
          <p:cNvPr id="4" name="Text Box 3"/>
          <p:cNvSpPr txBox="1"/>
          <p:nvPr/>
        </p:nvSpPr>
        <p:spPr>
          <a:xfrm>
            <a:off x="3941445" y="4870450"/>
            <a:ext cx="4064000" cy="368300"/>
          </a:xfrm>
          <a:prstGeom prst="rect">
            <a:avLst/>
          </a:prstGeom>
          <a:noFill/>
        </p:spPr>
        <p:txBody>
          <a:bodyPr wrap="square" rtlCol="0">
            <a:spAutoFit/>
          </a:bodyPr>
          <a:lstStyle/>
          <a:p>
            <a:r>
              <a:rPr lang="en-IN" altLang="en-US" dirty="0"/>
              <a:t>Figure 3: Block diagram of GBC</a:t>
            </a:r>
          </a:p>
        </p:txBody>
      </p:sp>
      <p:pic>
        <p:nvPicPr>
          <p:cNvPr id="7" name="Picture 8" descr="IMG_256"/>
          <p:cNvPicPr>
            <a:picLocks noChangeAspect="1"/>
          </p:cNvPicPr>
          <p:nvPr/>
        </p:nvPicPr>
        <p:blipFill>
          <a:blip r:embed="rId2"/>
          <a:stretch>
            <a:fillRect/>
          </a:stretch>
        </p:blipFill>
        <p:spPr>
          <a:xfrm>
            <a:off x="1290320" y="1825625"/>
            <a:ext cx="8611870" cy="2799715"/>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3362813"/>
            <a:ext cx="10515600" cy="1325563"/>
          </a:xfrm>
        </p:spPr>
        <p:txBody>
          <a:bodyPr/>
          <a:lstStyle/>
          <a:p>
            <a:endParaRPr lang="en-IN" dirty="0"/>
          </a:p>
        </p:txBody>
      </p:sp>
      <p:sp>
        <p:nvSpPr>
          <p:cNvPr id="3" name="Content Placeholder 2"/>
          <p:cNvSpPr>
            <a:spLocks noGrp="1"/>
          </p:cNvSpPr>
          <p:nvPr>
            <p:ph idx="1"/>
          </p:nvPr>
        </p:nvSpPr>
        <p:spPr>
          <a:xfrm>
            <a:off x="0" y="0"/>
            <a:ext cx="12191999" cy="6858000"/>
          </a:xfrm>
        </p:spPr>
        <p:txBody>
          <a:bodyPr>
            <a:normAutofit fontScale="92500" lnSpcReduction="10000"/>
          </a:bodyPr>
          <a:lstStyle/>
          <a:p>
            <a:pPr>
              <a:lnSpc>
                <a:spcPct val="100000"/>
              </a:lnSpc>
            </a:pPr>
            <a:r>
              <a:rPr lang="en-IN" b="1" dirty="0"/>
              <a:t>Working of GBC:</a:t>
            </a:r>
            <a:endParaRPr lang="en-IN" b="1" dirty="0">
              <a:latin typeface="Times New Roman" panose="02020603050405020304" pitchFamily="18" charset="0"/>
              <a:cs typeface="Times New Roman" panose="02020603050405020304" pitchFamily="18" charset="0"/>
            </a:endParaRPr>
          </a:p>
          <a:p>
            <a:pPr marL="0" indent="0">
              <a:lnSpc>
                <a:spcPct val="100000"/>
              </a:lnSpc>
              <a:buNone/>
            </a:pPr>
            <a:r>
              <a:rPr lang="en-IN"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The Genetic Bee Colony (GBC) Algorithm approach</a:t>
            </a:r>
            <a:r>
              <a:rPr lang="en-IN"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is used in the HOEEACR technique to choose Cluster Heads (CHs)</a:t>
            </a:r>
            <a:r>
              <a:rPr lang="en-IN" altLang="en-US" sz="2000" dirty="0">
                <a:latin typeface="Times New Roman" panose="02020603050405020304" pitchFamily="18" charset="0"/>
                <a:cs typeface="Times New Roman" panose="02020603050405020304" pitchFamily="18" charset="0"/>
              </a:rPr>
              <a:t>  an</a:t>
            </a:r>
            <a:r>
              <a:rPr lang="en-US" sz="2000" dirty="0">
                <a:latin typeface="Times New Roman" panose="02020603050405020304" pitchFamily="18" charset="0"/>
                <a:cs typeface="Times New Roman" panose="02020603050405020304" pitchFamily="18" charset="0"/>
              </a:rPr>
              <a:t>main aim to enhance the overall efficiency and longevity of the network or system.</a:t>
            </a:r>
            <a:endParaRPr lang="en-IN" sz="2000" b="1" dirty="0">
              <a:latin typeface="Times New Roman" panose="02020603050405020304" pitchFamily="18" charset="0"/>
              <a:cs typeface="Times New Roman" panose="02020603050405020304" pitchFamily="18" charset="0"/>
            </a:endParaRPr>
          </a:p>
          <a:p>
            <a:pPr marL="0" indent="0">
              <a:lnSpc>
                <a:spcPct val="100000"/>
              </a:lnSpc>
              <a:buNone/>
            </a:pPr>
            <a:r>
              <a:rPr lang="en-IN" sz="1800" b="1" dirty="0">
                <a:effectLst/>
                <a:latin typeface="Times New Roman" panose="02020603050405020304" pitchFamily="18" charset="0"/>
                <a:ea typeface="SimSun" panose="02010600030101010101" pitchFamily="2" charset="-122"/>
              </a:rPr>
              <a:t>1. Pre-processing Phase (MRMR Method):</a:t>
            </a:r>
            <a:endParaRPr lang="en-IN" sz="1800" dirty="0">
              <a:effectLst/>
              <a:latin typeface="Times New Roman" panose="02020603050405020304" pitchFamily="18" charset="0"/>
              <a:ea typeface="SimSun" panose="02010600030101010101" pitchFamily="2" charset="-122"/>
            </a:endParaRPr>
          </a:p>
          <a:p>
            <a:pPr marL="0" marR="0" indent="0" algn="l">
              <a:lnSpc>
                <a:spcPct val="100000"/>
              </a:lnSpc>
              <a:spcBef>
                <a:spcPts val="500"/>
              </a:spcBef>
              <a:spcAft>
                <a:spcPts val="500"/>
              </a:spcAft>
              <a:buNone/>
            </a:pPr>
            <a:r>
              <a:rPr lang="en-US" sz="1800" kern="0" dirty="0">
                <a:effectLst/>
                <a:latin typeface="Times New Roman" panose="02020603050405020304" pitchFamily="18" charset="0"/>
                <a:ea typeface="SimSun" panose="02010600030101010101" pitchFamily="2" charset="-122"/>
              </a:rPr>
              <a:t>    The </a:t>
            </a:r>
            <a:r>
              <a:rPr lang="en-US" sz="1800" b="1" dirty="0">
                <a:effectLst/>
                <a:latin typeface="Times New Roman" panose="02020603050405020304" pitchFamily="18" charset="0"/>
                <a:ea typeface="SimSun" panose="02010600030101010101" pitchFamily="2" charset="-122"/>
              </a:rPr>
              <a:t>Minimum Redundancy Maximum Relevance (MRMR)</a:t>
            </a:r>
            <a:r>
              <a:rPr lang="en-US" sz="1800" kern="0" dirty="0">
                <a:effectLst/>
                <a:latin typeface="Times New Roman" panose="02020603050405020304" pitchFamily="18" charset="0"/>
                <a:ea typeface="SimSun" panose="02010600030101010101" pitchFamily="2" charset="-122"/>
              </a:rPr>
              <a:t> technique is used to filter out redundant and irrelevant nodes.</a:t>
            </a:r>
            <a:endParaRPr lang="en-US" sz="1800" dirty="0">
              <a:effectLst/>
              <a:latin typeface="Times New Roman" panose="02020603050405020304" pitchFamily="18" charset="0"/>
              <a:ea typeface="SimSun" panose="02010600030101010101" pitchFamily="2" charset="-122"/>
            </a:endParaRPr>
          </a:p>
          <a:p>
            <a:pPr marL="0" marR="0" algn="l">
              <a:lnSpc>
                <a:spcPct val="100000"/>
              </a:lnSpc>
              <a:spcBef>
                <a:spcPts val="500"/>
              </a:spcBef>
              <a:spcAft>
                <a:spcPts val="500"/>
              </a:spcAft>
            </a:pPr>
            <a:r>
              <a:rPr lang="en-US" sz="1800" b="1" dirty="0">
                <a:effectLst/>
                <a:latin typeface="Times New Roman" panose="02020603050405020304" pitchFamily="18" charset="0"/>
                <a:ea typeface="SimSun" panose="02010600030101010101" pitchFamily="2" charset="-122"/>
              </a:rPr>
              <a:t>Relevance:</a:t>
            </a:r>
            <a:r>
              <a:rPr lang="en-US" sz="1800" kern="0" dirty="0">
                <a:effectLst/>
                <a:latin typeface="Times New Roman" panose="02020603050405020304" pitchFamily="18" charset="0"/>
                <a:ea typeface="SimSun" panose="02010600030101010101" pitchFamily="2" charset="-122"/>
              </a:rPr>
              <a:t> Measures how important a node is based on its connections.</a:t>
            </a:r>
            <a:endParaRPr lang="en-US" sz="1800" dirty="0">
              <a:effectLst/>
              <a:latin typeface="Times New Roman" panose="02020603050405020304" pitchFamily="18" charset="0"/>
              <a:ea typeface="SimSun" panose="02010600030101010101" pitchFamily="2" charset="-122"/>
            </a:endParaRPr>
          </a:p>
          <a:p>
            <a:pPr marL="0" marR="0" algn="l">
              <a:lnSpc>
                <a:spcPct val="100000"/>
              </a:lnSpc>
              <a:spcBef>
                <a:spcPts val="500"/>
              </a:spcBef>
              <a:spcAft>
                <a:spcPts val="500"/>
              </a:spcAft>
            </a:pPr>
            <a:r>
              <a:rPr lang="en-US" sz="1800" b="1" dirty="0">
                <a:effectLst/>
                <a:latin typeface="Times New Roman" panose="02020603050405020304" pitchFamily="18" charset="0"/>
                <a:ea typeface="SimSun" panose="02010600030101010101" pitchFamily="2" charset="-122"/>
              </a:rPr>
              <a:t>Redundancy:</a:t>
            </a:r>
            <a:r>
              <a:rPr lang="en-US" sz="1800" kern="0" dirty="0">
                <a:effectLst/>
                <a:latin typeface="Times New Roman" panose="02020603050405020304" pitchFamily="18" charset="0"/>
                <a:ea typeface="SimSun" panose="02010600030101010101" pitchFamily="2" charset="-122"/>
              </a:rPr>
              <a:t> Ensures selected nodes are unique and non-overlapping.</a:t>
            </a:r>
            <a:endParaRPr lang="en-US" sz="1800" dirty="0">
              <a:effectLst/>
              <a:latin typeface="Times New Roman" panose="02020603050405020304" pitchFamily="18" charset="0"/>
              <a:ea typeface="SimSun" panose="02010600030101010101" pitchFamily="2" charset="-122"/>
            </a:endParaRPr>
          </a:p>
          <a:p>
            <a:pPr marL="0" indent="0">
              <a:lnSpc>
                <a:spcPct val="100000"/>
              </a:lnSpc>
              <a:buNone/>
            </a:pPr>
            <a:r>
              <a:rPr lang="en-IN" sz="1800" b="1" kern="100" dirty="0">
                <a:effectLst/>
                <a:latin typeface="Times New Roman" panose="02020603050405020304" pitchFamily="18" charset="0"/>
                <a:ea typeface="Aptos" panose="020B0004020202020204" pitchFamily="34" charset="0"/>
                <a:cs typeface="Times New Roman" panose="02020603050405020304" pitchFamily="18" charset="0"/>
              </a:rPr>
              <a:t>2. Initialization:</a:t>
            </a:r>
            <a:endParaRPr lang="en-IN" sz="1800" kern="100" dirty="0">
              <a:effectLst/>
              <a:latin typeface="Aptos" panose="020B0004020202020204" pitchFamily="34" charset="0"/>
              <a:cs typeface="Times New Roman" panose="02020603050405020304" pitchFamily="18" charset="0"/>
            </a:endParaRPr>
          </a:p>
          <a:p>
            <a:pPr>
              <a:lnSpc>
                <a:spcPct val="100000"/>
              </a:lnSpc>
            </a:pPr>
            <a:r>
              <a:rPr lang="en-US" sz="1800" kern="0" dirty="0">
                <a:effectLst/>
                <a:latin typeface="Times New Roman" panose="02020603050405020304" pitchFamily="18" charset="0"/>
                <a:ea typeface="SimSun" panose="02010600030101010101" pitchFamily="2" charset="-122"/>
              </a:rPr>
              <a:t>Each candidate CH is represented by a solution, and its position is optimized.</a:t>
            </a:r>
            <a:endParaRPr lang="en-US" sz="1800" dirty="0">
              <a:effectLst/>
              <a:latin typeface="Times New Roman" panose="02020603050405020304" pitchFamily="18" charset="0"/>
              <a:ea typeface="SimSun" panose="02010600030101010101" pitchFamily="2" charset="-122"/>
            </a:endParaRPr>
          </a:p>
          <a:p>
            <a:pPr marL="0" indent="0">
              <a:lnSpc>
                <a:spcPct val="100000"/>
              </a:lnSpc>
              <a:spcBef>
                <a:spcPts val="500"/>
              </a:spcBef>
              <a:spcAft>
                <a:spcPts val="500"/>
              </a:spcAft>
              <a:buNone/>
            </a:pPr>
            <a:r>
              <a:rPr lang="en-US" sz="1800" b="1" dirty="0">
                <a:effectLst/>
                <a:latin typeface="Times New Roman" panose="02020603050405020304" pitchFamily="18" charset="0"/>
                <a:ea typeface="SimSun" panose="02010600030101010101" pitchFamily="2" charset="-122"/>
              </a:rPr>
              <a:t>3. Employee Bee Phase:</a:t>
            </a:r>
            <a:endParaRPr lang="en-US" sz="1800" dirty="0">
              <a:effectLst/>
              <a:latin typeface="Times New Roman" panose="02020603050405020304" pitchFamily="18" charset="0"/>
              <a:ea typeface="SimSun" panose="02010600030101010101" pitchFamily="2" charset="-122"/>
            </a:endParaRPr>
          </a:p>
          <a:p>
            <a:pPr marL="0" marR="0" algn="l">
              <a:lnSpc>
                <a:spcPct val="100000"/>
              </a:lnSpc>
              <a:spcBef>
                <a:spcPts val="500"/>
              </a:spcBef>
              <a:spcAft>
                <a:spcPts val="500"/>
              </a:spcAft>
            </a:pPr>
            <a:r>
              <a:rPr lang="en-US" sz="1800" kern="0" dirty="0">
                <a:effectLst/>
                <a:latin typeface="Times New Roman" panose="02020603050405020304" pitchFamily="18" charset="0"/>
                <a:ea typeface="SimSun" panose="02010600030101010101" pitchFamily="2" charset="-122"/>
              </a:rPr>
              <a:t>Worker bees search for better food sources (better CHs) by effective current solutions.</a:t>
            </a:r>
            <a:endParaRPr lang="en-US" sz="1800" dirty="0">
              <a:effectLst/>
              <a:latin typeface="Times New Roman" panose="02020603050405020304" pitchFamily="18" charset="0"/>
              <a:ea typeface="SimSun" panose="02010600030101010101" pitchFamily="2" charset="-122"/>
            </a:endParaRPr>
          </a:p>
          <a:p>
            <a:pPr marL="0" marR="0" algn="l">
              <a:lnSpc>
                <a:spcPct val="100000"/>
              </a:lnSpc>
              <a:spcBef>
                <a:spcPts val="500"/>
              </a:spcBef>
              <a:spcAft>
                <a:spcPts val="500"/>
              </a:spcAft>
            </a:pPr>
            <a:r>
              <a:rPr lang="en-US" sz="1800" kern="0" dirty="0">
                <a:effectLst/>
                <a:latin typeface="Times New Roman" panose="02020603050405020304" pitchFamily="18" charset="0"/>
                <a:ea typeface="SimSun" panose="02010600030101010101" pitchFamily="2" charset="-122"/>
              </a:rPr>
              <a:t>Fitness of each CH is calculated to assess its quality.</a:t>
            </a:r>
            <a:endParaRPr lang="en-US" sz="1800" dirty="0">
              <a:effectLst/>
              <a:latin typeface="Times New Roman" panose="02020603050405020304" pitchFamily="18" charset="0"/>
              <a:ea typeface="SimSun" panose="02010600030101010101" pitchFamily="2" charset="-122"/>
            </a:endParaRPr>
          </a:p>
          <a:p>
            <a:pPr marL="0" indent="0">
              <a:lnSpc>
                <a:spcPct val="100000"/>
              </a:lnSpc>
              <a:spcBef>
                <a:spcPts val="500"/>
              </a:spcBef>
              <a:spcAft>
                <a:spcPts val="500"/>
              </a:spcAft>
              <a:buNone/>
            </a:pPr>
            <a:r>
              <a:rPr lang="en-US" sz="1800" b="1" dirty="0">
                <a:effectLst/>
                <a:latin typeface="Times New Roman" panose="02020603050405020304" pitchFamily="18" charset="0"/>
                <a:ea typeface="SimSun" panose="02010600030101010101" pitchFamily="2" charset="-122"/>
              </a:rPr>
              <a:t>4. Onlooker Bee Phase:</a:t>
            </a:r>
            <a:endParaRPr lang="en-US" sz="1800" dirty="0">
              <a:effectLst/>
              <a:latin typeface="Times New Roman" panose="02020603050405020304" pitchFamily="18" charset="0"/>
              <a:ea typeface="SimSun" panose="02010600030101010101" pitchFamily="2" charset="-122"/>
            </a:endParaRPr>
          </a:p>
          <a:p>
            <a:pPr marL="0" marR="0" algn="l">
              <a:lnSpc>
                <a:spcPct val="100000"/>
              </a:lnSpc>
              <a:spcBef>
                <a:spcPts val="500"/>
              </a:spcBef>
              <a:spcAft>
                <a:spcPts val="500"/>
              </a:spcAft>
            </a:pPr>
            <a:r>
              <a:rPr lang="en-US" sz="1800" kern="0" dirty="0">
                <a:effectLst/>
                <a:latin typeface="Times New Roman" panose="02020603050405020304" pitchFamily="18" charset="0"/>
                <a:ea typeface="SimSun" panose="02010600030101010101" pitchFamily="2" charset="-122"/>
              </a:rPr>
              <a:t>Bees prioritize the most promising food sources based on their fitness values.</a:t>
            </a:r>
            <a:endParaRPr lang="en-US" sz="1800" dirty="0">
              <a:effectLst/>
              <a:latin typeface="Times New Roman" panose="02020603050405020304" pitchFamily="18" charset="0"/>
              <a:ea typeface="SimSun" panose="02010600030101010101" pitchFamily="2" charset="-122"/>
            </a:endParaRPr>
          </a:p>
          <a:p>
            <a:pPr marL="0" marR="0" algn="l">
              <a:lnSpc>
                <a:spcPct val="100000"/>
              </a:lnSpc>
              <a:spcBef>
                <a:spcPts val="500"/>
              </a:spcBef>
              <a:spcAft>
                <a:spcPts val="500"/>
              </a:spcAft>
            </a:pPr>
            <a:r>
              <a:rPr lang="en-US" sz="1800" kern="0" dirty="0">
                <a:effectLst/>
                <a:latin typeface="Times New Roman" panose="02020603050405020304" pitchFamily="18" charset="0"/>
                <a:ea typeface="SimSun" panose="02010600030101010101" pitchFamily="2" charset="-122"/>
              </a:rPr>
              <a:t>Solutions are further improved using </a:t>
            </a:r>
            <a:r>
              <a:rPr lang="en-US" sz="1800" b="1" dirty="0">
                <a:effectLst/>
                <a:latin typeface="Times New Roman" panose="02020603050405020304" pitchFamily="18" charset="0"/>
                <a:ea typeface="SimSun" panose="02010600030101010101" pitchFamily="2" charset="-122"/>
              </a:rPr>
              <a:t>crossover</a:t>
            </a:r>
            <a:r>
              <a:rPr lang="en-US" sz="1800" kern="0" dirty="0">
                <a:effectLst/>
                <a:latin typeface="Times New Roman" panose="02020603050405020304" pitchFamily="18" charset="0"/>
                <a:ea typeface="SimSun" panose="02010600030101010101" pitchFamily="2" charset="-122"/>
              </a:rPr>
              <a:t> (combination of solutions).</a:t>
            </a:r>
            <a:endParaRPr lang="en-US" sz="1800" dirty="0">
              <a:effectLst/>
              <a:latin typeface="Times New Roman" panose="02020603050405020304" pitchFamily="18" charset="0"/>
              <a:ea typeface="SimSun" panose="02010600030101010101" pitchFamily="2" charset="-122"/>
            </a:endParaRPr>
          </a:p>
          <a:p>
            <a:pPr marL="0" indent="0">
              <a:lnSpc>
                <a:spcPct val="100000"/>
              </a:lnSpc>
              <a:spcBef>
                <a:spcPts val="500"/>
              </a:spcBef>
              <a:spcAft>
                <a:spcPts val="500"/>
              </a:spcAft>
              <a:buNone/>
            </a:pPr>
            <a:r>
              <a:rPr lang="en-US" sz="1800" b="1" dirty="0">
                <a:effectLst/>
                <a:latin typeface="Times New Roman" panose="02020603050405020304" pitchFamily="18" charset="0"/>
                <a:ea typeface="SimSun" panose="02010600030101010101" pitchFamily="2" charset="-122"/>
              </a:rPr>
              <a:t>5. Scout Bee Phase:</a:t>
            </a:r>
            <a:endParaRPr lang="en-US" sz="1800" dirty="0">
              <a:effectLst/>
              <a:latin typeface="Times New Roman" panose="02020603050405020304" pitchFamily="18" charset="0"/>
              <a:ea typeface="SimSun" panose="02010600030101010101" pitchFamily="2" charset="-122"/>
            </a:endParaRPr>
          </a:p>
          <a:p>
            <a:pPr marL="0" marR="0" algn="l">
              <a:lnSpc>
                <a:spcPct val="100000"/>
              </a:lnSpc>
              <a:spcBef>
                <a:spcPts val="500"/>
              </a:spcBef>
              <a:spcAft>
                <a:spcPts val="500"/>
              </a:spcAft>
            </a:pPr>
            <a:r>
              <a:rPr lang="en-US" sz="1800" kern="0" dirty="0">
                <a:effectLst/>
                <a:latin typeface="Times New Roman" panose="02020603050405020304" pitchFamily="18" charset="0"/>
                <a:ea typeface="SimSun" panose="02010600030101010101" pitchFamily="2" charset="-122"/>
              </a:rPr>
              <a:t>Random exploration is performed to introduce diversity and avoid getting stuck in poor solutions.</a:t>
            </a:r>
            <a:endParaRPr lang="en-US" sz="1800" dirty="0">
              <a:effectLst/>
              <a:latin typeface="Times New Roman" panose="02020603050405020304" pitchFamily="18" charset="0"/>
              <a:ea typeface="SimSun" panose="02010600030101010101" pitchFamily="2" charset="-122"/>
            </a:endParaRPr>
          </a:p>
          <a:p>
            <a:pPr>
              <a:lnSpc>
                <a:spcPct val="100000"/>
              </a:lnSpc>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Mutation operations (random changes) are used to discover new CH candidates</a:t>
            </a:r>
            <a:endParaRPr lang="en-US" sz="1800" kern="100" dirty="0">
              <a:effectLst/>
              <a:latin typeface="Aptos" panose="020B0004020202020204" pitchFamily="34" charset="0"/>
              <a:cs typeface="Times New Roman" panose="02020603050405020304" pitchFamily="18" charset="0"/>
            </a:endParaRPr>
          </a:p>
          <a:p>
            <a:pPr>
              <a:lnSpc>
                <a:spcPct val="100000"/>
              </a:lnSpc>
            </a:pPr>
            <a:endParaRPr lang="en-IN" dirty="0"/>
          </a:p>
          <a:p>
            <a:pPr>
              <a:lnSpc>
                <a:spcPct val="100000"/>
              </a:lnSpc>
            </a:pPr>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63720" y="4886960"/>
            <a:ext cx="5153906" cy="510950"/>
          </a:xfrm>
        </p:spPr>
        <p:txBody>
          <a:bodyPr>
            <a:noAutofit/>
          </a:bodyPr>
          <a:lstStyle/>
          <a:p>
            <a:r>
              <a:rPr lang="en-US" sz="1800" dirty="0">
                <a:latin typeface="Times New Roman" panose="02020603050405020304" pitchFamily="18" charset="0"/>
                <a:cs typeface="Times New Roman" panose="02020603050405020304" pitchFamily="18" charset="0"/>
              </a:rPr>
              <a:t>Figure </a:t>
            </a:r>
            <a:r>
              <a:rPr lang="en-IN" altLang="en-US" sz="1800" dirty="0">
                <a:latin typeface="Times New Roman" panose="02020603050405020304" pitchFamily="18" charset="0"/>
                <a:cs typeface="Times New Roman" panose="02020603050405020304" pitchFamily="18" charset="0"/>
              </a:rPr>
              <a:t>4</a:t>
            </a:r>
            <a:r>
              <a:rPr lang="en-US" sz="1800" dirty="0">
                <a:latin typeface="Times New Roman" panose="02020603050405020304" pitchFamily="18" charset="0"/>
                <a:cs typeface="Times New Roman" panose="02020603050405020304" pitchFamily="18" charset="0"/>
              </a:rPr>
              <a:t>:Block diagram of AAVO algorithm</a:t>
            </a:r>
          </a:p>
        </p:txBody>
      </p:sp>
      <p:pic>
        <p:nvPicPr>
          <p:cNvPr id="4" name="Content Placeholder 3" descr="IMG_256"/>
          <p:cNvPicPr>
            <a:picLocks noGrp="1" noChangeAspect="1"/>
          </p:cNvPicPr>
          <p:nvPr>
            <p:ph idx="1"/>
          </p:nvPr>
        </p:nvPicPr>
        <p:blipFill>
          <a:blip r:embed="rId2"/>
          <a:stretch>
            <a:fillRect/>
          </a:stretch>
        </p:blipFill>
        <p:spPr>
          <a:xfrm>
            <a:off x="726440" y="1147134"/>
            <a:ext cx="10515600" cy="3191821"/>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88315"/>
            <a:ext cx="12192000" cy="6858000"/>
          </a:xfrm>
        </p:spPr>
        <p:txBody>
          <a:bodyPr>
            <a:normAutofit/>
          </a:bodyPr>
          <a:lstStyle/>
          <a:p>
            <a:pPr marL="0" indent="0">
              <a:buNone/>
            </a:pPr>
            <a:r>
              <a:rPr lang="en-IN" dirty="0"/>
              <a:t>Working of AAVO:</a:t>
            </a:r>
          </a:p>
          <a:p>
            <a:pPr marL="0" indent="0">
              <a:buNone/>
            </a:pPr>
            <a:r>
              <a:rPr lang="en-IN" sz="1800" kern="0" dirty="0">
                <a:effectLst/>
                <a:latin typeface="Times New Roman" panose="02020603050405020304" pitchFamily="18" charset="0"/>
                <a:ea typeface="SimSun" panose="02010600030101010101" pitchFamily="2" charset="-122"/>
                <a:cs typeface="Times New Roman" panose="02020603050405020304" pitchFamily="18" charset="0"/>
              </a:rPr>
              <a:t>The </a:t>
            </a:r>
            <a:r>
              <a:rPr lang="en-IN" sz="1800" b="1" dirty="0">
                <a:effectLst/>
                <a:latin typeface="Times New Roman" panose="02020603050405020304" pitchFamily="18" charset="0"/>
                <a:ea typeface="SimSun" panose="02010600030101010101" pitchFamily="2" charset="-122"/>
                <a:cs typeface="Times New Roman" panose="02020603050405020304" pitchFamily="18" charset="0"/>
              </a:rPr>
              <a:t>Aquila with African Vulture Optimization (AAVO)</a:t>
            </a:r>
            <a:r>
              <a:rPr lang="en-IN" sz="1800" kern="0" dirty="0">
                <a:effectLst/>
                <a:latin typeface="Times New Roman" panose="02020603050405020304" pitchFamily="18" charset="0"/>
                <a:ea typeface="SimSun" panose="02010600030101010101" pitchFamily="2" charset="-122"/>
                <a:cs typeface="Times New Roman" panose="02020603050405020304" pitchFamily="18" charset="0"/>
              </a:rPr>
              <a:t> algorithm is designed to find the most energy-efficient routes from CHs to the Base Station (BS). This hybrid algorithm leverages the strengths of both </a:t>
            </a:r>
            <a:r>
              <a:rPr lang="en-IN" sz="1800" b="1" dirty="0">
                <a:effectLst/>
                <a:latin typeface="Times New Roman" panose="02020603050405020304" pitchFamily="18" charset="0"/>
                <a:ea typeface="SimSun" panose="02010600030101010101" pitchFamily="2" charset="-122"/>
                <a:cs typeface="Times New Roman" panose="02020603050405020304" pitchFamily="18" charset="0"/>
              </a:rPr>
              <a:t>Aquila Optimizer (AO)</a:t>
            </a:r>
            <a:r>
              <a:rPr lang="en-IN" sz="1800" kern="0" dirty="0">
                <a:effectLst/>
                <a:latin typeface="Times New Roman" panose="02020603050405020304" pitchFamily="18" charset="0"/>
                <a:ea typeface="SimSun" panose="02010600030101010101" pitchFamily="2" charset="-122"/>
                <a:cs typeface="Times New Roman" panose="02020603050405020304" pitchFamily="18" charset="0"/>
              </a:rPr>
              <a:t> and </a:t>
            </a:r>
            <a:r>
              <a:rPr lang="en-IN" sz="1800" b="1" dirty="0">
                <a:effectLst/>
                <a:latin typeface="Times New Roman" panose="02020603050405020304" pitchFamily="18" charset="0"/>
                <a:ea typeface="SimSun" panose="02010600030101010101" pitchFamily="2" charset="-122"/>
                <a:cs typeface="Times New Roman" panose="02020603050405020304" pitchFamily="18" charset="0"/>
              </a:rPr>
              <a:t>African Vulture Optimization Algorithm (AVOA)</a:t>
            </a:r>
            <a:r>
              <a:rPr lang="en-IN" sz="1800" kern="0" dirty="0">
                <a:effectLst/>
                <a:latin typeface="Times New Roman" panose="02020603050405020304" pitchFamily="18" charset="0"/>
                <a:ea typeface="SimSun" panose="02010600030101010101" pitchFamily="2" charset="-122"/>
                <a:cs typeface="Times New Roman" panose="02020603050405020304" pitchFamily="18" charset="0"/>
              </a:rPr>
              <a:t>.</a:t>
            </a:r>
            <a:r>
              <a:rPr lang="en-IN" sz="1800" i="0" kern="100" spc="0" dirty="0">
                <a:effectLst/>
                <a:latin typeface="Times New Roman" panose="02020603050405020304" pitchFamily="18" charset="0"/>
                <a:cs typeface="Times New Roman" panose="02020603050405020304" pitchFamily="18" charset="0"/>
              </a:rPr>
              <a:t>.</a:t>
            </a:r>
            <a:endParaRPr lang="en-IN" sz="1800" kern="100" dirty="0">
              <a:effectLst/>
              <a:latin typeface="Times New Roman" panose="02020603050405020304" pitchFamily="18" charset="0"/>
              <a:cs typeface="Times New Roman" panose="02020603050405020304" pitchFamily="18" charset="0"/>
            </a:endParaRPr>
          </a:p>
          <a:p>
            <a:pPr lvl="0">
              <a:lnSpc>
                <a:spcPct val="107000"/>
              </a:lnSpc>
              <a:spcBef>
                <a:spcPts val="525"/>
              </a:spcBef>
              <a:spcAft>
                <a:spcPts val="525"/>
              </a:spcAft>
            </a:pPr>
            <a:r>
              <a:rPr lang="en-IN" sz="1800" b="1" i="0" kern="100" spc="0" dirty="0">
                <a:effectLst/>
                <a:latin typeface="Times New Roman" panose="02020603050405020304" pitchFamily="18" charset="0"/>
                <a:cs typeface="Times New Roman" panose="02020603050405020304" pitchFamily="18" charset="0"/>
              </a:rPr>
              <a:t>Selected CHs</a:t>
            </a:r>
            <a:r>
              <a:rPr lang="en-IN" sz="1800" i="0" kern="100" spc="0" dirty="0">
                <a:effectLst/>
                <a:latin typeface="Times New Roman" panose="02020603050405020304" pitchFamily="18" charset="0"/>
                <a:cs typeface="Times New Roman" panose="02020603050405020304" pitchFamily="18" charset="0"/>
              </a:rPr>
              <a:t>: The output from the GBC algorithm, which serves as input to the AAVO algorithm.</a:t>
            </a:r>
            <a:endParaRPr lang="en-IN" sz="1800" kern="100" dirty="0">
              <a:effectLst/>
              <a:latin typeface="Times New Roman" panose="02020603050405020304" pitchFamily="18" charset="0"/>
              <a:cs typeface="Times New Roman" panose="02020603050405020304" pitchFamily="18" charset="0"/>
            </a:endParaRPr>
          </a:p>
          <a:p>
            <a:pPr lvl="0">
              <a:lnSpc>
                <a:spcPct val="107000"/>
              </a:lnSpc>
              <a:spcBef>
                <a:spcPts val="525"/>
              </a:spcBef>
              <a:spcAft>
                <a:spcPts val="525"/>
              </a:spcAft>
            </a:pPr>
            <a:r>
              <a:rPr lang="en-IN" sz="1800" b="1" i="0" kern="100" spc="0" dirty="0">
                <a:effectLst/>
                <a:latin typeface="Times New Roman" panose="02020603050405020304" pitchFamily="18" charset="0"/>
                <a:cs typeface="Times New Roman" panose="02020603050405020304" pitchFamily="18" charset="0"/>
              </a:rPr>
              <a:t>AAVO Algorithm</a:t>
            </a:r>
            <a:r>
              <a:rPr lang="en-IN" sz="1800" i="0" kern="100" spc="0" dirty="0">
                <a:effectLst/>
                <a:latin typeface="Times New Roman" panose="02020603050405020304" pitchFamily="18" charset="0"/>
                <a:cs typeface="Times New Roman" panose="02020603050405020304" pitchFamily="18" charset="0"/>
              </a:rPr>
              <a:t>: This algorithm optimizes routing paths based on the selected CHs.</a:t>
            </a:r>
          </a:p>
          <a:p>
            <a:pPr marL="0" marR="0" indent="0" algn="l">
              <a:spcBef>
                <a:spcPts val="500"/>
              </a:spcBef>
              <a:spcAft>
                <a:spcPts val="500"/>
              </a:spcAft>
              <a:buNone/>
            </a:pPr>
            <a:r>
              <a:rPr lang="en-IN" altLang="en-US" sz="1800" kern="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1800" kern="0" dirty="0">
                <a:effectLst/>
                <a:latin typeface="Times New Roman" panose="02020603050405020304" pitchFamily="18" charset="0"/>
                <a:ea typeface="SimSun" panose="02010600030101010101" pitchFamily="2" charset="-122"/>
                <a:cs typeface="Times New Roman" panose="02020603050405020304" pitchFamily="18" charset="0"/>
              </a:rPr>
              <a:t>                                    Two vultures are chosen as the best and second-best solutions from the initial population of routes.</a:t>
            </a:r>
            <a:endParaRPr lang="en-IN" sz="1800" kern="100" dirty="0">
              <a:effectLst/>
              <a:latin typeface="Times New Roman" panose="02020603050405020304" pitchFamily="18" charset="0"/>
              <a:cs typeface="Times New Roman" panose="02020603050405020304" pitchFamily="18" charset="0"/>
            </a:endParaRPr>
          </a:p>
          <a:p>
            <a:pPr>
              <a:lnSpc>
                <a:spcPct val="107000"/>
              </a:lnSpc>
              <a:spcBef>
                <a:spcPts val="525"/>
              </a:spcBef>
              <a:spcAft>
                <a:spcPts val="525"/>
              </a:spcAft>
            </a:pPr>
            <a:r>
              <a:rPr lang="en-IN" sz="1800" b="1" i="0" kern="100" spc="0" dirty="0">
                <a:effectLst/>
                <a:latin typeface="Times New Roman" panose="02020603050405020304" pitchFamily="18" charset="0"/>
                <a:cs typeface="Times New Roman" panose="02020603050405020304" pitchFamily="18" charset="0"/>
              </a:rPr>
              <a:t>Fitness Evaluation</a:t>
            </a:r>
            <a:r>
              <a:rPr lang="en-IN" sz="1800" i="0" kern="100" spc="0" dirty="0">
                <a:effectLst/>
                <a:latin typeface="Times New Roman" panose="02020603050405020304" pitchFamily="18" charset="0"/>
                <a:cs typeface="Times New Roman" panose="02020603050405020304" pitchFamily="18" charset="0"/>
              </a:rPr>
              <a:t>: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The positions of these vultures are updated using fitness values (energy, node degree, and distance)</a:t>
            </a:r>
            <a:endParaRPr lang="en-IN" sz="1800" i="0" kern="100" spc="0" dirty="0">
              <a:effectLst/>
              <a:latin typeface="Times New Roman" panose="02020603050405020304" pitchFamily="18" charset="0"/>
              <a:cs typeface="Times New Roman" panose="02020603050405020304" pitchFamily="18" charset="0"/>
            </a:endParaRPr>
          </a:p>
          <a:p>
            <a:pPr>
              <a:lnSpc>
                <a:spcPct val="107000"/>
              </a:lnSpc>
              <a:spcAft>
                <a:spcPts val="800"/>
              </a:spcAft>
            </a:pPr>
            <a:r>
              <a:rPr lang="en-IN" sz="1800" b="1" i="0" kern="100" spc="0" dirty="0">
                <a:effectLst/>
                <a:latin typeface="Times New Roman" panose="02020603050405020304" pitchFamily="18" charset="0"/>
                <a:cs typeface="Times New Roman" panose="02020603050405020304" pitchFamily="18" charset="0"/>
              </a:rPr>
              <a:t>Exploration Phase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Search widely to find the best possible routing paths.</a:t>
            </a:r>
            <a:endParaRPr lang="en-US" sz="1800" kern="100" dirty="0">
              <a:effectLst/>
              <a:latin typeface="Times New Roman" panose="02020603050405020304" pitchFamily="18" charset="0"/>
              <a:cs typeface="Times New Roman" panose="02020603050405020304" pitchFamily="18" charset="0"/>
            </a:endParaRPr>
          </a:p>
          <a:p>
            <a:pPr>
              <a:lnSpc>
                <a:spcPct val="107000"/>
              </a:lnSpc>
              <a:spcAft>
                <a:spcPts val="800"/>
              </a:spcAft>
            </a:pPr>
            <a:r>
              <a:rPr lang="en-IN" sz="1800" b="1" i="0" kern="100" spc="0" dirty="0">
                <a:effectLst/>
                <a:latin typeface="Times New Roman" panose="02020603050405020304" pitchFamily="18" charset="0"/>
                <a:cs typeface="Times New Roman" panose="02020603050405020304" pitchFamily="18" charset="0"/>
              </a:rPr>
              <a:t>Exploitation Phase</a:t>
            </a:r>
            <a:r>
              <a:rPr lang="en-IN" sz="1800" i="0" kern="100" spc="0" dirty="0">
                <a:effectLst/>
                <a:latin typeface="Times New Roman" panose="02020603050405020304" pitchFamily="18" charset="0"/>
                <a:cs typeface="Times New Roman" panose="02020603050405020304" pitchFamily="18" charset="0"/>
              </a:rPr>
              <a:t>: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Focus on refining and improving the routes that were found during exploration.</a:t>
            </a:r>
            <a:endParaRPr lang="en-US" sz="1800" kern="100" dirty="0">
              <a:effectLst/>
              <a:latin typeface="Times New Roman" panose="02020603050405020304" pitchFamily="18" charset="0"/>
              <a:cs typeface="Times New Roman" panose="02020603050405020304" pitchFamily="18" charset="0"/>
            </a:endParaRPr>
          </a:p>
          <a:p>
            <a:pPr marL="57150" marR="0" indent="-285750" algn="l">
              <a:spcBef>
                <a:spcPts val="500"/>
              </a:spcBef>
              <a:spcAft>
                <a:spcPts val="500"/>
              </a:spcAft>
            </a:pPr>
            <a:r>
              <a:rPr lang="en-US" sz="1800" b="1" dirty="0">
                <a:effectLst/>
                <a:latin typeface="Times New Roman" panose="02020603050405020304" pitchFamily="18" charset="0"/>
                <a:ea typeface="SimSun" panose="02010600030101010101" pitchFamily="2" charset="-122"/>
                <a:cs typeface="Times New Roman" panose="02020603050405020304" pitchFamily="18" charset="0"/>
              </a:rPr>
              <a:t>Update Agent </a:t>
            </a:r>
            <a:r>
              <a:rPr lang="en-US" sz="1800" b="1" dirty="0" err="1">
                <a:effectLst/>
                <a:latin typeface="Times New Roman" panose="02020603050405020304" pitchFamily="18" charset="0"/>
                <a:ea typeface="SimSun" panose="02010600030101010101" pitchFamily="2" charset="-122"/>
                <a:cs typeface="Times New Roman" panose="02020603050405020304" pitchFamily="18" charset="0"/>
              </a:rPr>
              <a:t>Positions:</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Based</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on the exploration or exploitation phases of AO and AVOA, the algorithm updates the              </a:t>
            </a:r>
            <a:r>
              <a:rPr lang="en-IN" alt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marL="0" marR="0" indent="0" algn="l">
              <a:spcBef>
                <a:spcPts val="500"/>
              </a:spcBef>
              <a:spcAft>
                <a:spcPts val="500"/>
              </a:spcAft>
              <a:buNone/>
            </a:pPr>
            <a:r>
              <a:rPr lang="en-IN" alt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positions (characteristics) of the "agents" – which represent the candidate solutions (routes).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Optimized Best Route: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the termination condition is met (t </a:t>
            </a:r>
            <a:r>
              <a:rPr kumimoji="0" lang="en-IN"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 the algorithm stops and outputs the best solution (route) found across all iterations. This is the optimized route that meets the defined objectives and constraints.</a:t>
            </a:r>
          </a:p>
          <a:p>
            <a:pPr marL="0" marR="0" lvl="0" indent="0" algn="l" defTabSz="914400" rtl="0" eaLnBrk="0" fontAlgn="base" latinLnBrk="0" hangingPunct="0">
              <a:lnSpc>
                <a:spcPct val="100000"/>
              </a:lnSpc>
              <a:spcBef>
                <a:spcPct val="0"/>
              </a:spcBef>
              <a:spcAft>
                <a:spcPct val="0"/>
              </a:spcAft>
              <a:buClrTx/>
              <a:buSzTx/>
              <a:buNone/>
            </a:pPr>
            <a:r>
              <a:rPr kumimoji="0" lang="en-IN"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altLang="en-US" sz="3600" dirty="0">
                <a:latin typeface="Times New Roman" panose="02020603050405020304" pitchFamily="18" charset="0"/>
                <a:cs typeface="Times New Roman" panose="02020603050405020304" pitchFamily="18" charset="0"/>
                <a:sym typeface="+mn-ea"/>
              </a:rPr>
              <a:t>10. </a:t>
            </a:r>
            <a:r>
              <a:rPr lang="en-US" sz="3600" dirty="0">
                <a:latin typeface="Times New Roman" panose="02020603050405020304" pitchFamily="18" charset="0"/>
                <a:cs typeface="Times New Roman" panose="02020603050405020304" pitchFamily="18" charset="0"/>
                <a:sym typeface="+mn-ea"/>
              </a:rPr>
              <a:t>PROJECT REQUIREMENTS</a:t>
            </a:r>
            <a:r>
              <a:rPr lang="en-IN" altLang="en-US" sz="3600" dirty="0">
                <a:latin typeface="Times New Roman" panose="02020603050405020304" pitchFamily="18" charset="0"/>
                <a:cs typeface="Times New Roman" panose="02020603050405020304" pitchFamily="18" charset="0"/>
                <a:sym typeface="+mn-ea"/>
              </a:rPr>
              <a:t>(SOFTWARE)</a:t>
            </a:r>
          </a:p>
        </p:txBody>
      </p:sp>
      <p:sp>
        <p:nvSpPr>
          <p:cNvPr id="3" name="Content Placeholder 2"/>
          <p:cNvSpPr>
            <a:spLocks noGrp="1"/>
          </p:cNvSpPr>
          <p:nvPr>
            <p:ph idx="1"/>
          </p:nvPr>
        </p:nvSpPr>
        <p:spPr/>
        <p:txBody>
          <a:bodyPr>
            <a:normAutofit/>
          </a:bodyPr>
          <a:lstStyle/>
          <a:p>
            <a:pPr marL="342900" lvl="0" indent="-342900" algn="just">
              <a:lnSpc>
                <a:spcPct val="150000"/>
              </a:lnSpc>
              <a:spcAft>
                <a:spcPts val="1000"/>
              </a:spcAft>
              <a:buFont typeface="Noto Sans Symbols"/>
              <a:buChar char="●"/>
            </a:pPr>
            <a:r>
              <a:rPr lang="en-US" sz="1800" kern="0" dirty="0">
                <a:effectLst/>
                <a:latin typeface="Times New Roman" panose="02020603050405020304" pitchFamily="18" charset="0"/>
                <a:cs typeface="Times New Roman" panose="02020603050405020304" pitchFamily="18" charset="0"/>
                <a:sym typeface="+mn-ea"/>
              </a:rPr>
              <a:t>Operating system </a:t>
            </a:r>
            <a:r>
              <a:rPr lang="en-US" sz="1800" b="1" kern="0" dirty="0">
                <a:latin typeface="Times New Roman" panose="02020603050405020304" pitchFamily="18" charset="0"/>
                <a:cs typeface="Times New Roman" panose="02020603050405020304" pitchFamily="18" charset="0"/>
                <a:sym typeface="+mn-ea"/>
              </a:rPr>
              <a:t>           </a:t>
            </a:r>
            <a:r>
              <a:rPr lang="en-US" sz="1800" b="1" kern="0" dirty="0">
                <a:effectLst/>
                <a:latin typeface="Times New Roman" panose="02020603050405020304" pitchFamily="18" charset="0"/>
                <a:cs typeface="Times New Roman" panose="02020603050405020304" pitchFamily="18" charset="0"/>
                <a:sym typeface="+mn-ea"/>
              </a:rPr>
              <a:t>:   </a:t>
            </a:r>
            <a:r>
              <a:rPr lang="en-US" sz="1800" kern="0" dirty="0">
                <a:effectLst/>
                <a:latin typeface="Times New Roman" panose="02020603050405020304" pitchFamily="18" charset="0"/>
                <a:cs typeface="Times New Roman" panose="02020603050405020304" pitchFamily="18" charset="0"/>
                <a:sym typeface="+mn-ea"/>
              </a:rPr>
              <a:t>Windows</a:t>
            </a:r>
            <a:endParaRPr lang="en-US" sz="1800" dirty="0">
              <a:effectLst/>
              <a:latin typeface="Times New Roman" panose="02020603050405020304" pitchFamily="18" charset="0"/>
              <a:cs typeface="Times New Roman" panose="02020603050405020304" pitchFamily="18" charset="0"/>
            </a:endParaRPr>
          </a:p>
          <a:p>
            <a:pPr marL="342900" lvl="0" indent="-342900" algn="just">
              <a:lnSpc>
                <a:spcPct val="150000"/>
              </a:lnSpc>
              <a:spcAft>
                <a:spcPts val="1000"/>
              </a:spcAft>
              <a:buFont typeface="Noto Sans Symbols"/>
              <a:buChar char="●"/>
            </a:pPr>
            <a:r>
              <a:rPr lang="en-US" sz="1800" kern="0" dirty="0">
                <a:effectLst/>
                <a:latin typeface="Times New Roman" panose="02020603050405020304" pitchFamily="18" charset="0"/>
                <a:cs typeface="Times New Roman" panose="02020603050405020304" pitchFamily="18" charset="0"/>
                <a:sym typeface="+mn-ea"/>
              </a:rPr>
              <a:t>Coding Language</a:t>
            </a:r>
            <a:r>
              <a:rPr lang="en-US" sz="1800" kern="0" dirty="0">
                <a:latin typeface="Times New Roman" panose="02020603050405020304" pitchFamily="18" charset="0"/>
                <a:cs typeface="Times New Roman" panose="02020603050405020304" pitchFamily="18" charset="0"/>
                <a:sym typeface="+mn-ea"/>
              </a:rPr>
              <a:t>            </a:t>
            </a:r>
            <a:r>
              <a:rPr lang="en-US" sz="1800" b="1" kern="0" dirty="0">
                <a:effectLst/>
                <a:latin typeface="Times New Roman" panose="02020603050405020304" pitchFamily="18" charset="0"/>
                <a:cs typeface="Times New Roman" panose="02020603050405020304" pitchFamily="18" charset="0"/>
                <a:sym typeface="+mn-ea"/>
              </a:rPr>
              <a:t>: </a:t>
            </a:r>
            <a:r>
              <a:rPr lang="en-US" sz="1800" dirty="0">
                <a:effectLst/>
                <a:latin typeface="Times New Roman" panose="02020603050405020304" pitchFamily="18" charset="0"/>
                <a:cs typeface="Times New Roman" panose="02020603050405020304" pitchFamily="18" charset="0"/>
                <a:sym typeface="+mn-ea"/>
              </a:rPr>
              <a:t>MATLAB </a:t>
            </a:r>
            <a:endParaRPr lang="en-US" sz="1800" kern="0" dirty="0">
              <a:effectLst/>
              <a:latin typeface="Times New Roman" panose="02020603050405020304" pitchFamily="18" charset="0"/>
              <a:cs typeface="Times New Roman" panose="02020603050405020304" pitchFamily="18" charset="0"/>
            </a:endParaRPr>
          </a:p>
          <a:p>
            <a:pPr marL="342900" indent="-342900" algn="just">
              <a:lnSpc>
                <a:spcPct val="150000"/>
              </a:lnSpc>
              <a:spcAft>
                <a:spcPts val="1000"/>
              </a:spcAft>
              <a:buFont typeface="Noto Sans Symbols"/>
              <a:buChar char="●"/>
            </a:pPr>
            <a:r>
              <a:rPr lang="en-US" sz="1800" kern="0" dirty="0">
                <a:latin typeface="Times New Roman" panose="02020603050405020304" pitchFamily="18" charset="0"/>
                <a:cs typeface="Times New Roman" panose="02020603050405020304" pitchFamily="18" charset="0"/>
                <a:sym typeface="+mn-ea"/>
              </a:rPr>
              <a:t>Software                          </a:t>
            </a:r>
            <a:r>
              <a:rPr lang="en-US" sz="1800" b="1" kern="0" dirty="0">
                <a:latin typeface="Times New Roman" panose="02020603050405020304" pitchFamily="18" charset="0"/>
                <a:cs typeface="Times New Roman" panose="02020603050405020304" pitchFamily="18" charset="0"/>
                <a:sym typeface="+mn-ea"/>
              </a:rPr>
              <a:t>:</a:t>
            </a:r>
            <a:r>
              <a:rPr lang="en-IN" sz="1800" b="1" kern="0" dirty="0">
                <a:latin typeface="Times New Roman" panose="02020603050405020304" pitchFamily="18" charset="0"/>
                <a:cs typeface="Times New Roman" panose="02020603050405020304" pitchFamily="18" charset="0"/>
                <a:sym typeface="+mn-ea"/>
              </a:rPr>
              <a:t>  </a:t>
            </a:r>
            <a:r>
              <a:rPr lang="en-US" sz="1800" dirty="0">
                <a:effectLst/>
                <a:latin typeface="Times New Roman" panose="02020603050405020304" pitchFamily="18" charset="0"/>
                <a:cs typeface="Times New Roman" panose="02020603050405020304" pitchFamily="18" charset="0"/>
                <a:sym typeface="+mn-ea"/>
              </a:rPr>
              <a:t>MATLAB </a:t>
            </a:r>
            <a:r>
              <a:rPr lang="en-US" sz="1800" dirty="0">
                <a:latin typeface="Times New Roman" panose="02020603050405020304" pitchFamily="18" charset="0"/>
                <a:cs typeface="Times New Roman" panose="02020603050405020304" pitchFamily="18" charset="0"/>
                <a:sym typeface="+mn-ea"/>
              </a:rPr>
              <a:t>R2023a</a:t>
            </a:r>
            <a:r>
              <a:rPr lang="en-US" sz="1800" dirty="0">
                <a:effectLst/>
                <a:latin typeface="Times New Roman" panose="02020603050405020304" pitchFamily="18" charset="0"/>
                <a:cs typeface="Times New Roman" panose="02020603050405020304" pitchFamily="18" charset="0"/>
                <a:sym typeface="+mn-ea"/>
              </a:rPr>
              <a:t> </a:t>
            </a:r>
            <a:endParaRPr lang="en-US" sz="1800" kern="0" dirty="0">
              <a:latin typeface="Times New Roman" panose="02020603050405020304" pitchFamily="18" charset="0"/>
              <a:cs typeface="Times New Roman" panose="02020603050405020304" pitchFamily="18" charset="0"/>
            </a:endParaRPr>
          </a:p>
          <a:p>
            <a:pPr marL="342900" indent="-342900">
              <a:lnSpc>
                <a:spcPct val="100000"/>
              </a:lnSpc>
              <a:spcBef>
                <a:spcPts val="640"/>
              </a:spcBef>
              <a:buClr>
                <a:srgbClr val="000000"/>
              </a:buClr>
              <a:buFont typeface="Arial" panose="020B0604020202020204"/>
              <a:buChar char="•"/>
            </a:pPr>
            <a:endParaRPr lang="en-US" sz="1800" b="0" strike="noStrike" spc="-1" dirty="0">
              <a:solidFill>
                <a:srgbClr val="000000"/>
              </a:solidFill>
              <a:latin typeface="Times New Roman" panose="02020603050405020304" pitchFamily="18" charset="0"/>
              <a:cs typeface="Times New Roman" panose="02020603050405020304" pitchFamily="18" charset="0"/>
            </a:endParaRPr>
          </a:p>
          <a:p>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351776"/>
            <a:ext cx="10515600" cy="1325563"/>
          </a:xfrm>
        </p:spPr>
        <p:txBody>
          <a:bodyPr>
            <a:normAutofit/>
          </a:bodyPr>
          <a:lstStyle/>
          <a:p>
            <a:r>
              <a:rPr lang="en-IN" altLang="en-US" sz="3600" dirty="0">
                <a:latin typeface="Times New Roman" panose="02020603050405020304" pitchFamily="18" charset="0"/>
                <a:cs typeface="Times New Roman" panose="02020603050405020304" pitchFamily="18" charset="0"/>
                <a:sym typeface="+mn-ea"/>
              </a:rPr>
              <a:t>11. </a:t>
            </a:r>
            <a:r>
              <a:rPr lang="en-US" sz="3600" dirty="0">
                <a:latin typeface="Times New Roman" panose="02020603050405020304" pitchFamily="18" charset="0"/>
                <a:cs typeface="Times New Roman" panose="02020603050405020304" pitchFamily="18" charset="0"/>
                <a:sym typeface="+mn-ea"/>
              </a:rPr>
              <a:t>RESULTS AND ITS ANALYSIS</a:t>
            </a:r>
            <a:endParaRPr lang="en-US" sz="3600" dirty="0"/>
          </a:p>
        </p:txBody>
      </p:sp>
      <p:sp>
        <p:nvSpPr>
          <p:cNvPr id="4" name="Content Placeholder 3"/>
          <p:cNvSpPr>
            <a:spLocks noGrp="1"/>
          </p:cNvSpPr>
          <p:nvPr>
            <p:ph idx="1"/>
          </p:nvPr>
        </p:nvSpPr>
        <p:spPr>
          <a:xfrm>
            <a:off x="91439" y="473485"/>
            <a:ext cx="12009120" cy="6076604"/>
          </a:xfrm>
        </p:spPr>
        <p:txBody>
          <a:bodyPr/>
          <a:lstStyle/>
          <a:p>
            <a:pPr marL="0" indent="0">
              <a:buNone/>
            </a:pPr>
            <a:r>
              <a:rPr lang="en-US" altLang="en-US" dirty="0"/>
              <a:t>Table1: Performance Comparison of Proposed and Existing Systems</a:t>
            </a:r>
          </a:p>
          <a:p>
            <a:pPr marL="0" indent="0">
              <a:buNone/>
            </a:pPr>
            <a:endParaRPr lang="en-US" altLang="en-US" dirty="0"/>
          </a:p>
        </p:txBody>
      </p:sp>
      <p:graphicFrame>
        <p:nvGraphicFramePr>
          <p:cNvPr id="6" name="Table 5"/>
          <p:cNvGraphicFramePr/>
          <p:nvPr>
            <p:custDataLst>
              <p:tags r:id="rId1"/>
            </p:custDataLst>
          </p:nvPr>
        </p:nvGraphicFramePr>
        <p:xfrm>
          <a:off x="91440" y="859790"/>
          <a:ext cx="12010390" cy="6113780"/>
        </p:xfrm>
        <a:graphic>
          <a:graphicData uri="http://schemas.openxmlformats.org/drawingml/2006/table">
            <a:tbl>
              <a:tblPr firstRow="1" bandRow="1">
                <a:tableStyleId>{5C22544A-7EE6-4342-B048-85BDC9FD1C3A}</a:tableStyleId>
              </a:tblPr>
              <a:tblGrid>
                <a:gridCol w="1969770">
                  <a:extLst>
                    <a:ext uri="{9D8B030D-6E8A-4147-A177-3AD203B41FA5}">
                      <a16:colId xmlns:a16="http://schemas.microsoft.com/office/drawing/2014/main" val="20000"/>
                    </a:ext>
                  </a:extLst>
                </a:gridCol>
                <a:gridCol w="1461770">
                  <a:extLst>
                    <a:ext uri="{9D8B030D-6E8A-4147-A177-3AD203B41FA5}">
                      <a16:colId xmlns:a16="http://schemas.microsoft.com/office/drawing/2014/main" val="20001"/>
                    </a:ext>
                  </a:extLst>
                </a:gridCol>
                <a:gridCol w="1715770">
                  <a:extLst>
                    <a:ext uri="{9D8B030D-6E8A-4147-A177-3AD203B41FA5}">
                      <a16:colId xmlns:a16="http://schemas.microsoft.com/office/drawing/2014/main" val="20002"/>
                    </a:ext>
                  </a:extLst>
                </a:gridCol>
                <a:gridCol w="1715770">
                  <a:extLst>
                    <a:ext uri="{9D8B030D-6E8A-4147-A177-3AD203B41FA5}">
                      <a16:colId xmlns:a16="http://schemas.microsoft.com/office/drawing/2014/main" val="20003"/>
                    </a:ext>
                  </a:extLst>
                </a:gridCol>
                <a:gridCol w="1715770">
                  <a:extLst>
                    <a:ext uri="{9D8B030D-6E8A-4147-A177-3AD203B41FA5}">
                      <a16:colId xmlns:a16="http://schemas.microsoft.com/office/drawing/2014/main" val="20004"/>
                    </a:ext>
                  </a:extLst>
                </a:gridCol>
                <a:gridCol w="1715770">
                  <a:extLst>
                    <a:ext uri="{9D8B030D-6E8A-4147-A177-3AD203B41FA5}">
                      <a16:colId xmlns:a16="http://schemas.microsoft.com/office/drawing/2014/main" val="20005"/>
                    </a:ext>
                  </a:extLst>
                </a:gridCol>
                <a:gridCol w="1715770">
                  <a:extLst>
                    <a:ext uri="{9D8B030D-6E8A-4147-A177-3AD203B41FA5}">
                      <a16:colId xmlns:a16="http://schemas.microsoft.com/office/drawing/2014/main" val="20006"/>
                    </a:ext>
                  </a:extLst>
                </a:gridCol>
              </a:tblGrid>
              <a:tr h="640080">
                <a:tc>
                  <a:txBody>
                    <a:bodyPr/>
                    <a:lstStyle/>
                    <a:p>
                      <a:pPr marL="539750" indent="0" algn="l">
                        <a:spcBef>
                          <a:spcPct val="0"/>
                        </a:spcBef>
                        <a:spcAft>
                          <a:spcPct val="0"/>
                        </a:spcAft>
                      </a:pPr>
                      <a:r>
                        <a:rPr sz="1400" b="1">
                          <a:latin typeface="Times New Roman" panose="02020603050405020304" pitchFamily="18" charset="0"/>
                          <a:ea typeface="Calibri" panose="020F0502020204030204"/>
                          <a:cs typeface="Times New Roman" panose="02020603050405020304" pitchFamily="18" charset="0"/>
                        </a:rPr>
                        <a:t>METRIC</a:t>
                      </a:r>
                    </a:p>
                    <a:p>
                      <a:pPr marL="539750" indent="0" algn="l">
                        <a:lnSpc>
                          <a:spcPct val="114000"/>
                        </a:lnSpc>
                        <a:spcBef>
                          <a:spcPct val="0"/>
                        </a:spcBef>
                        <a:spcAft>
                          <a:spcPct val="0"/>
                        </a:spcAft>
                      </a:pPr>
                      <a:r>
                        <a:rPr sz="1400" b="1">
                          <a:latin typeface="Times New Roman" panose="02020603050405020304" pitchFamily="18" charset="0"/>
                          <a:ea typeface="Times New Roman" panose="02020603050405020304"/>
                          <a:cs typeface="Times New Roman" panose="02020603050405020304" pitchFamily="18" charset="0"/>
                        </a:rPr>
                        <a:t> </a:t>
                      </a:r>
                    </a:p>
                  </a:txBody>
                  <a:tcPr marL="68580" marR="68580" marT="0" marB="0" anchor="ctr"/>
                </a:tc>
                <a:tc>
                  <a:txBody>
                    <a:bodyPr/>
                    <a:lstStyle/>
                    <a:p>
                      <a:pPr marL="539750" indent="0" algn="just">
                        <a:spcBef>
                          <a:spcPct val="0"/>
                        </a:spcBef>
                        <a:spcAft>
                          <a:spcPct val="0"/>
                        </a:spcAft>
                      </a:pPr>
                      <a:r>
                        <a:rPr sz="1400" b="1">
                          <a:latin typeface="Times New Roman" panose="02020603050405020304" pitchFamily="18" charset="0"/>
                          <a:ea typeface="Times New Roman" panose="02020603050405020304"/>
                          <a:cs typeface="Times New Roman" panose="02020603050405020304" pitchFamily="18" charset="0"/>
                        </a:rPr>
                        <a:t>HOEEACR</a:t>
                      </a:r>
                    </a:p>
                    <a:p>
                      <a:pPr marL="539750" indent="209550" algn="just">
                        <a:spcBef>
                          <a:spcPct val="0"/>
                        </a:spcBef>
                        <a:spcAft>
                          <a:spcPct val="0"/>
                        </a:spcAft>
                      </a:pPr>
                      <a:r>
                        <a:rPr sz="1400" b="1">
                          <a:latin typeface="Times New Roman" panose="02020603050405020304" pitchFamily="18" charset="0"/>
                          <a:ea typeface="Times New Roman" panose="02020603050405020304"/>
                          <a:cs typeface="Times New Roman" panose="02020603050405020304" pitchFamily="18" charset="0"/>
                        </a:rPr>
                        <a:t>(Pro)</a:t>
                      </a:r>
                    </a:p>
                  </a:txBody>
                  <a:tcPr marL="68580" marR="68580" marT="0" marB="0" anchor="ctr"/>
                </a:tc>
                <a:tc>
                  <a:txBody>
                    <a:bodyPr/>
                    <a:lstStyle/>
                    <a:p>
                      <a:pPr marL="539750" indent="0" algn="just">
                        <a:lnSpc>
                          <a:spcPct val="114000"/>
                        </a:lnSpc>
                        <a:spcBef>
                          <a:spcPct val="0"/>
                        </a:spcBef>
                        <a:spcAft>
                          <a:spcPct val="0"/>
                        </a:spcAft>
                      </a:pPr>
                      <a:r>
                        <a:rPr sz="1400" b="1">
                          <a:latin typeface="Times New Roman" panose="02020603050405020304" pitchFamily="18" charset="0"/>
                          <a:ea typeface="Times New Roman" panose="02020603050405020304"/>
                          <a:cs typeface="Times New Roman" panose="02020603050405020304" pitchFamily="18" charset="0"/>
                        </a:rPr>
                        <a:t>BSO-TLBO</a:t>
                      </a:r>
                    </a:p>
                  </a:txBody>
                  <a:tcPr marL="68580" marR="68580" marT="0" marB="0" anchor="ctr"/>
                </a:tc>
                <a:tc>
                  <a:txBody>
                    <a:bodyPr/>
                    <a:lstStyle/>
                    <a:p>
                      <a:pPr marL="539750" indent="0" algn="just">
                        <a:lnSpc>
                          <a:spcPct val="114000"/>
                        </a:lnSpc>
                        <a:spcBef>
                          <a:spcPct val="0"/>
                        </a:spcBef>
                        <a:spcAft>
                          <a:spcPct val="0"/>
                        </a:spcAft>
                      </a:pPr>
                      <a:r>
                        <a:rPr sz="1400" b="1">
                          <a:latin typeface="Times New Roman" panose="02020603050405020304" pitchFamily="18" charset="0"/>
                          <a:ea typeface="Times New Roman" panose="02020603050405020304"/>
                          <a:cs typeface="Times New Roman" panose="02020603050405020304" pitchFamily="18" charset="0"/>
                        </a:rPr>
                        <a:t>GAPSO-H</a:t>
                      </a:r>
                    </a:p>
                  </a:txBody>
                  <a:tcPr marL="68580" marR="68580" marT="0" marB="0" anchor="ctr"/>
                </a:tc>
                <a:tc>
                  <a:txBody>
                    <a:bodyPr/>
                    <a:lstStyle/>
                    <a:p>
                      <a:pPr marL="539750" indent="0">
                        <a:lnSpc>
                          <a:spcPct val="114000"/>
                        </a:lnSpc>
                        <a:spcBef>
                          <a:spcPct val="0"/>
                        </a:spcBef>
                        <a:spcAft>
                          <a:spcPct val="0"/>
                        </a:spcAft>
                      </a:pPr>
                      <a:r>
                        <a:rPr sz="1400" b="1">
                          <a:latin typeface="Times New Roman" panose="02020603050405020304" pitchFamily="18" charset="0"/>
                          <a:ea typeface="Times New Roman" panose="02020603050405020304"/>
                          <a:cs typeface="Times New Roman" panose="02020603050405020304" pitchFamily="18" charset="0"/>
                        </a:rPr>
                        <a:t>EECRAIFA</a:t>
                      </a:r>
                    </a:p>
                  </a:txBody>
                  <a:tcPr marL="68580" marR="68580" marT="0" marB="0" anchor="ctr"/>
                </a:tc>
                <a:tc>
                  <a:txBody>
                    <a:bodyPr/>
                    <a:lstStyle/>
                    <a:p>
                      <a:pPr marL="539750" indent="0" algn="just">
                        <a:lnSpc>
                          <a:spcPct val="114000"/>
                        </a:lnSpc>
                        <a:spcBef>
                          <a:spcPct val="0"/>
                        </a:spcBef>
                        <a:spcAft>
                          <a:spcPct val="0"/>
                        </a:spcAft>
                      </a:pPr>
                      <a:r>
                        <a:rPr sz="1400" b="1">
                          <a:latin typeface="Times New Roman" panose="02020603050405020304" pitchFamily="18" charset="0"/>
                          <a:ea typeface="Times New Roman" panose="02020603050405020304"/>
                          <a:cs typeface="Times New Roman" panose="02020603050405020304" pitchFamily="18" charset="0"/>
                        </a:rPr>
                        <a:t>IMD-EACBR</a:t>
                      </a:r>
                    </a:p>
                  </a:txBody>
                  <a:tcPr marL="68580" marR="68580" marT="0" marB="0" anchor="ctr"/>
                </a:tc>
                <a:tc>
                  <a:txBody>
                    <a:bodyPr/>
                    <a:lstStyle/>
                    <a:p>
                      <a:pPr marL="539750" indent="0" algn="just">
                        <a:lnSpc>
                          <a:spcPct val="114000"/>
                        </a:lnSpc>
                        <a:spcBef>
                          <a:spcPct val="0"/>
                        </a:spcBef>
                        <a:spcAft>
                          <a:spcPct val="0"/>
                        </a:spcAft>
                      </a:pPr>
                      <a:r>
                        <a:rPr sz="1400" b="1">
                          <a:latin typeface="Times New Roman" panose="02020603050405020304" pitchFamily="18" charset="0"/>
                          <a:ea typeface="Times New Roman" panose="02020603050405020304"/>
                          <a:cs typeface="Times New Roman" panose="02020603050405020304" pitchFamily="18" charset="0"/>
                        </a:rPr>
                        <a:t>HAV-CSO</a:t>
                      </a:r>
                    </a:p>
                  </a:txBody>
                  <a:tcPr marL="68580" marR="68580" marT="0" marB="0" anchor="ctr"/>
                </a:tc>
                <a:extLst>
                  <a:ext uri="{0D108BD9-81ED-4DB2-BD59-A6C34878D82A}">
                    <a16:rowId xmlns:a16="http://schemas.microsoft.com/office/drawing/2014/main" val="10000"/>
                  </a:ext>
                </a:extLst>
              </a:tr>
              <a:tr h="937260">
                <a:tc>
                  <a:txBody>
                    <a:bodyPr/>
                    <a:lstStyle/>
                    <a:p>
                      <a:pPr marL="539750" indent="0" algn="l">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Network Lifetime</a:t>
                      </a:r>
                    </a:p>
                    <a:p>
                      <a:pPr marL="539750" indent="0" algn="l">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(rounds)</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2800</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2500</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2200</a:t>
                      </a:r>
                    </a:p>
                  </a:txBody>
                  <a:tcPr marL="68580" marR="68580" marT="0" marB="0" anchor="ctr"/>
                </a:tc>
                <a:tc>
                  <a:txBody>
                    <a:bodyPr/>
                    <a:lstStyle/>
                    <a:p>
                      <a:pPr marL="2286000" indent="0" algn="just">
                        <a:lnSpc>
                          <a:spcPct val="114000"/>
                        </a:lnSpc>
                        <a:spcBef>
                          <a:spcPct val="0"/>
                        </a:spcBef>
                        <a:spcAft>
                          <a:spcPct val="0"/>
                        </a:spcAft>
                      </a:pPr>
                      <a:endParaRPr sz="1800" b="0">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1800</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1600</a:t>
                      </a:r>
                    </a:p>
                  </a:txBody>
                  <a:tcPr marL="68580" marR="68580" marT="0" marB="0" anchor="ctr"/>
                </a:tc>
                <a:extLst>
                  <a:ext uri="{0D108BD9-81ED-4DB2-BD59-A6C34878D82A}">
                    <a16:rowId xmlns:a16="http://schemas.microsoft.com/office/drawing/2014/main" val="10001"/>
                  </a:ext>
                </a:extLst>
              </a:tr>
              <a:tr h="563880">
                <a:tc>
                  <a:txBody>
                    <a:bodyPr/>
                    <a:lstStyle/>
                    <a:p>
                      <a:pPr marL="539750" indent="0" algn="l">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Alive Nodes</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900</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800</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750</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700</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600</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500</a:t>
                      </a:r>
                    </a:p>
                  </a:txBody>
                  <a:tcPr marL="68580" marR="68580" marT="0" marB="0" anchor="ctr"/>
                </a:tc>
                <a:extLst>
                  <a:ext uri="{0D108BD9-81ED-4DB2-BD59-A6C34878D82A}">
                    <a16:rowId xmlns:a16="http://schemas.microsoft.com/office/drawing/2014/main" val="10002"/>
                  </a:ext>
                </a:extLst>
              </a:tr>
              <a:tr h="848360">
                <a:tc>
                  <a:txBody>
                    <a:bodyPr/>
                    <a:lstStyle/>
                    <a:p>
                      <a:pPr marL="539750" indent="0" algn="l">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End-to-End Delay (ms)</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0.6-0.9</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1.1</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1.0</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0.95</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0.85</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0.8</a:t>
                      </a:r>
                    </a:p>
                  </a:txBody>
                  <a:tcPr marL="68580" marR="68580" marT="0" marB="0" anchor="ctr"/>
                </a:tc>
                <a:extLst>
                  <a:ext uri="{0D108BD9-81ED-4DB2-BD59-A6C34878D82A}">
                    <a16:rowId xmlns:a16="http://schemas.microsoft.com/office/drawing/2014/main" val="10003"/>
                  </a:ext>
                </a:extLst>
              </a:tr>
              <a:tr h="937260">
                <a:tc>
                  <a:txBody>
                    <a:bodyPr/>
                    <a:lstStyle/>
                    <a:p>
                      <a:pPr marL="539750" indent="0" algn="l">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Energy Consumption (mJ)</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0.6</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1.1</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1.0</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0.9</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0.85</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0.8</a:t>
                      </a:r>
                    </a:p>
                  </a:txBody>
                  <a:tcPr marL="68580" marR="68580" marT="0" marB="0" anchor="ctr"/>
                </a:tc>
                <a:extLst>
                  <a:ext uri="{0D108BD9-81ED-4DB2-BD59-A6C34878D82A}">
                    <a16:rowId xmlns:a16="http://schemas.microsoft.com/office/drawing/2014/main" val="10004"/>
                  </a:ext>
                </a:extLst>
              </a:tr>
              <a:tr h="624840">
                <a:tc>
                  <a:txBody>
                    <a:bodyPr/>
                    <a:lstStyle/>
                    <a:p>
                      <a:pPr marL="539750" indent="0" algn="l">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Throughput (Mbps)</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0.18</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0.15</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0.14</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0.13</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0.12</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0.11</a:t>
                      </a:r>
                    </a:p>
                  </a:txBody>
                  <a:tcPr marL="68580" marR="68580" marT="0" marB="0" anchor="ctr"/>
                </a:tc>
                <a:extLst>
                  <a:ext uri="{0D108BD9-81ED-4DB2-BD59-A6C34878D82A}">
                    <a16:rowId xmlns:a16="http://schemas.microsoft.com/office/drawing/2014/main" val="10005"/>
                  </a:ext>
                </a:extLst>
              </a:tr>
              <a:tr h="937260">
                <a:tc>
                  <a:txBody>
                    <a:bodyPr/>
                    <a:lstStyle/>
                    <a:p>
                      <a:pPr marL="539750" indent="0" algn="l">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Packet Delivery Ratio (%)</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90%</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80%</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75%</a:t>
                      </a:r>
                    </a:p>
                  </a:txBody>
                  <a:tcPr marL="68580" marR="68580" marT="0" marB="0" anchor="ctr"/>
                </a:tc>
                <a:tc>
                  <a:txBody>
                    <a:bodyPr/>
                    <a:lstStyle/>
                    <a:p>
                      <a:pPr marL="539750" indent="0">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70%</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65%</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60%</a:t>
                      </a:r>
                    </a:p>
                  </a:txBody>
                  <a:tcPr marL="68580" marR="68580" marT="0" marB="0" anchor="ctr"/>
                </a:tc>
                <a:extLst>
                  <a:ext uri="{0D108BD9-81ED-4DB2-BD59-A6C34878D82A}">
                    <a16:rowId xmlns:a16="http://schemas.microsoft.com/office/drawing/2014/main" val="10006"/>
                  </a:ext>
                </a:extLst>
              </a:tr>
              <a:tr h="624840">
                <a:tc>
                  <a:txBody>
                    <a:bodyPr/>
                    <a:lstStyle/>
                    <a:p>
                      <a:pPr marL="539750" indent="0" algn="l">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Residual Energy (J)</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0.75</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0.6</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0.55</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0.5</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0.45</a:t>
                      </a:r>
                    </a:p>
                  </a:txBody>
                  <a:tcPr marL="68580" marR="68580" marT="0" marB="0" anchor="ctr"/>
                </a:tc>
                <a:tc>
                  <a:txBody>
                    <a:bodyPr/>
                    <a:lstStyle/>
                    <a:p>
                      <a:pPr marL="539750" indent="0" algn="just">
                        <a:lnSpc>
                          <a:spcPct val="114000"/>
                        </a:lnSpc>
                        <a:spcBef>
                          <a:spcPct val="0"/>
                        </a:spcBef>
                        <a:spcAft>
                          <a:spcPct val="0"/>
                        </a:spcAft>
                      </a:pPr>
                      <a:r>
                        <a:rPr sz="1800" b="0">
                          <a:latin typeface="Times New Roman" panose="02020603050405020304" pitchFamily="18" charset="0"/>
                          <a:ea typeface="Times New Roman" panose="02020603050405020304"/>
                          <a:cs typeface="Times New Roman" panose="02020603050405020304" pitchFamily="18" charset="0"/>
                        </a:rPr>
                        <a:t>0.4</a:t>
                      </a:r>
                    </a:p>
                  </a:txBody>
                  <a:tcPr marL="68580" marR="68580" marT="0" marB="0" anchor="ctr"/>
                </a:tc>
                <a:extLst>
                  <a:ext uri="{0D108BD9-81ED-4DB2-BD59-A6C34878D82A}">
                    <a16:rowId xmlns:a16="http://schemas.microsoft.com/office/drawing/2014/main" val="10007"/>
                  </a:ext>
                </a:extLst>
              </a:tr>
            </a:tbl>
          </a:graphicData>
        </a:graphic>
      </p:graphicFrame>
      <p:sp>
        <p:nvSpPr>
          <p:cNvPr id="8" name="Text Box 7"/>
          <p:cNvSpPr txBox="1"/>
          <p:nvPr/>
        </p:nvSpPr>
        <p:spPr>
          <a:xfrm>
            <a:off x="7411085" y="1520190"/>
            <a:ext cx="1166495" cy="368300"/>
          </a:xfrm>
          <a:prstGeom prst="rect">
            <a:avLst/>
          </a:prstGeom>
          <a:noFill/>
        </p:spPr>
        <p:txBody>
          <a:bodyPr wrap="square" rtlCol="0">
            <a:spAutoFit/>
          </a:bodyPr>
          <a:lstStyle/>
          <a:p>
            <a:r>
              <a:rPr lang="en-IN" altLang="en-US">
                <a:latin typeface="Times New Roman" panose="02020603050405020304" pitchFamily="18" charset="0"/>
                <a:cs typeface="Times New Roman" panose="02020603050405020304" pitchFamily="18" charset="0"/>
              </a:rPr>
              <a:t>2000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6" name="Text Box 5"/>
          <p:cNvSpPr txBox="1"/>
          <p:nvPr/>
        </p:nvSpPr>
        <p:spPr>
          <a:xfrm>
            <a:off x="987490" y="5613471"/>
            <a:ext cx="2922905" cy="461645"/>
          </a:xfrm>
          <a:prstGeom prst="rect">
            <a:avLst/>
          </a:prstGeom>
        </p:spPr>
        <p:txBody>
          <a:bodyPr>
            <a:noAutofit/>
          </a:bodyPr>
          <a:lstStyle/>
          <a:p>
            <a:r>
              <a:rPr sz="1600" dirty="0">
                <a:solidFill>
                  <a:schemeClr val="tx1"/>
                </a:solidFill>
                <a:latin typeface="Times New Roman" panose="02020603050405020304"/>
                <a:ea typeface="Times New Roman" panose="02020603050405020304"/>
              </a:rPr>
              <a:t>Figure5</a:t>
            </a:r>
            <a:r>
              <a:rPr lang="en-IN" sz="1600" dirty="0">
                <a:solidFill>
                  <a:schemeClr val="tx1"/>
                </a:solidFill>
                <a:latin typeface="Times New Roman" panose="02020603050405020304"/>
                <a:ea typeface="Times New Roman" panose="02020603050405020304"/>
              </a:rPr>
              <a:t> </a:t>
            </a:r>
            <a:r>
              <a:rPr sz="1600" dirty="0">
                <a:solidFill>
                  <a:schemeClr val="tx1"/>
                </a:solidFill>
                <a:latin typeface="Times New Roman" panose="02020603050405020304"/>
                <a:ea typeface="Times New Roman" panose="02020603050405020304"/>
              </a:rPr>
              <a:t>: Network</a:t>
            </a:r>
            <a:r>
              <a:rPr lang="en-IN" sz="1600" dirty="0">
                <a:solidFill>
                  <a:schemeClr val="tx1"/>
                </a:solidFill>
                <a:latin typeface="Times New Roman" panose="02020603050405020304"/>
                <a:ea typeface="Times New Roman" panose="02020603050405020304"/>
              </a:rPr>
              <a:t> </a:t>
            </a:r>
            <a:r>
              <a:rPr sz="1600" dirty="0">
                <a:solidFill>
                  <a:schemeClr val="tx1"/>
                </a:solidFill>
                <a:latin typeface="Times New Roman" panose="02020603050405020304"/>
                <a:ea typeface="Times New Roman" panose="02020603050405020304"/>
              </a:rPr>
              <a:t>lifetime</a:t>
            </a:r>
          </a:p>
        </p:txBody>
      </p:sp>
      <p:sp>
        <p:nvSpPr>
          <p:cNvPr id="7" name="Text Box 6"/>
          <p:cNvSpPr txBox="1"/>
          <p:nvPr/>
        </p:nvSpPr>
        <p:spPr>
          <a:xfrm>
            <a:off x="7266111" y="5675702"/>
            <a:ext cx="5080000" cy="337185"/>
          </a:xfrm>
          <a:prstGeom prst="rect">
            <a:avLst/>
          </a:prstGeom>
        </p:spPr>
        <p:txBody>
          <a:bodyPr>
            <a:spAutoFit/>
          </a:bodyPr>
          <a:lstStyle/>
          <a:p>
            <a:r>
              <a:rPr sz="1600" dirty="0">
                <a:solidFill>
                  <a:schemeClr val="tx1"/>
                </a:solidFill>
                <a:latin typeface="Times New Roman" panose="02020603050405020304"/>
                <a:ea typeface="Times New Roman" panose="02020603050405020304"/>
              </a:rPr>
              <a:t>Figure6</a:t>
            </a:r>
            <a:r>
              <a:rPr lang="en-IN" sz="1600" dirty="0">
                <a:solidFill>
                  <a:schemeClr val="tx1"/>
                </a:solidFill>
                <a:latin typeface="Times New Roman" panose="02020603050405020304"/>
                <a:ea typeface="Times New Roman" panose="02020603050405020304"/>
              </a:rPr>
              <a:t> </a:t>
            </a:r>
            <a:r>
              <a:rPr sz="1600" dirty="0">
                <a:solidFill>
                  <a:schemeClr val="tx1"/>
                </a:solidFill>
                <a:latin typeface="Times New Roman" panose="02020603050405020304"/>
                <a:ea typeface="Times New Roman" panose="02020603050405020304"/>
              </a:rPr>
              <a:t>: </a:t>
            </a:r>
            <a:r>
              <a:rPr lang="en-IN" sz="1600" dirty="0">
                <a:solidFill>
                  <a:schemeClr val="tx1"/>
                </a:solidFill>
                <a:latin typeface="Times New Roman" panose="02020603050405020304"/>
                <a:ea typeface="Times New Roman" panose="02020603050405020304"/>
              </a:rPr>
              <a:t>Analysis of  Alive nodes</a:t>
            </a:r>
          </a:p>
        </p:txBody>
      </p:sp>
      <p:pic>
        <p:nvPicPr>
          <p:cNvPr id="14" name="Content Placeholder 13" descr="A graph of different colored lines&#10;&#10;AI-generated content may be incorrect."/>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2290" y="671804"/>
            <a:ext cx="5713710" cy="4414394"/>
          </a:xfrm>
        </p:spPr>
      </p:pic>
      <p:pic>
        <p:nvPicPr>
          <p:cNvPr id="16" name="Picture 15" descr="A graph of numbers and lines&#10;&#10;AI-generated content may be incorrec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1943" y="671804"/>
            <a:ext cx="5827335" cy="441439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6" name="Text Box 5"/>
          <p:cNvSpPr txBox="1"/>
          <p:nvPr/>
        </p:nvSpPr>
        <p:spPr>
          <a:xfrm>
            <a:off x="535940" y="4523423"/>
            <a:ext cx="5080000" cy="337185"/>
          </a:xfrm>
          <a:prstGeom prst="rect">
            <a:avLst/>
          </a:prstGeom>
        </p:spPr>
        <p:txBody>
          <a:bodyPr>
            <a:spAutoFit/>
          </a:bodyPr>
          <a:lstStyle/>
          <a:p>
            <a:r>
              <a:rPr sz="1600" dirty="0">
                <a:solidFill>
                  <a:schemeClr val="tx1"/>
                </a:solidFill>
                <a:latin typeface="Times New Roman" panose="02020603050405020304"/>
                <a:ea typeface="Times New Roman" panose="02020603050405020304"/>
              </a:rPr>
              <a:t>Figure</a:t>
            </a:r>
            <a:r>
              <a:rPr lang="en-IN" sz="1600" dirty="0">
                <a:solidFill>
                  <a:schemeClr val="tx1"/>
                </a:solidFill>
                <a:latin typeface="Times New Roman" panose="02020603050405020304"/>
                <a:ea typeface="Times New Roman" panose="02020603050405020304"/>
              </a:rPr>
              <a:t> 7</a:t>
            </a:r>
            <a:r>
              <a:rPr sz="1600" dirty="0">
                <a:solidFill>
                  <a:schemeClr val="tx1"/>
                </a:solidFill>
                <a:latin typeface="Times New Roman" panose="02020603050405020304"/>
                <a:ea typeface="Times New Roman" panose="02020603050405020304"/>
              </a:rPr>
              <a:t>: End-to-end</a:t>
            </a:r>
            <a:r>
              <a:rPr lang="en-US" sz="1600" dirty="0">
                <a:solidFill>
                  <a:schemeClr val="tx1"/>
                </a:solidFill>
                <a:latin typeface="Times New Roman" panose="02020603050405020304"/>
                <a:ea typeface="Times New Roman" panose="02020603050405020304"/>
              </a:rPr>
              <a:t> </a:t>
            </a:r>
            <a:r>
              <a:rPr sz="1600" dirty="0">
                <a:solidFill>
                  <a:schemeClr val="tx1"/>
                </a:solidFill>
                <a:latin typeface="Times New Roman" panose="02020603050405020304"/>
                <a:ea typeface="Times New Roman" panose="02020603050405020304"/>
              </a:rPr>
              <a:t>delay</a:t>
            </a:r>
            <a:r>
              <a:rPr lang="en-US" sz="1600" dirty="0">
                <a:solidFill>
                  <a:schemeClr val="tx1"/>
                </a:solidFill>
                <a:latin typeface="Times New Roman" panose="02020603050405020304"/>
                <a:ea typeface="Times New Roman" panose="02020603050405020304"/>
              </a:rPr>
              <a:t> </a:t>
            </a:r>
            <a:r>
              <a:rPr sz="1600" dirty="0">
                <a:solidFill>
                  <a:schemeClr val="tx1"/>
                </a:solidFill>
                <a:latin typeface="Times New Roman" panose="02020603050405020304"/>
                <a:ea typeface="Times New Roman" panose="02020603050405020304"/>
              </a:rPr>
              <a:t>analysis</a:t>
            </a:r>
          </a:p>
        </p:txBody>
      </p:sp>
      <p:sp>
        <p:nvSpPr>
          <p:cNvPr id="7" name="Text Box 6"/>
          <p:cNvSpPr txBox="1"/>
          <p:nvPr/>
        </p:nvSpPr>
        <p:spPr>
          <a:xfrm>
            <a:off x="6490970" y="4523423"/>
            <a:ext cx="5080000" cy="337185"/>
          </a:xfrm>
          <a:prstGeom prst="rect">
            <a:avLst/>
          </a:prstGeom>
        </p:spPr>
        <p:txBody>
          <a:bodyPr>
            <a:spAutoFit/>
          </a:bodyPr>
          <a:lstStyle/>
          <a:p>
            <a:r>
              <a:rPr sz="1600" dirty="0">
                <a:solidFill>
                  <a:schemeClr val="tx1"/>
                </a:solidFill>
                <a:latin typeface="Times New Roman" panose="02020603050405020304"/>
                <a:ea typeface="Times New Roman" panose="02020603050405020304"/>
              </a:rPr>
              <a:t>Figure</a:t>
            </a:r>
            <a:r>
              <a:rPr lang="en-IN" sz="1600" dirty="0">
                <a:solidFill>
                  <a:schemeClr val="tx1"/>
                </a:solidFill>
                <a:latin typeface="Times New Roman" panose="02020603050405020304"/>
                <a:ea typeface="Times New Roman" panose="02020603050405020304"/>
              </a:rPr>
              <a:t> </a:t>
            </a:r>
            <a:r>
              <a:rPr sz="1600" dirty="0">
                <a:solidFill>
                  <a:schemeClr val="tx1"/>
                </a:solidFill>
                <a:latin typeface="Times New Roman" panose="02020603050405020304"/>
                <a:ea typeface="Times New Roman" panose="02020603050405020304"/>
              </a:rPr>
              <a:t>8: Energy</a:t>
            </a:r>
            <a:r>
              <a:rPr lang="en-IN" sz="1600" dirty="0">
                <a:solidFill>
                  <a:schemeClr val="tx1"/>
                </a:solidFill>
                <a:latin typeface="Times New Roman" panose="02020603050405020304"/>
                <a:ea typeface="Times New Roman" panose="02020603050405020304"/>
              </a:rPr>
              <a:t> </a:t>
            </a:r>
            <a:r>
              <a:rPr sz="1600" dirty="0">
                <a:solidFill>
                  <a:schemeClr val="tx1"/>
                </a:solidFill>
                <a:latin typeface="Times New Roman" panose="02020603050405020304"/>
                <a:ea typeface="Times New Roman" panose="02020603050405020304"/>
              </a:rPr>
              <a:t>consumption</a:t>
            </a:r>
            <a:r>
              <a:rPr lang="en-IN" sz="1600" dirty="0">
                <a:solidFill>
                  <a:schemeClr val="tx1"/>
                </a:solidFill>
                <a:latin typeface="Times New Roman" panose="02020603050405020304"/>
                <a:ea typeface="Times New Roman" panose="02020603050405020304"/>
              </a:rPr>
              <a:t> </a:t>
            </a:r>
            <a:r>
              <a:rPr sz="1600" dirty="0">
                <a:solidFill>
                  <a:schemeClr val="tx1"/>
                </a:solidFill>
                <a:latin typeface="Times New Roman" panose="02020603050405020304"/>
                <a:ea typeface="Times New Roman" panose="02020603050405020304"/>
              </a:rPr>
              <a:t>analysis</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37" y="328916"/>
            <a:ext cx="5949806" cy="3697082"/>
          </a:xfrm>
          <a:prstGeom prst="rect">
            <a:avLst/>
          </a:prstGeom>
        </p:spPr>
      </p:pic>
      <p:pic>
        <p:nvPicPr>
          <p:cNvPr id="12" name="Content Placeholder 1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141159" y="328916"/>
            <a:ext cx="5889261" cy="3697082"/>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7" name="Text Box 6"/>
          <p:cNvSpPr txBox="1"/>
          <p:nvPr/>
        </p:nvSpPr>
        <p:spPr>
          <a:xfrm>
            <a:off x="292735" y="4610417"/>
            <a:ext cx="5080000" cy="583565"/>
          </a:xfrm>
          <a:prstGeom prst="rect">
            <a:avLst/>
          </a:prstGeom>
        </p:spPr>
        <p:txBody>
          <a:bodyPr>
            <a:spAutoFit/>
          </a:bodyPr>
          <a:lstStyle/>
          <a:p>
            <a:r>
              <a:rPr sz="1600" dirty="0">
                <a:solidFill>
                  <a:schemeClr val="tx1"/>
                </a:solidFill>
                <a:latin typeface="Times New Roman" panose="02020603050405020304"/>
                <a:ea typeface="Times New Roman" panose="02020603050405020304"/>
              </a:rPr>
              <a:t>Figure</a:t>
            </a:r>
            <a:r>
              <a:rPr lang="en-IN" sz="1600" dirty="0">
                <a:solidFill>
                  <a:schemeClr val="tx1"/>
                </a:solidFill>
                <a:latin typeface="Times New Roman" panose="02020603050405020304"/>
                <a:ea typeface="Times New Roman" panose="02020603050405020304"/>
              </a:rPr>
              <a:t> </a:t>
            </a:r>
            <a:r>
              <a:rPr sz="1600" dirty="0">
                <a:solidFill>
                  <a:schemeClr val="tx1"/>
                </a:solidFill>
                <a:latin typeface="Times New Roman" panose="02020603050405020304"/>
                <a:ea typeface="Times New Roman" panose="02020603050405020304"/>
              </a:rPr>
              <a:t>9: Throughput analysis of the proposed </a:t>
            </a:r>
          </a:p>
          <a:p>
            <a:r>
              <a:rPr sz="1600" dirty="0">
                <a:solidFill>
                  <a:schemeClr val="tx1"/>
                </a:solidFill>
                <a:latin typeface="Times New Roman" panose="02020603050405020304"/>
                <a:ea typeface="Times New Roman" panose="02020603050405020304"/>
              </a:rPr>
              <a:t>method with</a:t>
            </a:r>
            <a:r>
              <a:rPr lang="en-US" sz="1600" dirty="0">
                <a:solidFill>
                  <a:schemeClr val="tx1"/>
                </a:solidFill>
                <a:latin typeface="Times New Roman" panose="02020603050405020304"/>
                <a:ea typeface="Times New Roman" panose="02020603050405020304"/>
              </a:rPr>
              <a:t> </a:t>
            </a:r>
            <a:r>
              <a:rPr sz="1600" dirty="0">
                <a:solidFill>
                  <a:schemeClr val="tx1"/>
                </a:solidFill>
                <a:latin typeface="Times New Roman" panose="02020603050405020304"/>
                <a:ea typeface="Times New Roman" panose="02020603050405020304"/>
              </a:rPr>
              <a:t>the</a:t>
            </a:r>
            <a:r>
              <a:rPr lang="en-US" sz="1600" dirty="0">
                <a:solidFill>
                  <a:schemeClr val="tx1"/>
                </a:solidFill>
                <a:latin typeface="Times New Roman" panose="02020603050405020304"/>
                <a:ea typeface="Times New Roman" panose="02020603050405020304"/>
              </a:rPr>
              <a:t> </a:t>
            </a:r>
            <a:r>
              <a:rPr sz="1600" dirty="0">
                <a:solidFill>
                  <a:schemeClr val="tx1"/>
                </a:solidFill>
                <a:latin typeface="Times New Roman" panose="02020603050405020304"/>
                <a:ea typeface="Times New Roman" panose="02020603050405020304"/>
              </a:rPr>
              <a:t>existing</a:t>
            </a:r>
            <a:r>
              <a:rPr lang="en-US" sz="1600" dirty="0">
                <a:solidFill>
                  <a:schemeClr val="tx1"/>
                </a:solidFill>
                <a:latin typeface="Times New Roman" panose="02020603050405020304"/>
                <a:ea typeface="Times New Roman" panose="02020603050405020304"/>
              </a:rPr>
              <a:t> </a:t>
            </a:r>
            <a:r>
              <a:rPr sz="1600" dirty="0">
                <a:solidFill>
                  <a:schemeClr val="tx1"/>
                </a:solidFill>
                <a:latin typeface="Times New Roman" panose="02020603050405020304"/>
                <a:ea typeface="Times New Roman" panose="02020603050405020304"/>
              </a:rPr>
              <a:t>method</a:t>
            </a:r>
          </a:p>
        </p:txBody>
      </p:sp>
      <p:sp>
        <p:nvSpPr>
          <p:cNvPr id="8" name="Text Box 7"/>
          <p:cNvSpPr txBox="1"/>
          <p:nvPr/>
        </p:nvSpPr>
        <p:spPr>
          <a:xfrm>
            <a:off x="6273800" y="4609783"/>
            <a:ext cx="5080000" cy="337185"/>
          </a:xfrm>
          <a:prstGeom prst="rect">
            <a:avLst/>
          </a:prstGeom>
        </p:spPr>
        <p:txBody>
          <a:bodyPr>
            <a:spAutoFit/>
          </a:bodyPr>
          <a:lstStyle/>
          <a:p>
            <a:r>
              <a:rPr sz="1600">
                <a:solidFill>
                  <a:schemeClr val="tx1"/>
                </a:solidFill>
                <a:latin typeface="Times New Roman" panose="02020603050405020304" pitchFamily="18" charset="0"/>
                <a:ea typeface="MyriadPro-BoldSemiCn"/>
                <a:cs typeface="Times New Roman" panose="02020603050405020304" pitchFamily="18" charset="0"/>
              </a:rPr>
              <a:t>Figure 10:</a:t>
            </a:r>
            <a:r>
              <a:rPr sz="1600">
                <a:solidFill>
                  <a:schemeClr val="tx1"/>
                </a:solidFill>
                <a:latin typeface="Times New Roman" panose="02020603050405020304" pitchFamily="18" charset="0"/>
                <a:ea typeface="MyriadPro-SemiCn"/>
                <a:cs typeface="Times New Roman" panose="02020603050405020304" pitchFamily="18" charset="0"/>
              </a:rPr>
              <a:t>Data packet received by base station</a:t>
            </a:r>
          </a:p>
        </p:txBody>
      </p:sp>
      <p:pic>
        <p:nvPicPr>
          <p:cNvPr id="6" name="Picture 5" descr="A graph of different colored bars&#10;&#10;AI-generated content may be incorrec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000" y="494522"/>
            <a:ext cx="5595415" cy="3839742"/>
          </a:xfrm>
          <a:prstGeom prst="rect">
            <a:avLst/>
          </a:prstGeom>
        </p:spPr>
      </p:pic>
      <p:pic>
        <p:nvPicPr>
          <p:cNvPr id="12" name="Picture 11" descr="A graph of different colored lines&#10;&#10;AI-generated content may be incorrec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494522"/>
            <a:ext cx="5791024" cy="383974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6" name="Text Box 5"/>
          <p:cNvSpPr txBox="1"/>
          <p:nvPr/>
        </p:nvSpPr>
        <p:spPr>
          <a:xfrm>
            <a:off x="614045" y="4821237"/>
            <a:ext cx="5080000" cy="337185"/>
          </a:xfrm>
          <a:prstGeom prst="rect">
            <a:avLst/>
          </a:prstGeom>
        </p:spPr>
        <p:txBody>
          <a:bodyPr>
            <a:spAutoFit/>
          </a:bodyPr>
          <a:lstStyle/>
          <a:p>
            <a:r>
              <a:rPr sz="1600">
                <a:solidFill>
                  <a:schemeClr val="tx1"/>
                </a:solidFill>
                <a:latin typeface="Times New Roman" panose="02020603050405020304" pitchFamily="18" charset="0"/>
                <a:ea typeface="MyriadPro-BoldSemiCn"/>
                <a:cs typeface="Times New Roman" panose="02020603050405020304" pitchFamily="18" charset="0"/>
              </a:rPr>
              <a:t>Figure </a:t>
            </a:r>
            <a:r>
              <a:rPr lang="en-IN" sz="1600">
                <a:solidFill>
                  <a:schemeClr val="tx1"/>
                </a:solidFill>
                <a:latin typeface="Times New Roman" panose="02020603050405020304" pitchFamily="18" charset="0"/>
                <a:ea typeface="MyriadPro-BoldSemiCn"/>
                <a:cs typeface="Times New Roman" panose="02020603050405020304" pitchFamily="18" charset="0"/>
              </a:rPr>
              <a:t>11 </a:t>
            </a:r>
            <a:r>
              <a:rPr sz="1600">
                <a:solidFill>
                  <a:schemeClr val="tx1"/>
                </a:solidFill>
                <a:latin typeface="Times New Roman" panose="02020603050405020304" pitchFamily="18" charset="0"/>
                <a:ea typeface="MyriadPro-BoldSemiCn"/>
                <a:cs typeface="Times New Roman" panose="02020603050405020304" pitchFamily="18" charset="0"/>
              </a:rPr>
              <a:t>:</a:t>
            </a:r>
            <a:r>
              <a:rPr sz="1600">
                <a:solidFill>
                  <a:schemeClr val="tx1"/>
                </a:solidFill>
                <a:latin typeface="Times New Roman" panose="02020603050405020304" pitchFamily="18" charset="0"/>
                <a:ea typeface="MyriadPro-SemiCn"/>
                <a:cs typeface="Times New Roman" panose="02020603050405020304" pitchFamily="18" charset="0"/>
              </a:rPr>
              <a:t>Packet delivery ratio (%) with varying nodes</a:t>
            </a:r>
          </a:p>
        </p:txBody>
      </p:sp>
      <p:sp>
        <p:nvSpPr>
          <p:cNvPr id="7" name="Text Box 6"/>
          <p:cNvSpPr txBox="1"/>
          <p:nvPr/>
        </p:nvSpPr>
        <p:spPr>
          <a:xfrm>
            <a:off x="6682105" y="4820603"/>
            <a:ext cx="5080000" cy="337185"/>
          </a:xfrm>
          <a:prstGeom prst="rect">
            <a:avLst/>
          </a:prstGeom>
        </p:spPr>
        <p:txBody>
          <a:bodyPr>
            <a:spAutoFit/>
          </a:bodyPr>
          <a:lstStyle/>
          <a:p>
            <a:r>
              <a:rPr sz="1600">
                <a:solidFill>
                  <a:schemeClr val="tx1"/>
                </a:solidFill>
                <a:latin typeface="Times New Roman" panose="02020603050405020304" pitchFamily="18" charset="0"/>
                <a:ea typeface="MyriadPro-BoldSemiCn"/>
                <a:cs typeface="Times New Roman" panose="02020603050405020304" pitchFamily="18" charset="0"/>
              </a:rPr>
              <a:t>Figure 1</a:t>
            </a:r>
            <a:r>
              <a:rPr lang="en-IN" sz="1600">
                <a:solidFill>
                  <a:schemeClr val="tx1"/>
                </a:solidFill>
                <a:latin typeface="Times New Roman" panose="02020603050405020304" pitchFamily="18" charset="0"/>
                <a:ea typeface="MyriadPro-BoldSemiCn"/>
                <a:cs typeface="Times New Roman" panose="02020603050405020304" pitchFamily="18" charset="0"/>
              </a:rPr>
              <a:t>2 </a:t>
            </a:r>
            <a:r>
              <a:rPr sz="1600">
                <a:solidFill>
                  <a:schemeClr val="tx1"/>
                </a:solidFill>
                <a:latin typeface="Times New Roman" panose="02020603050405020304" pitchFamily="18" charset="0"/>
                <a:ea typeface="MyriadPro-BoldSemiCn"/>
                <a:cs typeface="Times New Roman" panose="02020603050405020304" pitchFamily="18" charset="0"/>
              </a:rPr>
              <a:t>:</a:t>
            </a:r>
            <a:r>
              <a:rPr sz="1600">
                <a:solidFill>
                  <a:schemeClr val="tx1"/>
                </a:solidFill>
                <a:latin typeface="Times New Roman" panose="02020603050405020304" pitchFamily="18" charset="0"/>
                <a:ea typeface="MyriadPro-SemiCn"/>
                <a:cs typeface="Times New Roman" panose="02020603050405020304" pitchFamily="18" charset="0"/>
              </a:rPr>
              <a:t>Comparison of residual energy</a:t>
            </a:r>
          </a:p>
        </p:txBody>
      </p:sp>
      <p:pic>
        <p:nvPicPr>
          <p:cNvPr id="10" name="Content Placeholder 9" descr="A graph of different colored lines&#10;&#10;AI-generated content may be incorrect."/>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625" y="616229"/>
            <a:ext cx="6278840" cy="3932900"/>
          </a:xfrm>
        </p:spPr>
      </p:pic>
      <p:pic>
        <p:nvPicPr>
          <p:cNvPr id="16" name="Picture 15"/>
          <p:cNvPicPr>
            <a:picLocks noChangeAspect="1"/>
          </p:cNvPicPr>
          <p:nvPr/>
        </p:nvPicPr>
        <p:blipFill>
          <a:blip r:embed="rId3"/>
          <a:stretch>
            <a:fillRect/>
          </a:stretch>
        </p:blipFill>
        <p:spPr>
          <a:xfrm>
            <a:off x="6293465" y="727787"/>
            <a:ext cx="5546991" cy="350212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3200" b="1">
                <a:latin typeface="Times New Roman" panose="02020603050405020304" pitchFamily="18" charset="0"/>
                <a:cs typeface="Times New Roman" panose="02020603050405020304" pitchFamily="18" charset="0"/>
              </a:rPr>
              <a:t>12. ADVANTAGES</a:t>
            </a:r>
          </a:p>
        </p:txBody>
      </p:sp>
      <p:sp>
        <p:nvSpPr>
          <p:cNvPr id="3" name="Content Placeholder 2"/>
          <p:cNvSpPr>
            <a:spLocks noGrp="1"/>
          </p:cNvSpPr>
          <p:nvPr>
            <p:ph idx="1"/>
          </p:nvPr>
        </p:nvSpPr>
        <p:spPr>
          <a:xfrm>
            <a:off x="180340" y="1432560"/>
            <a:ext cx="11762105" cy="5033645"/>
          </a:xfrm>
        </p:spPr>
        <p:txBody>
          <a:bodyPr>
            <a:normAutofit/>
          </a:bodyPr>
          <a:lstStyle/>
          <a:p>
            <a:pPr marL="342900" indent="-342900" algn="just">
              <a:lnSpc>
                <a:spcPct val="150000"/>
              </a:lnSpc>
              <a:buFont typeface="+mj-lt"/>
              <a:buAutoNum type="arabicPeriod"/>
            </a:pPr>
            <a:r>
              <a:rPr lang="en-US" altLang="en-US" sz="2000" b="1">
                <a:latin typeface="Times New Roman" panose="02020603050405020304" pitchFamily="18" charset="0"/>
                <a:cs typeface="Times New Roman" panose="02020603050405020304" pitchFamily="18" charset="0"/>
              </a:rPr>
              <a:t>Energy Efficiency:</a:t>
            </a:r>
            <a:r>
              <a:rPr lang="en-US" altLang="en-US" sz="2000">
                <a:latin typeface="Times New Roman" panose="02020603050405020304" pitchFamily="18" charset="0"/>
                <a:cs typeface="Times New Roman" panose="02020603050405020304" pitchFamily="18" charset="0"/>
              </a:rPr>
              <a:t> Reduces energy consumption by optimizing cluster head selection and routing paths.</a:t>
            </a:r>
          </a:p>
          <a:p>
            <a:pPr marL="342900" indent="-342900" algn="just">
              <a:lnSpc>
                <a:spcPct val="150000"/>
              </a:lnSpc>
              <a:buFont typeface="+mj-lt"/>
              <a:buAutoNum type="arabicPeriod"/>
            </a:pPr>
            <a:r>
              <a:rPr lang="en-US" altLang="en-US" sz="2000" b="1">
                <a:latin typeface="Times New Roman" panose="02020603050405020304" pitchFamily="18" charset="0"/>
                <a:cs typeface="Times New Roman" panose="02020603050405020304" pitchFamily="18" charset="0"/>
              </a:rPr>
              <a:t>Prolonged Network Lifespan: </a:t>
            </a:r>
            <a:r>
              <a:rPr lang="en-US" altLang="en-US" sz="2000">
                <a:latin typeface="Times New Roman" panose="02020603050405020304" pitchFamily="18" charset="0"/>
                <a:cs typeface="Times New Roman" panose="02020603050405020304" pitchFamily="18" charset="0"/>
              </a:rPr>
              <a:t>Balances energy usage across nodes, extending the operational life of the network.</a:t>
            </a:r>
          </a:p>
          <a:p>
            <a:pPr marL="342900" indent="-342900" algn="just">
              <a:lnSpc>
                <a:spcPct val="150000"/>
              </a:lnSpc>
              <a:buFont typeface="+mj-lt"/>
              <a:buAutoNum type="arabicPeriod"/>
            </a:pPr>
            <a:r>
              <a:rPr lang="en-US" altLang="en-US" sz="2000" b="1">
                <a:latin typeface="Times New Roman" panose="02020603050405020304" pitchFamily="18" charset="0"/>
                <a:cs typeface="Times New Roman" panose="02020603050405020304" pitchFamily="18" charset="0"/>
              </a:rPr>
              <a:t>Improved Data Transmission:</a:t>
            </a:r>
            <a:r>
              <a:rPr lang="en-US" altLang="en-US" sz="2000">
                <a:latin typeface="Times New Roman" panose="02020603050405020304" pitchFamily="18" charset="0"/>
                <a:cs typeface="Times New Roman" panose="02020603050405020304" pitchFamily="18" charset="0"/>
              </a:rPr>
              <a:t> Ensures reliable, faster communication with minimal delays.</a:t>
            </a:r>
          </a:p>
          <a:p>
            <a:pPr marL="342900" indent="-342900" algn="just">
              <a:lnSpc>
                <a:spcPct val="150000"/>
              </a:lnSpc>
              <a:buFont typeface="+mj-lt"/>
              <a:buAutoNum type="arabicPeriod"/>
            </a:pPr>
            <a:r>
              <a:rPr lang="en-US" altLang="en-US" sz="2000" b="1">
                <a:latin typeface="Times New Roman" panose="02020603050405020304" pitchFamily="18" charset="0"/>
                <a:cs typeface="Times New Roman" panose="02020603050405020304" pitchFamily="18" charset="0"/>
              </a:rPr>
              <a:t>Improved Packet Delivery Ratio:</a:t>
            </a:r>
            <a:r>
              <a:rPr lang="en-US" altLang="en-US" sz="2000">
                <a:latin typeface="Times New Roman" panose="02020603050405020304" pitchFamily="18" charset="0"/>
                <a:cs typeface="Times New Roman" panose="02020603050405020304" pitchFamily="18" charset="0"/>
              </a:rPr>
              <a:t> Achieves higher PDR, ensuring reliable data transmission</a:t>
            </a:r>
          </a:p>
          <a:p>
            <a:pPr marL="342900" indent="-342900" algn="just">
              <a:lnSpc>
                <a:spcPct val="150000"/>
              </a:lnSpc>
              <a:buFont typeface="+mj-lt"/>
              <a:buAutoNum type="arabicPeriod"/>
            </a:pPr>
            <a:r>
              <a:rPr lang="en-US" altLang="en-US" sz="2000" b="1">
                <a:latin typeface="Times New Roman" panose="02020603050405020304" pitchFamily="18" charset="0"/>
                <a:cs typeface="Times New Roman" panose="02020603050405020304" pitchFamily="18" charset="0"/>
              </a:rPr>
              <a:t>Reduced End-to-End Delay:</a:t>
            </a:r>
            <a:r>
              <a:rPr lang="en-US" altLang="en-US" sz="2000">
                <a:latin typeface="Times New Roman" panose="02020603050405020304" pitchFamily="18" charset="0"/>
                <a:cs typeface="Times New Roman" panose="02020603050405020304" pitchFamily="18" charset="0"/>
              </a:rPr>
              <a:t> Efficient routing minimizes delays in data delivery.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3200" b="1">
                <a:latin typeface="Times New Roman" panose="02020603050405020304" pitchFamily="18" charset="0"/>
                <a:cs typeface="Times New Roman" panose="02020603050405020304" pitchFamily="18" charset="0"/>
              </a:rPr>
              <a:t>13. APPLICATIONS</a:t>
            </a:r>
          </a:p>
        </p:txBody>
      </p:sp>
      <p:sp>
        <p:nvSpPr>
          <p:cNvPr id="3" name="Content Placeholder 2"/>
          <p:cNvSpPr>
            <a:spLocks noGrp="1"/>
          </p:cNvSpPr>
          <p:nvPr>
            <p:ph idx="1"/>
          </p:nvPr>
        </p:nvSpPr>
        <p:spPr>
          <a:xfrm>
            <a:off x="364490" y="1537970"/>
            <a:ext cx="11496675" cy="4823460"/>
          </a:xfrm>
        </p:spPr>
        <p:txBody>
          <a:bodyPr>
            <a:normAutofit/>
          </a:bodyPr>
          <a:lstStyle/>
          <a:p>
            <a:pPr marL="457200" indent="-457200" algn="just">
              <a:lnSpc>
                <a:spcPct val="150000"/>
              </a:lnSpc>
              <a:buAutoNum type="arabicPeriod"/>
            </a:pPr>
            <a:r>
              <a:rPr lang="en-US" altLang="en-US" sz="2000" b="1">
                <a:latin typeface="Times New Roman" panose="02020603050405020304" pitchFamily="18" charset="0"/>
                <a:cs typeface="Times New Roman" panose="02020603050405020304" pitchFamily="18" charset="0"/>
              </a:rPr>
              <a:t>Environmental Monitoring:</a:t>
            </a:r>
            <a:r>
              <a:rPr lang="en-US" altLang="en-US" sz="2000">
                <a:latin typeface="Times New Roman" panose="02020603050405020304" pitchFamily="18" charset="0"/>
                <a:cs typeface="Times New Roman" panose="02020603050405020304" pitchFamily="18" charset="0"/>
              </a:rPr>
              <a:t> Tracks weather, pollution, or wildlife efficiently over large areas.</a:t>
            </a:r>
          </a:p>
          <a:p>
            <a:pPr marL="457200" indent="-457200" algn="just">
              <a:lnSpc>
                <a:spcPct val="150000"/>
              </a:lnSpc>
              <a:buAutoNum type="arabicPeriod"/>
            </a:pPr>
            <a:r>
              <a:rPr lang="en-US" altLang="en-US" sz="2000" b="1">
                <a:latin typeface="Times New Roman" panose="02020603050405020304" pitchFamily="18" charset="0"/>
                <a:cs typeface="Times New Roman" panose="02020603050405020304" pitchFamily="18" charset="0"/>
              </a:rPr>
              <a:t>Industrial Monitoring:</a:t>
            </a:r>
            <a:r>
              <a:rPr lang="en-US" altLang="en-US" sz="2000">
                <a:latin typeface="Times New Roman" panose="02020603050405020304" pitchFamily="18" charset="0"/>
                <a:cs typeface="Times New Roman" panose="02020603050405020304" pitchFamily="18" charset="0"/>
              </a:rPr>
              <a:t> Monitors equipment performance in factories or power plants to prevent failures.</a:t>
            </a:r>
          </a:p>
          <a:p>
            <a:pPr marL="457200" indent="-457200" algn="just">
              <a:lnSpc>
                <a:spcPct val="150000"/>
              </a:lnSpc>
              <a:buAutoNum type="arabicPeriod"/>
            </a:pPr>
            <a:r>
              <a:rPr lang="en-US" altLang="en-US" sz="2000" b="1">
                <a:latin typeface="Times New Roman" panose="02020603050405020304" pitchFamily="18" charset="0"/>
                <a:cs typeface="Times New Roman" panose="02020603050405020304" pitchFamily="18" charset="0"/>
              </a:rPr>
              <a:t>Smart Agriculture:</a:t>
            </a:r>
            <a:r>
              <a:rPr lang="en-US" altLang="en-US" sz="2000">
                <a:latin typeface="Times New Roman" panose="02020603050405020304" pitchFamily="18" charset="0"/>
                <a:cs typeface="Times New Roman" panose="02020603050405020304" pitchFamily="18" charset="0"/>
              </a:rPr>
              <a:t> Observes soil conditions, temperature, and crop health using minimal energy.</a:t>
            </a:r>
          </a:p>
          <a:p>
            <a:pPr marL="457200" indent="-457200" algn="just">
              <a:lnSpc>
                <a:spcPct val="150000"/>
              </a:lnSpc>
              <a:buAutoNum type="arabicPeriod"/>
            </a:pPr>
            <a:r>
              <a:rPr lang="en-US" altLang="en-US" sz="2000" b="1">
                <a:latin typeface="Times New Roman" panose="02020603050405020304" pitchFamily="18" charset="0"/>
                <a:cs typeface="Times New Roman" panose="02020603050405020304" pitchFamily="18" charset="0"/>
              </a:rPr>
              <a:t>Surveillance Systems:</a:t>
            </a:r>
            <a:r>
              <a:rPr lang="en-US" altLang="en-US" sz="2000">
                <a:latin typeface="Times New Roman" panose="02020603050405020304" pitchFamily="18" charset="0"/>
                <a:cs typeface="Times New Roman" panose="02020603050405020304" pitchFamily="18" charset="0"/>
              </a:rPr>
              <a:t> Enhances security by enabling long-lasting sensor networks for area monitoring.</a:t>
            </a:r>
          </a:p>
          <a:p>
            <a:pPr marL="457200" indent="-457200" algn="just">
              <a:lnSpc>
                <a:spcPct val="150000"/>
              </a:lnSpc>
              <a:buAutoNum type="arabicPeriod"/>
            </a:pPr>
            <a:r>
              <a:rPr lang="en-US" altLang="en-US" sz="2000" b="1">
                <a:latin typeface="Times New Roman" panose="02020603050405020304" pitchFamily="18" charset="0"/>
                <a:cs typeface="Times New Roman" panose="02020603050405020304" pitchFamily="18" charset="0"/>
              </a:rPr>
              <a:t>IoT Applications: </a:t>
            </a:r>
            <a:r>
              <a:rPr lang="en-US" altLang="en-US" sz="2000">
                <a:latin typeface="Times New Roman" panose="02020603050405020304" pitchFamily="18" charset="0"/>
                <a:cs typeface="Times New Roman" panose="02020603050405020304" pitchFamily="18" charset="0"/>
              </a:rPr>
              <a:t>Supports smart cities and homes by optimizing connectivity and power usage.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350"/>
            <a:ext cx="10515600" cy="781050"/>
          </a:xfrm>
        </p:spPr>
        <p:txBody>
          <a:bodyPr>
            <a:normAutofit/>
          </a:bodyPr>
          <a:lstStyle/>
          <a:p>
            <a:r>
              <a:rPr lang="en-US" sz="3600" b="1" dirty="0">
                <a:latin typeface="Times New Roman" panose="02020603050405020304" pitchFamily="18" charset="0"/>
                <a:cs typeface="Times New Roman" panose="02020603050405020304" pitchFamily="18" charset="0"/>
              </a:rPr>
              <a:t>                              </a:t>
            </a:r>
            <a:r>
              <a:rPr lang="en-IN" altLang="en-US" sz="3600" b="1" dirty="0">
                <a:latin typeface="Times New Roman" panose="02020603050405020304" pitchFamily="18" charset="0"/>
                <a:cs typeface="Times New Roman" panose="02020603050405020304" pitchFamily="18" charset="0"/>
              </a:rPr>
              <a:t>14</a:t>
            </a:r>
            <a:r>
              <a:rPr lang="en-US" sz="3600" b="1" dirty="0">
                <a:latin typeface="Times New Roman" panose="02020603050405020304" pitchFamily="18" charset="0"/>
                <a:cs typeface="Times New Roman" panose="02020603050405020304" pitchFamily="18" charset="0"/>
              </a:rPr>
              <a:t>.</a:t>
            </a:r>
            <a:r>
              <a:rPr lang="en-IN" altLang="en-US" sz="3600" b="1"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CONCLUSIONS</a:t>
            </a:r>
          </a:p>
        </p:txBody>
      </p:sp>
      <p:sp>
        <p:nvSpPr>
          <p:cNvPr id="3" name="Content Placeholder 2"/>
          <p:cNvSpPr>
            <a:spLocks noGrp="1"/>
          </p:cNvSpPr>
          <p:nvPr>
            <p:ph idx="1"/>
          </p:nvPr>
        </p:nvSpPr>
        <p:spPr>
          <a:xfrm>
            <a:off x="186055" y="914400"/>
            <a:ext cx="11421745" cy="5554980"/>
          </a:xfrm>
        </p:spPr>
        <p:txBody>
          <a:bodyPr>
            <a:noAutofit/>
          </a:bodyPr>
          <a:lstStyle/>
          <a:p>
            <a:pPr marL="457200" indent="-457200">
              <a:lnSpc>
                <a:spcPct val="150000"/>
              </a:lnSpc>
              <a:buAutoNum type="arabicPeriod"/>
            </a:pPr>
            <a:r>
              <a:rPr lang="en-US" altLang="en-US" sz="1800" dirty="0">
                <a:latin typeface="Times New Roman" panose="02020603050405020304" pitchFamily="18" charset="0"/>
                <a:cs typeface="Times New Roman" panose="02020603050405020304" pitchFamily="18" charset="0"/>
              </a:rPr>
              <a:t>The HOEEACR (Hybrid Optimized Energy-Efficient Adaptive Clustered Routing) approach is proposed to improve energy efficiency and network lifespan in large-scale Wireless Sensor Networks (WSNs).</a:t>
            </a:r>
          </a:p>
          <a:p>
            <a:pPr marL="457200" indent="-457200">
              <a:lnSpc>
                <a:spcPct val="150000"/>
              </a:lnSpc>
              <a:buFont typeface="Arial" panose="020B0604020202020204" pitchFamily="34" charset="0"/>
              <a:buAutoNum type="arabicPeriod"/>
            </a:pPr>
            <a:r>
              <a:rPr lang="en-US" sz="1800" dirty="0">
                <a:latin typeface="Times New Roman" panose="02020603050405020304" pitchFamily="18" charset="0"/>
                <a:cs typeface="Times New Roman" panose="02020603050405020304" pitchFamily="18" charset="0"/>
              </a:rPr>
              <a:t>The proposed HOEEACR method enhances energy efficiency and network lifetime in WSN. Achieved 2800 rounds of network lifetime, outperforming existing methods (~1200 rounds).</a:t>
            </a:r>
          </a:p>
          <a:p>
            <a:pPr marL="457200" indent="-457200">
              <a:lnSpc>
                <a:spcPct val="150000"/>
              </a:lnSpc>
              <a:buFont typeface="Arial" panose="020B0604020202020204" pitchFamily="34" charset="0"/>
              <a:buAutoNum type="arabicPeriod"/>
            </a:pPr>
            <a:r>
              <a:rPr lang="en-US" sz="1800" dirty="0">
                <a:latin typeface="Times New Roman" panose="02020603050405020304" pitchFamily="18" charset="0"/>
                <a:cs typeface="Times New Roman" panose="02020603050405020304" pitchFamily="18" charset="0"/>
              </a:rPr>
              <a:t> Improved Packet Delivery Ratio (PDR) up to 98.7% with 900 nodes.</a:t>
            </a:r>
          </a:p>
          <a:p>
            <a:pPr marL="457200" indent="-457200">
              <a:lnSpc>
                <a:spcPct val="150000"/>
              </a:lnSpc>
              <a:buFont typeface="Arial" panose="020B0604020202020204" pitchFamily="34" charset="0"/>
              <a:buAutoNum type="arabicPeriod"/>
            </a:pPr>
            <a:r>
              <a:rPr lang="en-US" sz="1800" dirty="0">
                <a:latin typeface="Times New Roman" panose="02020603050405020304" pitchFamily="18" charset="0"/>
                <a:cs typeface="Times New Roman" panose="02020603050405020304" pitchFamily="18" charset="0"/>
              </a:rPr>
              <a:t>Reduced End-to-End Delay to 1.9s compared to 2.7s in traditional methods.</a:t>
            </a:r>
          </a:p>
          <a:p>
            <a:pPr marL="457200" indent="-457200">
              <a:lnSpc>
                <a:spcPct val="150000"/>
              </a:lnSpc>
              <a:buFont typeface="Arial" panose="020B0604020202020204" pitchFamily="34" charset="0"/>
              <a:buAutoNum type="arabicPeriod"/>
            </a:pPr>
            <a:r>
              <a:rPr lang="en-US" sz="1800" dirty="0">
                <a:latin typeface="Times New Roman" panose="02020603050405020304" pitchFamily="18" charset="0"/>
                <a:cs typeface="Times New Roman" panose="02020603050405020304" pitchFamily="18" charset="0"/>
              </a:rPr>
              <a:t>Enhanced residual energy by 25.15%, ensuring longer network lifespan.</a:t>
            </a:r>
            <a:endParaRPr lang="en-US" altLang="en-US" sz="1800" dirty="0">
              <a:latin typeface="Times New Roman" panose="02020603050405020304" pitchFamily="18" charset="0"/>
              <a:cs typeface="Times New Roman" panose="02020603050405020304" pitchFamily="18" charset="0"/>
            </a:endParaRPr>
          </a:p>
          <a:p>
            <a:pPr marL="457200" indent="-457200">
              <a:lnSpc>
                <a:spcPct val="150000"/>
              </a:lnSpc>
              <a:buAutoNum type="arabicPeriod"/>
            </a:pPr>
            <a:r>
              <a:rPr lang="en-US" altLang="en-US" sz="1800" dirty="0">
                <a:latin typeface="Times New Roman" panose="02020603050405020304" pitchFamily="18" charset="0"/>
                <a:cs typeface="Times New Roman" panose="02020603050405020304" pitchFamily="18" charset="0"/>
              </a:rPr>
              <a:t>Future Scope: The method shows potential for future applications in networks with mobile nodes and diverse sink environments, broadening its real-world usability.</a:t>
            </a:r>
          </a:p>
          <a:p>
            <a:pPr marL="0" indent="0">
              <a:lnSpc>
                <a:spcPct val="150000"/>
              </a:lnSpc>
              <a:buNone/>
            </a:pPr>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7635D40A-EBA4-023D-2BAC-6EFEF38295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31690" y="381672"/>
            <a:ext cx="6302477" cy="6476328"/>
          </a:xfrm>
        </p:spPr>
      </p:pic>
    </p:spTree>
    <p:extLst>
      <p:ext uri="{BB962C8B-B14F-4D97-AF65-F5344CB8AC3E}">
        <p14:creationId xmlns:p14="http://schemas.microsoft.com/office/powerpoint/2010/main" val="19047431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certificate of participation&#10;&#10;AI-generated content may be incorrect.">
            <a:extLst>
              <a:ext uri="{FF2B5EF4-FFF2-40B4-BE49-F238E27FC236}">
                <a16:creationId xmlns:a16="http://schemas.microsoft.com/office/drawing/2014/main" id="{71CD38E9-9FFC-1009-F729-DA3D599266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142140"/>
            <a:ext cx="5860307" cy="4146995"/>
          </a:xfrm>
        </p:spPr>
      </p:pic>
      <p:pic>
        <p:nvPicPr>
          <p:cNvPr id="11" name="Picture 10" descr="A certificate of participation&#10;&#10;AI-generated content may be incorrect.">
            <a:extLst>
              <a:ext uri="{FF2B5EF4-FFF2-40B4-BE49-F238E27FC236}">
                <a16:creationId xmlns:a16="http://schemas.microsoft.com/office/drawing/2014/main" id="{7D71A274-506B-289B-7E1B-DD83D2E194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142140"/>
            <a:ext cx="5849278" cy="4146995"/>
          </a:xfrm>
          <a:prstGeom prst="rect">
            <a:avLst/>
          </a:prstGeom>
        </p:spPr>
      </p:pic>
    </p:spTree>
    <p:extLst>
      <p:ext uri="{BB962C8B-B14F-4D97-AF65-F5344CB8AC3E}">
        <p14:creationId xmlns:p14="http://schemas.microsoft.com/office/powerpoint/2010/main" val="13530587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ertificate of participation&#10;&#10;AI-generated content may be incorrect.">
            <a:extLst>
              <a:ext uri="{FF2B5EF4-FFF2-40B4-BE49-F238E27FC236}">
                <a16:creationId xmlns:a16="http://schemas.microsoft.com/office/drawing/2014/main" id="{9F1A2ECF-CCD5-C3CA-9D21-54C4B5DBC8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323669"/>
            <a:ext cx="6163331" cy="4351338"/>
          </a:xfrm>
        </p:spPr>
      </p:pic>
      <p:pic>
        <p:nvPicPr>
          <p:cNvPr id="7" name="Picture 6">
            <a:extLst>
              <a:ext uri="{FF2B5EF4-FFF2-40B4-BE49-F238E27FC236}">
                <a16:creationId xmlns:a16="http://schemas.microsoft.com/office/drawing/2014/main" id="{4FA27124-F7B8-B239-1B9D-2CF0F6EBD2D7}"/>
              </a:ext>
            </a:extLst>
          </p:cNvPr>
          <p:cNvPicPr>
            <a:picLocks noChangeAspect="1"/>
          </p:cNvPicPr>
          <p:nvPr/>
        </p:nvPicPr>
        <p:blipFill>
          <a:blip r:embed="rId3"/>
          <a:stretch>
            <a:fillRect/>
          </a:stretch>
        </p:blipFill>
        <p:spPr>
          <a:xfrm>
            <a:off x="6050598" y="1414637"/>
            <a:ext cx="6141402" cy="4351339"/>
          </a:xfrm>
          <a:prstGeom prst="rect">
            <a:avLst/>
          </a:prstGeom>
        </p:spPr>
      </p:pic>
    </p:spTree>
    <p:extLst>
      <p:ext uri="{BB962C8B-B14F-4D97-AF65-F5344CB8AC3E}">
        <p14:creationId xmlns:p14="http://schemas.microsoft.com/office/powerpoint/2010/main" val="14833211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6"/>
            <a:ext cx="10515600" cy="683580"/>
          </a:xfrm>
        </p:spPr>
        <p:txBody>
          <a:bodyPr>
            <a:normAutofit/>
          </a:bodyPr>
          <a:lstStyle/>
          <a:p>
            <a:r>
              <a:rPr lang="en-US" sz="3200" b="1" dirty="0">
                <a:latin typeface="Times New Roman" panose="02020603050405020304" pitchFamily="18" charset="0"/>
                <a:cs typeface="Times New Roman" panose="02020603050405020304" pitchFamily="18" charset="0"/>
              </a:rPr>
              <a:t>                                      REFERENCES</a:t>
            </a:r>
            <a:endParaRPr lang="en-IN"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97471" y="683384"/>
            <a:ext cx="11472361" cy="5771535"/>
          </a:xfrm>
        </p:spPr>
        <p:txBody>
          <a:bodyPr>
            <a:noAutofit/>
          </a:bodyPr>
          <a:lstStyle/>
          <a:p>
            <a:pPr marL="342900" indent="-342900" algn="just">
              <a:lnSpc>
                <a:spcPct val="150000"/>
              </a:lnSpc>
              <a:buAutoNum type="arabicPeriod"/>
            </a:pPr>
            <a:r>
              <a:rPr lang="en-US" altLang="en-US" sz="1800" dirty="0">
                <a:latin typeface="Times New Roman" panose="02020603050405020304" pitchFamily="18" charset="0"/>
                <a:cs typeface="Times New Roman" panose="02020603050405020304" pitchFamily="18" charset="0"/>
              </a:rPr>
              <a:t> K. Anusha, P. Ajay, M. Ramesh, N. </a:t>
            </a:r>
            <a:r>
              <a:rPr lang="en-US" altLang="en-US" sz="1800" dirty="0" err="1">
                <a:latin typeface="Times New Roman" panose="02020603050405020304" pitchFamily="18" charset="0"/>
                <a:cs typeface="Times New Roman" panose="02020603050405020304" pitchFamily="18" charset="0"/>
              </a:rPr>
              <a:t>Muthukumaran</a:t>
            </a:r>
            <a:r>
              <a:rPr lang="en-US" altLang="en-US" sz="1800" dirty="0">
                <a:latin typeface="Times New Roman" panose="02020603050405020304" pitchFamily="18" charset="0"/>
                <a:cs typeface="Times New Roman" panose="02020603050405020304" pitchFamily="18" charset="0"/>
              </a:rPr>
              <a:t>, C. </a:t>
            </a:r>
            <a:r>
              <a:rPr lang="en-US" altLang="en-US" sz="1800" dirty="0" err="1">
                <a:latin typeface="Times New Roman" panose="02020603050405020304" pitchFamily="18" charset="0"/>
                <a:cs typeface="Times New Roman" panose="02020603050405020304" pitchFamily="18" charset="0"/>
              </a:rPr>
              <a:t>Rajeshkumar,K</a:t>
            </a:r>
            <a:r>
              <a:rPr lang="en-US" altLang="en-US" sz="1800" dirty="0">
                <a:latin typeface="Times New Roman" panose="02020603050405020304" pitchFamily="18" charset="0"/>
                <a:cs typeface="Times New Roman" panose="02020603050405020304" pitchFamily="18" charset="0"/>
              </a:rPr>
              <a:t>. Sangeetha, G. </a:t>
            </a:r>
            <a:r>
              <a:rPr lang="en-US" altLang="en-US" sz="1800" dirty="0" err="1">
                <a:latin typeface="Times New Roman" panose="02020603050405020304" pitchFamily="18" charset="0"/>
                <a:cs typeface="Times New Roman" panose="02020603050405020304" pitchFamily="18" charset="0"/>
              </a:rPr>
              <a:t>Rajeshkumar</a:t>
            </a:r>
            <a:r>
              <a:rPr lang="en-US" altLang="en-US" sz="1800" dirty="0">
                <a:latin typeface="Times New Roman" panose="02020603050405020304" pitchFamily="18" charset="0"/>
                <a:cs typeface="Times New Roman" panose="02020603050405020304" pitchFamily="18" charset="0"/>
              </a:rPr>
              <a:t> &amp; A. Ahilan (10 Mar 2024): HOEEACR: Hybrid Optimized</a:t>
            </a: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Energy-Efficient Adaptive Clustered Routing for WSN, IETE Journal of Research</a:t>
            </a:r>
          </a:p>
          <a:p>
            <a:pPr marL="342900" indent="-342900" algn="just">
              <a:lnSpc>
                <a:spcPct val="150000"/>
              </a:lnSpc>
              <a:buAutoNum type="arabicPeriod"/>
            </a:pPr>
            <a:r>
              <a:rPr lang="en-US" altLang="en-US" sz="1800" dirty="0">
                <a:latin typeface="Times New Roman" panose="02020603050405020304" pitchFamily="18" charset="0"/>
                <a:cs typeface="Times New Roman" panose="02020603050405020304" pitchFamily="18" charset="0"/>
              </a:rPr>
              <a:t> K. Krishnan, B. Yamini, W. M. </a:t>
            </a:r>
            <a:r>
              <a:rPr lang="en-US" altLang="en-US" sz="1800" dirty="0" err="1">
                <a:latin typeface="Times New Roman" panose="02020603050405020304" pitchFamily="18" charset="0"/>
                <a:cs typeface="Times New Roman" panose="02020603050405020304" pitchFamily="18" charset="0"/>
              </a:rPr>
              <a:t>Alenazy</a:t>
            </a:r>
            <a:r>
              <a:rPr lang="en-US" altLang="en-US" sz="1800" dirty="0">
                <a:latin typeface="Times New Roman" panose="02020603050405020304" pitchFamily="18" charset="0"/>
                <a:cs typeface="Times New Roman" panose="02020603050405020304" pitchFamily="18" charset="0"/>
              </a:rPr>
              <a:t>, and M. </a:t>
            </a:r>
            <a:r>
              <a:rPr lang="en-US" altLang="en-US" sz="1800" dirty="0" err="1">
                <a:latin typeface="Times New Roman" panose="02020603050405020304" pitchFamily="18" charset="0"/>
                <a:cs typeface="Times New Roman" panose="02020603050405020304" pitchFamily="18" charset="0"/>
              </a:rPr>
              <a:t>Nalini,“Energy</a:t>
            </a:r>
            <a:r>
              <a:rPr lang="en-US" altLang="en-US" sz="1800" dirty="0">
                <a:latin typeface="Times New Roman" panose="02020603050405020304" pitchFamily="18" charset="0"/>
                <a:cs typeface="Times New Roman" panose="02020603050405020304" pitchFamily="18" charset="0"/>
              </a:rPr>
              <a:t>-efficient cluster-based routing protocol for </a:t>
            </a:r>
            <a:r>
              <a:rPr lang="en-US" altLang="en-US" sz="1800" dirty="0" err="1">
                <a:latin typeface="Times New Roman" panose="02020603050405020304" pitchFamily="18" charset="0"/>
                <a:cs typeface="Times New Roman" panose="02020603050405020304" pitchFamily="18" charset="0"/>
              </a:rPr>
              <a:t>wsnbased</a:t>
            </a:r>
            <a:r>
              <a:rPr lang="en-US" altLang="en-US" sz="1800" dirty="0">
                <a:latin typeface="Times New Roman" panose="02020603050405020304" pitchFamily="18" charset="0"/>
                <a:cs typeface="Times New Roman" panose="02020603050405020304" pitchFamily="18" charset="0"/>
              </a:rPr>
              <a:t> on hybrid </a:t>
            </a:r>
            <a:r>
              <a:rPr lang="en-US" altLang="en-US" sz="1800" dirty="0" err="1">
                <a:latin typeface="Times New Roman" panose="02020603050405020304" pitchFamily="18" charset="0"/>
                <a:cs typeface="Times New Roman" panose="02020603050405020304" pitchFamily="18" charset="0"/>
              </a:rPr>
              <a:t>bso</a:t>
            </a:r>
            <a:r>
              <a:rPr lang="en-US" altLang="en-US" sz="1800" dirty="0">
                <a:latin typeface="Times New Roman" panose="02020603050405020304" pitchFamily="18" charset="0"/>
                <a:cs typeface="Times New Roman" panose="02020603050405020304" pitchFamily="18" charset="0"/>
              </a:rPr>
              <a:t>–</a:t>
            </a:r>
            <a:r>
              <a:rPr lang="en-US" altLang="en-US" sz="1800" dirty="0" err="1">
                <a:latin typeface="Times New Roman" panose="02020603050405020304" pitchFamily="18" charset="0"/>
                <a:cs typeface="Times New Roman" panose="02020603050405020304" pitchFamily="18" charset="0"/>
              </a:rPr>
              <a:t>tlbo</a:t>
            </a:r>
            <a:r>
              <a:rPr lang="en-US" altLang="en-US" sz="1800" dirty="0">
                <a:latin typeface="Times New Roman" panose="02020603050405020304" pitchFamily="18" charset="0"/>
                <a:cs typeface="Times New Roman" panose="02020603050405020304" pitchFamily="18" charset="0"/>
              </a:rPr>
              <a:t> optimization model,” </a:t>
            </a:r>
            <a:r>
              <a:rPr lang="en-US" altLang="en-US" sz="1800" dirty="0" err="1">
                <a:latin typeface="Times New Roman" panose="02020603050405020304" pitchFamily="18" charset="0"/>
                <a:cs typeface="Times New Roman" panose="02020603050405020304" pitchFamily="18" charset="0"/>
              </a:rPr>
              <a:t>Comput.J</a:t>
            </a:r>
            <a:r>
              <a:rPr lang="en-US" altLang="en-US" sz="1800" dirty="0">
                <a:latin typeface="Times New Roman" panose="02020603050405020304" pitchFamily="18" charset="0"/>
                <a:cs typeface="Times New Roman" panose="02020603050405020304" pitchFamily="18" charset="0"/>
              </a:rPr>
              <a:t>., Vol. 64, no. 10, pp. 1477–93, 2021.</a:t>
            </a:r>
            <a:endParaRPr lang="en-US" altLang="en-US" sz="1800" dirty="0"/>
          </a:p>
          <a:p>
            <a:pPr marL="342900" indent="-342900" algn="just">
              <a:lnSpc>
                <a:spcPct val="150000"/>
              </a:lnSpc>
              <a:buAutoNum type="arabicPeriod"/>
            </a:pPr>
            <a:r>
              <a:rPr lang="en-US" altLang="en-US" sz="1800" dirty="0">
                <a:latin typeface="Times New Roman" panose="02020603050405020304" pitchFamily="18" charset="0"/>
                <a:cs typeface="Times New Roman" panose="02020603050405020304" pitchFamily="18" charset="0"/>
              </a:rPr>
              <a:t> S. Al-</a:t>
            </a:r>
            <a:r>
              <a:rPr lang="en-US" altLang="en-US" sz="1800" dirty="0" err="1">
                <a:latin typeface="Times New Roman" panose="02020603050405020304" pitchFamily="18" charset="0"/>
                <a:cs typeface="Times New Roman" panose="02020603050405020304" pitchFamily="18" charset="0"/>
              </a:rPr>
              <a:t>Otaibi</a:t>
            </a:r>
            <a:r>
              <a:rPr lang="en-US" altLang="en-US" sz="1800" dirty="0">
                <a:latin typeface="Times New Roman" panose="02020603050405020304" pitchFamily="18" charset="0"/>
                <a:cs typeface="Times New Roman" panose="02020603050405020304" pitchFamily="18" charset="0"/>
              </a:rPr>
              <a:t>, A. Al-Rasheed, R. F. Mansour, E. Yang, G.P. Joshi, and W. Cho, “Hybridization of metaheuristic</a:t>
            </a: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algorithm for dynamic cluster-based routing protocol</a:t>
            </a: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in wireless sensor networks,” IEEE. Access., Vol. 9,pp. 83751–61, 2021.</a:t>
            </a:r>
          </a:p>
          <a:p>
            <a:pPr marL="342900" indent="-342900" algn="just">
              <a:lnSpc>
                <a:spcPct val="150000"/>
              </a:lnSpc>
              <a:buAutoNum type="arabicPeriod"/>
            </a:pPr>
            <a:r>
              <a:rPr lang="en-US" altLang="en-US" sz="1800" dirty="0">
                <a:latin typeface="Times New Roman" panose="02020603050405020304" pitchFamily="18" charset="0"/>
                <a:cs typeface="Times New Roman" panose="02020603050405020304" pitchFamily="18" charset="0"/>
              </a:rPr>
              <a:t>B. M. Sahoo, H. M. Pandey, and T. </a:t>
            </a:r>
            <a:r>
              <a:rPr lang="en-US" altLang="en-US" sz="1800" dirty="0" err="1">
                <a:latin typeface="Times New Roman" panose="02020603050405020304" pitchFamily="18" charset="0"/>
                <a:cs typeface="Times New Roman" panose="02020603050405020304" pitchFamily="18" charset="0"/>
              </a:rPr>
              <a:t>Amgoth</a:t>
            </a:r>
            <a:r>
              <a:rPr lang="en-US" altLang="en-US" sz="1800" dirty="0">
                <a:latin typeface="Times New Roman" panose="02020603050405020304" pitchFamily="18" charset="0"/>
                <a:cs typeface="Times New Roman" panose="02020603050405020304" pitchFamily="18" charset="0"/>
              </a:rPr>
              <a:t>, “GAPSO-H:A hybrid approach towards optimizing the cluster-based</a:t>
            </a: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routing in wireless sensor network,” Swarm </a:t>
            </a:r>
            <a:r>
              <a:rPr lang="en-US" altLang="en-US" sz="1800" dirty="0" err="1">
                <a:latin typeface="Times New Roman" panose="02020603050405020304" pitchFamily="18" charset="0"/>
                <a:cs typeface="Times New Roman" panose="02020603050405020304" pitchFamily="18" charset="0"/>
              </a:rPr>
              <a:t>Evol</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Comput</a:t>
            </a:r>
            <a:r>
              <a:rPr lang="en-US" altLang="en-US" sz="1800" dirty="0">
                <a:latin typeface="Times New Roman" panose="02020603050405020304" pitchFamily="18" charset="0"/>
                <a:cs typeface="Times New Roman" panose="02020603050405020304" pitchFamily="18" charset="0"/>
              </a:rPr>
              <a:t>.,Vol. 60, pp. 100772, 2021.</a:t>
            </a:r>
          </a:p>
          <a:p>
            <a:pPr marL="342900" indent="-342900" algn="just">
              <a:lnSpc>
                <a:spcPct val="150000"/>
              </a:lnSpc>
              <a:buAutoNum type="arabicPeriod"/>
            </a:pPr>
            <a:r>
              <a:rPr lang="en-US" altLang="en-US" sz="1800" dirty="0">
                <a:latin typeface="Times New Roman" panose="02020603050405020304" pitchFamily="18" charset="0"/>
                <a:cs typeface="Times New Roman" panose="02020603050405020304" pitchFamily="18" charset="0"/>
              </a:rPr>
              <a:t> Z. Wang, H. Ding, B. Li, L. Bao, Z. Yang, and Q. </a:t>
            </a:r>
            <a:r>
              <a:rPr lang="en-US" altLang="en-US" sz="1800" dirty="0" err="1">
                <a:latin typeface="Times New Roman" panose="02020603050405020304" pitchFamily="18" charset="0"/>
                <a:cs typeface="Times New Roman" panose="02020603050405020304" pitchFamily="18" charset="0"/>
              </a:rPr>
              <a:t>Liu,“Energy</a:t>
            </a:r>
            <a:r>
              <a:rPr lang="en-US" altLang="en-US" sz="1800" dirty="0">
                <a:latin typeface="Times New Roman" panose="02020603050405020304" pitchFamily="18" charset="0"/>
                <a:cs typeface="Times New Roman" panose="02020603050405020304" pitchFamily="18" charset="0"/>
              </a:rPr>
              <a:t> efficient cluster-based routing protocol for WSN</a:t>
            </a: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using firefly algorithm and ant colony optimization,” Wireless Pers. Commun., Vol. 125, no. 3, pp. 2167–200, 2022.</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34F125-B79C-8576-A279-F3D8C7627907}"/>
              </a:ext>
            </a:extLst>
          </p:cNvPr>
          <p:cNvSpPr>
            <a:spLocks noGrp="1"/>
          </p:cNvSpPr>
          <p:nvPr>
            <p:ph idx="1"/>
          </p:nvPr>
        </p:nvSpPr>
        <p:spPr>
          <a:xfrm>
            <a:off x="206477" y="442452"/>
            <a:ext cx="11906865" cy="6263148"/>
          </a:xfrm>
        </p:spPr>
        <p:txBody>
          <a:bodyPr>
            <a:normAutofit/>
          </a:bodyPr>
          <a:lstStyle/>
          <a:p>
            <a:pPr marL="514350" indent="-514350" algn="just">
              <a:lnSpc>
                <a:spcPct val="150000"/>
              </a:lnSpc>
              <a:buFont typeface="+mj-lt"/>
              <a:buAutoNum type="arabicPeriod" startAt="6"/>
            </a:pPr>
            <a:r>
              <a:rPr lang="en-US" altLang="en-US" sz="1800" dirty="0">
                <a:latin typeface="Times New Roman" panose="02020603050405020304" pitchFamily="18" charset="0"/>
                <a:cs typeface="Times New Roman" panose="02020603050405020304" pitchFamily="18" charset="0"/>
              </a:rPr>
              <a:t>M. Prabhu, B. Muthu Kumar, and A. Ahilan, “Slime </a:t>
            </a:r>
            <a:r>
              <a:rPr lang="en-US" altLang="en-US" sz="1800" dirty="0" err="1">
                <a:latin typeface="Times New Roman" panose="02020603050405020304" pitchFamily="18" charset="0"/>
                <a:cs typeface="Times New Roman" panose="02020603050405020304" pitchFamily="18" charset="0"/>
              </a:rPr>
              <a:t>mould</a:t>
            </a: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algorithm based fuzzy linear CFO estimation in wireless</a:t>
            </a:r>
            <a:r>
              <a:rPr lang="en-IN" alt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sensor networks,” IETE J. Res., DOI:10.1080/03772063.2023.2194279</a:t>
            </a:r>
          </a:p>
          <a:p>
            <a:pPr marL="457200" indent="-457200" algn="just">
              <a:lnSpc>
                <a:spcPct val="150000"/>
              </a:lnSpc>
              <a:buAutoNum type="arabicPeriod" startAt="6"/>
            </a:pPr>
            <a:r>
              <a:rPr lang="en-US" altLang="en-US" sz="1800" dirty="0">
                <a:latin typeface="Times New Roman" panose="02020603050405020304" pitchFamily="18" charset="0"/>
                <a:cs typeface="Times New Roman" panose="02020603050405020304" pitchFamily="18" charset="0"/>
              </a:rPr>
              <a:t> A. Asha, N. Verma, and I. Poonguzhali, “Multi-objective_x0002_derived energy efficient routing in wireless sensor networks using hybrid African vultures-cuckoo search opti_x0002_mization,” Int. J. Commun. Syst., Vol. 36, no. 6, pp. e5438,2023.</a:t>
            </a:r>
          </a:p>
          <a:p>
            <a:pPr marL="457200" indent="-457200" algn="just">
              <a:lnSpc>
                <a:spcPct val="150000"/>
              </a:lnSpc>
              <a:buAutoNum type="arabicPeriod" startAt="6"/>
            </a:pPr>
            <a:r>
              <a:rPr lang="en-US" altLang="en-US" sz="1800" dirty="0">
                <a:latin typeface="Times New Roman" panose="02020603050405020304" pitchFamily="18" charset="0"/>
                <a:cs typeface="Times New Roman" panose="02020603050405020304" pitchFamily="18" charset="0"/>
              </a:rPr>
              <a:t> S. </a:t>
            </a:r>
            <a:r>
              <a:rPr lang="en-US" altLang="en-US" sz="1800" dirty="0" err="1">
                <a:latin typeface="Times New Roman" panose="02020603050405020304" pitchFamily="18" charset="0"/>
                <a:cs typeface="Times New Roman" panose="02020603050405020304" pitchFamily="18" charset="0"/>
              </a:rPr>
              <a:t>Sennan</a:t>
            </a:r>
            <a:r>
              <a:rPr lang="en-US" altLang="en-US" sz="1800" dirty="0">
                <a:latin typeface="Times New Roman" panose="02020603050405020304" pitchFamily="18" charset="0"/>
                <a:cs typeface="Times New Roman" panose="02020603050405020304" pitchFamily="18" charset="0"/>
              </a:rPr>
              <a:t>, Y. Alotaibi, D. Pandey, and S. Alghamdi, “EACR_x0002_LEACH: Energy-aware cluster-based routing protocol </a:t>
            </a:r>
            <a:r>
              <a:rPr lang="en-US" altLang="en-US" sz="1800" dirty="0" err="1">
                <a:latin typeface="Times New Roman" panose="02020603050405020304" pitchFamily="18" charset="0"/>
                <a:cs typeface="Times New Roman" panose="02020603050405020304" pitchFamily="18" charset="0"/>
              </a:rPr>
              <a:t>forWSN</a:t>
            </a:r>
            <a:r>
              <a:rPr lang="en-US" altLang="en-US" sz="1800" dirty="0">
                <a:latin typeface="Times New Roman" panose="02020603050405020304" pitchFamily="18" charset="0"/>
                <a:cs typeface="Times New Roman" panose="02020603050405020304" pitchFamily="18" charset="0"/>
              </a:rPr>
              <a:t> based IoT,” </a:t>
            </a:r>
            <a:r>
              <a:rPr lang="en-US" altLang="en-US" sz="1800" dirty="0" err="1">
                <a:latin typeface="Times New Roman" panose="02020603050405020304" pitchFamily="18" charset="0"/>
                <a:cs typeface="Times New Roman" panose="02020603050405020304" pitchFamily="18" charset="0"/>
              </a:rPr>
              <a:t>Comput</a:t>
            </a:r>
            <a:r>
              <a:rPr lang="en-US" altLang="en-US" sz="1800" dirty="0">
                <a:latin typeface="Times New Roman" panose="02020603050405020304" pitchFamily="18" charset="0"/>
                <a:cs typeface="Times New Roman" panose="02020603050405020304" pitchFamily="18" charset="0"/>
              </a:rPr>
              <a:t>. Mater. Continua, Vol. 72, no. 2,pp. 2159–2174, 2022.</a:t>
            </a:r>
          </a:p>
          <a:p>
            <a:pPr marL="457200" indent="-457200" algn="just">
              <a:lnSpc>
                <a:spcPct val="150000"/>
              </a:lnSpc>
              <a:buAutoNum type="arabicPeriod" startAt="6"/>
            </a:pPr>
            <a:r>
              <a:rPr lang="en-US" altLang="en-US" sz="1800" dirty="0">
                <a:latin typeface="Times New Roman" panose="02020603050405020304" pitchFamily="18" charset="0"/>
                <a:cs typeface="Times New Roman" panose="02020603050405020304" pitchFamily="18" charset="0"/>
              </a:rPr>
              <a:t>P. Maheshwari, A. K. Sharma, and K. Verma, “Energy efficient cluster-based routing protocol for WSN using butterfly optimization algorithm and ant colony </a:t>
            </a:r>
            <a:r>
              <a:rPr lang="en-US" altLang="en-US" sz="1800" dirty="0" err="1">
                <a:latin typeface="Times New Roman" panose="02020603050405020304" pitchFamily="18" charset="0"/>
                <a:cs typeface="Times New Roman" panose="02020603050405020304" pitchFamily="18" charset="0"/>
              </a:rPr>
              <a:t>optimization,”Ad</a:t>
            </a:r>
            <a:r>
              <a:rPr lang="en-US" altLang="en-US" sz="1800" dirty="0">
                <a:latin typeface="Times New Roman" panose="02020603050405020304" pitchFamily="18" charset="0"/>
                <a:cs typeface="Times New Roman" panose="02020603050405020304" pitchFamily="18" charset="0"/>
              </a:rPr>
              <a:t>. Hoc. </a:t>
            </a:r>
            <a:r>
              <a:rPr lang="en-US" altLang="en-US" sz="1800" dirty="0" err="1">
                <a:latin typeface="Times New Roman" panose="02020603050405020304" pitchFamily="18" charset="0"/>
                <a:cs typeface="Times New Roman" panose="02020603050405020304" pitchFamily="18" charset="0"/>
              </a:rPr>
              <a:t>Netw</a:t>
            </a:r>
            <a:r>
              <a:rPr lang="en-US" altLang="en-US" sz="1800" dirty="0">
                <a:latin typeface="Times New Roman" panose="02020603050405020304" pitchFamily="18" charset="0"/>
                <a:cs typeface="Times New Roman" panose="02020603050405020304" pitchFamily="18" charset="0"/>
              </a:rPr>
              <a:t>., Vol. 110, pp. 102317, 2021</a:t>
            </a:r>
          </a:p>
          <a:p>
            <a:pPr marL="457200" indent="-457200" algn="just">
              <a:lnSpc>
                <a:spcPct val="150000"/>
              </a:lnSpc>
              <a:buAutoNum type="arabicPeriod" startAt="6"/>
            </a:pPr>
            <a:r>
              <a:rPr lang="en-US" altLang="en-US" sz="1800" dirty="0">
                <a:latin typeface="Times New Roman" panose="02020603050405020304" pitchFamily="18" charset="0"/>
                <a:cs typeface="Times New Roman" panose="02020603050405020304" pitchFamily="18" charset="0"/>
              </a:rPr>
              <a:t>K. Suresh, S. S. Sreeja Mole, and A. J. S. Kumar, “F2SO: </a:t>
            </a:r>
            <a:r>
              <a:rPr lang="en-US" altLang="en-US" sz="1800" dirty="0" err="1">
                <a:latin typeface="Times New Roman" panose="02020603050405020304" pitchFamily="18" charset="0"/>
                <a:cs typeface="Times New Roman" panose="02020603050405020304" pitchFamily="18" charset="0"/>
              </a:rPr>
              <a:t>Anenergy</a:t>
            </a:r>
            <a:r>
              <a:rPr lang="en-US" altLang="en-US" sz="1800" dirty="0">
                <a:latin typeface="Times New Roman" panose="02020603050405020304" pitchFamily="18" charset="0"/>
                <a:cs typeface="Times New Roman" panose="02020603050405020304" pitchFamily="18" charset="0"/>
              </a:rPr>
              <a:t> efficient cluster-based routing protocol using </a:t>
            </a:r>
            <a:r>
              <a:rPr lang="en-US" altLang="en-US" sz="1800" dirty="0" err="1">
                <a:latin typeface="Times New Roman" panose="02020603050405020304" pitchFamily="18" charset="0"/>
                <a:cs typeface="Times New Roman" panose="02020603050405020304" pitchFamily="18" charset="0"/>
              </a:rPr>
              <a:t>fuzzyfirebug</a:t>
            </a:r>
            <a:r>
              <a:rPr lang="en-US" altLang="en-US" sz="1800" dirty="0">
                <a:latin typeface="Times New Roman" panose="02020603050405020304" pitchFamily="18" charset="0"/>
                <a:cs typeface="Times New Roman" panose="02020603050405020304" pitchFamily="18" charset="0"/>
              </a:rPr>
              <a:t> swarm optimization algorithm in WSN,” </a:t>
            </a:r>
            <a:r>
              <a:rPr lang="en-US" altLang="en-US" sz="1800" dirty="0" err="1">
                <a:latin typeface="Times New Roman" panose="02020603050405020304" pitchFamily="18" charset="0"/>
                <a:cs typeface="Times New Roman" panose="02020603050405020304" pitchFamily="18" charset="0"/>
              </a:rPr>
              <a:t>Comput.J</a:t>
            </a:r>
            <a:r>
              <a:rPr lang="en-US" altLang="en-US" sz="1800" dirty="0">
                <a:latin typeface="Times New Roman" panose="02020603050405020304" pitchFamily="18" charset="0"/>
                <a:cs typeface="Times New Roman" panose="02020603050405020304" pitchFamily="18" charset="0"/>
              </a:rPr>
              <a:t>., Vol. 66, no. 5, pp. 1126–38, 2023.</a:t>
            </a:r>
          </a:p>
          <a:p>
            <a:pPr>
              <a:lnSpc>
                <a:spcPct val="150000"/>
              </a:lnSpc>
            </a:pPr>
            <a:endParaRPr lang="en-IN" sz="1800" dirty="0"/>
          </a:p>
        </p:txBody>
      </p:sp>
    </p:spTree>
    <p:extLst>
      <p:ext uri="{BB962C8B-B14F-4D97-AF65-F5344CB8AC3E}">
        <p14:creationId xmlns:p14="http://schemas.microsoft.com/office/powerpoint/2010/main" val="32493770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6000" b="1" dirty="0">
                <a:latin typeface="Times New Roman" panose="02020603050405020304" pitchFamily="18" charset="0"/>
                <a:cs typeface="Times New Roman" panose="02020603050405020304" pitchFamily="18" charset="0"/>
              </a:rPr>
              <a:t> </a:t>
            </a:r>
            <a:r>
              <a:rPr lang="en-US" sz="4800" b="1" dirty="0">
                <a:latin typeface="Times New Roman" panose="02020603050405020304" pitchFamily="18" charset="0"/>
                <a:cs typeface="Times New Roman" panose="02020603050405020304" pitchFamily="18" charset="0"/>
              </a:rPr>
              <a:t>ANY QUERIES?</a:t>
            </a:r>
            <a:endParaRPr lang="en-IN" sz="4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73026"/>
          </a:xfrm>
        </p:spPr>
        <p:txBody>
          <a:bodyPr/>
          <a:lstStyle/>
          <a:p>
            <a:r>
              <a:rPr lang="en-US" sz="4400" b="1" dirty="0">
                <a:latin typeface="Times New Roman" panose="02020603050405020304" pitchFamily="18" charset="0"/>
                <a:cs typeface="Times New Roman" panose="02020603050405020304" pitchFamily="18" charset="0"/>
              </a:rPr>
              <a:t>                        </a:t>
            </a:r>
            <a:r>
              <a:rPr lang="en-US" sz="4800" b="1" dirty="0">
                <a:latin typeface="Times New Roman" panose="02020603050405020304" pitchFamily="18" charset="0"/>
                <a:cs typeface="Times New Roman" panose="02020603050405020304" pitchFamily="18" charset="0"/>
              </a:rPr>
              <a:t>THANK YOU</a:t>
            </a:r>
            <a:endParaRPr lang="en-IN"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937*413"/>
  <p:tag name="TABLE_ENDDRAG_RECT" val="15*118*937*413"/>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959*333"/>
  <p:tag name="TABLE_ENDDRAG_RECT" val="0*0*959*333"/>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945*476"/>
  <p:tag name="TABLE_ENDDRAG_RECT" val="5*63*945*47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4157</Words>
  <Application>Microsoft Office PowerPoint</Application>
  <PresentationFormat>Widescreen</PresentationFormat>
  <Paragraphs>421</Paragraphs>
  <Slides>39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Aptos</vt:lpstr>
      <vt:lpstr>Arial</vt:lpstr>
      <vt:lpstr>Calibri</vt:lpstr>
      <vt:lpstr>Calibri Light</vt:lpstr>
      <vt:lpstr>Noto Sans Symbols</vt:lpstr>
      <vt:lpstr>Times New Roman</vt:lpstr>
      <vt:lpstr>Wingdings</vt:lpstr>
      <vt:lpstr>Office Theme</vt:lpstr>
      <vt:lpstr>ENERGY-EFFICIENT ADAPTIVE CLUSTERED ROUTING FOR WSNs USING  GENETIC BEE COLONY AND AQUILA VULTURE OPTIMIZATION</vt:lpstr>
      <vt:lpstr>                                        CONTENTS</vt:lpstr>
      <vt:lpstr>                                  1. ABSTRACT</vt:lpstr>
      <vt:lpstr>2. 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 EXISTING SYSTEM</vt:lpstr>
      <vt:lpstr>              5. EXISTING SYSTEM BLOCK DIAGRAM </vt:lpstr>
      <vt:lpstr>PowerPoint Presentation</vt:lpstr>
      <vt:lpstr>6. EXISITING SYSTEM  DRAWBACKS</vt:lpstr>
      <vt:lpstr>7. PROPOSED SYSTEM NECESSITY (Problem Identification)</vt:lpstr>
      <vt:lpstr>PowerPoint Presentation</vt:lpstr>
      <vt:lpstr>8. PROPOSED SYSTEM</vt:lpstr>
      <vt:lpstr>9. Proposed system block diagram</vt:lpstr>
      <vt:lpstr>PowerPoint Presentation</vt:lpstr>
      <vt:lpstr>Figure 4:Block diagram of AAVO algorithm</vt:lpstr>
      <vt:lpstr>PowerPoint Presentation</vt:lpstr>
      <vt:lpstr>10. PROJECT REQUIREMENTS(SOFTWARE)</vt:lpstr>
      <vt:lpstr>11. RESULTS AND ITS ANALYSIS</vt:lpstr>
      <vt:lpstr>PowerPoint Presentation</vt:lpstr>
      <vt:lpstr>PowerPoint Presentation</vt:lpstr>
      <vt:lpstr>PowerPoint Presentation</vt:lpstr>
      <vt:lpstr>PowerPoint Presentation</vt:lpstr>
      <vt:lpstr>12. ADVANTAGES</vt:lpstr>
      <vt:lpstr>13. APPLICATIONS</vt:lpstr>
      <vt:lpstr>                              14. CONCLUSIONS</vt:lpstr>
      <vt:lpstr>PowerPoint Presentation</vt:lpstr>
      <vt:lpstr>PowerPoint Presentation</vt:lpstr>
      <vt:lpstr>PowerPoint Presentation</vt:lpstr>
      <vt:lpstr>                                      REFERENCES</vt:lpstr>
      <vt:lpstr>PowerPoint Presentation</vt:lpstr>
      <vt:lpstr> ANY QUERIES?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Naga swetha</dc:creator>
  <cp:lastModifiedBy>DUTTA Dhanush</cp:lastModifiedBy>
  <cp:revision>138</cp:revision>
  <dcterms:created xsi:type="dcterms:W3CDTF">2021-02-14T06:39:00Z</dcterms:created>
  <dcterms:modified xsi:type="dcterms:W3CDTF">2025-04-16T03:21:21Z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065A7CE33B36429A84E24E45DE53EFF9_13</vt:lpwstr>
  </property>
  <property fmtid="{D5CDD505-2E9C-101B-9397-08002B2CF9AE}" pid="3" name="KSOProductBuildVer">
    <vt:lpwstr>1033-12.2.0.20782</vt:lpwstr>
  </property>
</Properties>
</file>